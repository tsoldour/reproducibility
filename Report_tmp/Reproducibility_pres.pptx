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87" r:id="rId3"/>
    <p:sldId id="288" r:id="rId4"/>
    <p:sldId id="257" r:id="rId5"/>
    <p:sldId id="269" r:id="rId6"/>
    <p:sldId id="270" r:id="rId7"/>
    <p:sldId id="259" r:id="rId8"/>
    <p:sldId id="273" r:id="rId9"/>
    <p:sldId id="286" r:id="rId10"/>
    <p:sldId id="271" r:id="rId11"/>
    <p:sldId id="289" r:id="rId12"/>
    <p:sldId id="260" r:id="rId13"/>
    <p:sldId id="298" r:id="rId14"/>
    <p:sldId id="290" r:id="rId15"/>
    <p:sldId id="274" r:id="rId16"/>
    <p:sldId id="261" r:id="rId17"/>
    <p:sldId id="268" r:id="rId18"/>
    <p:sldId id="276" r:id="rId19"/>
    <p:sldId id="275" r:id="rId20"/>
    <p:sldId id="266" r:id="rId21"/>
    <p:sldId id="267" r:id="rId22"/>
    <p:sldId id="293" r:id="rId23"/>
    <p:sldId id="327" r:id="rId24"/>
    <p:sldId id="328" r:id="rId25"/>
    <p:sldId id="295" r:id="rId26"/>
    <p:sldId id="299" r:id="rId27"/>
    <p:sldId id="296" r:id="rId28"/>
    <p:sldId id="294" r:id="rId29"/>
    <p:sldId id="305" r:id="rId30"/>
    <p:sldId id="297" r:id="rId31"/>
    <p:sldId id="329" r:id="rId32"/>
    <p:sldId id="265" r:id="rId33"/>
    <p:sldId id="312" r:id="rId34"/>
    <p:sldId id="313" r:id="rId35"/>
    <p:sldId id="314" r:id="rId36"/>
    <p:sldId id="316" r:id="rId37"/>
    <p:sldId id="317" r:id="rId38"/>
    <p:sldId id="318" r:id="rId39"/>
    <p:sldId id="319" r:id="rId40"/>
    <p:sldId id="320" r:id="rId41"/>
    <p:sldId id="322" r:id="rId42"/>
    <p:sldId id="323" r:id="rId43"/>
    <p:sldId id="324" r:id="rId44"/>
    <p:sldId id="325" r:id="rId45"/>
    <p:sldId id="326" r:id="rId46"/>
    <p:sldId id="330" r:id="rId47"/>
    <p:sldId id="264" r:id="rId48"/>
    <p:sldId id="285" r:id="rId49"/>
    <p:sldId id="284" r:id="rId50"/>
    <p:sldId id="277" r:id="rId51"/>
    <p:sldId id="278" r:id="rId52"/>
    <p:sldId id="279" r:id="rId53"/>
    <p:sldId id="280" r:id="rId54"/>
    <p:sldId id="281" r:id="rId55"/>
    <p:sldId id="282" r:id="rId56"/>
    <p:sldId id="283" r:id="rId57"/>
    <p:sldId id="306" r:id="rId58"/>
    <p:sldId id="307" r:id="rId59"/>
    <p:sldId id="308" r:id="rId60"/>
    <p:sldId id="309" r:id="rId61"/>
    <p:sldId id="310" r:id="rId62"/>
    <p:sldId id="311" r:id="rId63"/>
    <p:sldId id="331" r:id="rId64"/>
    <p:sldId id="300" r:id="rId65"/>
    <p:sldId id="332" r:id="rId66"/>
    <p:sldId id="301" r:id="rId67"/>
    <p:sldId id="302" r:id="rId68"/>
    <p:sldId id="303" r:id="rId69"/>
    <p:sldId id="263" r:id="rId70"/>
    <p:sldId id="258" r:id="rId7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A1E9"/>
    <a:srgbClr val="7394D6"/>
    <a:srgbClr val="86D5E4"/>
    <a:srgbClr val="D8A499"/>
    <a:srgbClr val="F5B6BD"/>
    <a:srgbClr val="ECD1CC"/>
    <a:srgbClr val="E7A1C4"/>
    <a:srgbClr val="CA3211"/>
    <a:srgbClr val="C27C39"/>
    <a:srgbClr val="EF93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/>
    <p:restoredTop sz="95680"/>
  </p:normalViewPr>
  <p:slideViewPr>
    <p:cSldViewPr snapToGrid="0">
      <p:cViewPr varScale="1">
        <p:scale>
          <a:sx n="105" d="100"/>
          <a:sy n="105" d="100"/>
        </p:scale>
        <p:origin x="20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68D46-05C8-B942-8D0C-90CBE926F64B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F943E-B430-284E-9135-74CBB751B1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965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F943E-B430-284E-9135-74CBB751B181}" type="slidenum">
              <a:rPr lang="fr-FR" smtClean="0"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9458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3894C-C462-9C7C-66E2-DDDB00029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95E14C7-A876-8EA8-67FC-A48E57737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B8D054B-89A0-D333-553A-AD322C565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0C2973-F4F7-FB23-F16B-52A8065BE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F943E-B430-284E-9135-74CBB751B181}" type="slidenum">
              <a:rPr lang="fr-FR" smtClean="0"/>
              <a:t>65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4890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C6D82-4D31-8AC7-1204-A7A800B5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0C7BC9F-C5D2-CED5-C64A-A9E67CD25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8E1D0E6-64D2-11B2-A6A0-C7BB78484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9F59F4-FE1D-DA9B-5C8C-F083356F5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F943E-B430-284E-9135-74CBB751B181}" type="slidenum">
              <a:rPr lang="fr-FR" smtClean="0"/>
              <a:t>66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6224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D45D6-26C0-3CC2-B317-B7BF03EC8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B7159AF-D013-EFF4-47DC-883F4965F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DBEB6B-8D89-F57C-9D68-6735A45AD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2DAA8F-565E-5D42-F6BD-0535D0336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F943E-B430-284E-9135-74CBB751B181}" type="slidenum">
              <a:rPr lang="fr-FR" smtClean="0"/>
              <a:t>67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3834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E3AD-0EEE-6497-7A67-41DD7F30B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EC476E6-212C-D0B3-0D91-EC8CF440D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C4EDD66-E9FC-0822-8877-B1D4C4A38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7A0943-465F-8F87-113D-A325450805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F943E-B430-284E-9135-74CBB751B181}" type="slidenum">
              <a:rPr lang="fr-FR" smtClean="0"/>
              <a:t>68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0609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2539F9-485B-CC01-A225-52AB9E1EB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B4CE5C6-3175-81C4-C542-CD8893726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F505EC-E4FB-865E-E919-CE498A74D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D9566B-022B-53FB-5D1D-62FE118C8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68A9F5-F2A7-38D2-A31C-DB9A3DC6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155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890879-7A8C-F8CC-EAB4-2B8265D98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F97B32-E3DE-8F0B-63E8-29017CEBB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D499BA-0B94-3771-9D13-F649F4D5B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DE4507-10EC-E997-7093-CAED6C88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A2E134-9767-0E80-5155-51B5EC56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3658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46C616-0379-A9E2-C553-75AE34AD4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CEC7F3-129F-BB8C-CC00-D7EB753AA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ABCEEF-5D45-0170-B41F-B7F336A9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F9CCF0-C735-B5E2-72E2-D3BF3D13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A165D8-3246-DA90-809C-87E3312F8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345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1AE287-7CB0-930E-A965-900AEAF8A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E4FDFA-0089-5CC7-A37F-37A9D6808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69E9E6B-696C-3716-BF20-924B6FCD7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E83AB0-9474-618C-6C0B-288AEF87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7039BF-6F95-77ED-0C18-5F03554CC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438020-B64E-D904-7334-66E96878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847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628365-A989-1271-9100-E5C962D64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C0AA5B-64E2-510A-69CA-85DE20B8E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5F3FC4F-3689-EB32-ADEA-024075F2B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D40AADE-C5E6-F6A9-24C1-834821895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513685B-2607-EBF0-E7B0-F99808920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D9B8BD9-2C5E-43AC-C0FF-CD4C9F163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1D8F96B-6E7F-33FB-5C8B-2BC4B7FF0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6F8C2A0-3DF3-49E1-CAA0-5337984B2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2234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6E2567-DBAB-D087-1F2F-92D601AAB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15DBD91-0D6D-D4A0-F776-4C450A5AB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A0AFC3C-0710-D7AA-B06E-04F2434C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1240567-3421-DE8A-0A19-BC792BF45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6904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EF3E493-093F-0826-7B2D-7347E822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2573B5B-DA59-A0F2-B1E4-2A3C9522A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B6FEC2-F23D-C2E5-10C2-F7511F27E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8243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C724F6-2BBE-D188-78BB-4695C5C8C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342F50-42BB-89A2-2FA1-BE9F19B47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4F1367A-E15C-5E1D-52DD-430CEECEB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3A11F7-C598-9AB1-CF39-9ADC8082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ECC892-196D-C23D-F674-F00F13301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20E58D8-CEEE-0DB1-54AE-D60AA3C1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5778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7B787D-D653-6B96-8153-2C1E84B7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3FAB9A1-D237-C91F-F53F-99A154C30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91F5C66-3A82-758B-7B33-605D03279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5C6A962-E383-92F8-A7BA-B2666C3CF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2548BBA-5378-3813-3EA2-56DB6F169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C0C593F-F397-BE58-D8BF-FC449A457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1493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894F2E-B8C7-3D02-4FCC-E89474DE3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EDBCBC6-1C12-B68C-D9AC-7D7D7A5B3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D1FCFF-FB59-B486-8320-E9427C53C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276E04-4BD6-C08D-8A8C-8429D6078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07DBAE-5FE0-469A-9FBE-2EA6735B0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93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605CA99-7707-C576-75EF-137CA36C9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A8D084-EE96-5F22-69C2-6EB5F1DBE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104DDC-D142-BB9F-C142-492ADE26B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F7D7-A14F-D34F-A6A3-459D24089B5D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FE74CC-7B8F-909B-3B2D-D0A9CCC3C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C9842B-5516-21A7-5D1F-F2830E56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041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5B65A8C-DC56-F778-A76E-DD77ED74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0D7B09B-DA43-3158-F1A9-919E84391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1044CD-6F53-69FC-2BD5-EB5065CA3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0F7D7-A14F-D34F-A6A3-459D24089B5D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B17857-FBB5-FA97-D107-6134A1B6F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7690FF-CFB7-4BDF-22D0-1C2495C017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2478D-F2E0-A544-B415-ECC70C7FAB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77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forwindows.org/" TargetMode="Externa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9FF73A60-C9DE-6199-63C6-2D85A77F337D}"/>
              </a:ext>
            </a:extLst>
          </p:cNvPr>
          <p:cNvSpPr txBox="1"/>
          <p:nvPr/>
        </p:nvSpPr>
        <p:spPr>
          <a:xfrm>
            <a:off x="1492685" y="1957713"/>
            <a:ext cx="92066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/>
              <a:t>Reproducibility</a:t>
            </a: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Sol Dourdin</a:t>
            </a:r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035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B80DF-D86B-7FF1-DABA-8D0092D31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6F4C40AA-72ED-1235-86BD-7AF5535BF5D3}"/>
              </a:ext>
            </a:extLst>
          </p:cNvPr>
          <p:cNvGrpSpPr/>
          <p:nvPr/>
        </p:nvGrpSpPr>
        <p:grpSpPr>
          <a:xfrm>
            <a:off x="472422" y="1287657"/>
            <a:ext cx="6203950" cy="774818"/>
            <a:chOff x="285750" y="3646531"/>
            <a:chExt cx="6203950" cy="774818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6CED08E4-E7FF-BB38-3112-C7A9C492D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20180"/>
            <a:stretch>
              <a:fillRect/>
            </a:stretch>
          </p:blipFill>
          <p:spPr>
            <a:xfrm>
              <a:off x="285750" y="3646531"/>
              <a:ext cx="6203950" cy="774818"/>
            </a:xfrm>
            <a:prstGeom prst="rect">
              <a:avLst/>
            </a:prstGeom>
          </p:spPr>
        </p:pic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0C8F8CC7-69BF-4A84-16A9-EEAC7E332E20}"/>
                </a:ext>
              </a:extLst>
            </p:cNvPr>
            <p:cNvSpPr txBox="1"/>
            <p:nvPr/>
          </p:nvSpPr>
          <p:spPr>
            <a:xfrm>
              <a:off x="4457700" y="3995840"/>
              <a:ext cx="149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dirty="0"/>
                <a:t>1992</a:t>
              </a: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B84E4FBB-E837-7DCC-80A1-94A57624B360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60807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7263A-CDE6-6919-26B6-94A41F3D0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7D34AF96-5E68-4F82-B0D1-0D209D563453}"/>
              </a:ext>
            </a:extLst>
          </p:cNvPr>
          <p:cNvGrpSpPr/>
          <p:nvPr/>
        </p:nvGrpSpPr>
        <p:grpSpPr>
          <a:xfrm>
            <a:off x="472422" y="1287657"/>
            <a:ext cx="6203950" cy="774818"/>
            <a:chOff x="285750" y="3646531"/>
            <a:chExt cx="6203950" cy="774818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41094815-22B9-C3A3-97D5-49E7F384D8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20180"/>
            <a:stretch>
              <a:fillRect/>
            </a:stretch>
          </p:blipFill>
          <p:spPr>
            <a:xfrm>
              <a:off x="285750" y="3646531"/>
              <a:ext cx="6203950" cy="774818"/>
            </a:xfrm>
            <a:prstGeom prst="rect">
              <a:avLst/>
            </a:prstGeom>
          </p:spPr>
        </p:pic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33C3D024-C332-B67A-9DE7-9101A35F4EB5}"/>
                </a:ext>
              </a:extLst>
            </p:cNvPr>
            <p:cNvSpPr txBox="1"/>
            <p:nvPr/>
          </p:nvSpPr>
          <p:spPr>
            <a:xfrm>
              <a:off x="4457700" y="3995840"/>
              <a:ext cx="149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dirty="0"/>
                <a:t>1992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E3D67547-37BD-967A-CE9E-B8084B0AFC75}"/>
              </a:ext>
            </a:extLst>
          </p:cNvPr>
          <p:cNvGrpSpPr/>
          <p:nvPr/>
        </p:nvGrpSpPr>
        <p:grpSpPr>
          <a:xfrm>
            <a:off x="6714472" y="1996772"/>
            <a:ext cx="5680728" cy="896681"/>
            <a:chOff x="5088872" y="2557719"/>
            <a:chExt cx="5680728" cy="896681"/>
          </a:xfrm>
        </p:grpSpPr>
        <p:pic>
          <p:nvPicPr>
            <p:cNvPr id="10" name="Image 9" descr="Une image contenant texte, Police, blanc&#10;&#10;Le contenu généré par l’IA peut être incorrect.">
              <a:extLst>
                <a:ext uri="{FF2B5EF4-FFF2-40B4-BE49-F238E27FC236}">
                  <a16:creationId xmlns:a16="http://schemas.microsoft.com/office/drawing/2014/main" id="{9E9B8F1D-D803-CA66-E553-3EBC811A8C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8872" y="2557719"/>
              <a:ext cx="5245100" cy="896681"/>
            </a:xfrm>
            <a:prstGeom prst="rect">
              <a:avLst/>
            </a:prstGeom>
          </p:spPr>
        </p:pic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9643A8C1-2ADD-518C-AA4E-160AD2F62702}"/>
                </a:ext>
              </a:extLst>
            </p:cNvPr>
            <p:cNvSpPr txBox="1"/>
            <p:nvPr/>
          </p:nvSpPr>
          <p:spPr>
            <a:xfrm>
              <a:off x="9271000" y="2821393"/>
              <a:ext cx="1498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/>
                <a:t>2014</a:t>
              </a:r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5761A372-6663-4D6A-5104-51F687590ED3}"/>
              </a:ext>
            </a:extLst>
          </p:cNvPr>
          <p:cNvGrpSpPr/>
          <p:nvPr/>
        </p:nvGrpSpPr>
        <p:grpSpPr>
          <a:xfrm>
            <a:off x="6807461" y="3602568"/>
            <a:ext cx="5249581" cy="723960"/>
            <a:chOff x="6416022" y="3915798"/>
            <a:chExt cx="5249581" cy="723960"/>
          </a:xfrm>
        </p:grpSpPr>
        <p:pic>
          <p:nvPicPr>
            <p:cNvPr id="16" name="Image 15" descr="Une image contenant texte, Police, blanc, calligraphie&#10;&#10;Le contenu généré par l’IA peut être incorrect.">
              <a:extLst>
                <a:ext uri="{FF2B5EF4-FFF2-40B4-BE49-F238E27FC236}">
                  <a16:creationId xmlns:a16="http://schemas.microsoft.com/office/drawing/2014/main" id="{EA5CEE2C-56D6-97A1-DC2C-C42E7F558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16022" y="3915798"/>
              <a:ext cx="5144153" cy="709257"/>
            </a:xfrm>
            <a:prstGeom prst="rect">
              <a:avLst/>
            </a:prstGeom>
          </p:spPr>
        </p:pic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ED6E4A7D-A393-0FD5-8A9F-188F3A0F99C0}"/>
                </a:ext>
              </a:extLst>
            </p:cNvPr>
            <p:cNvSpPr txBox="1"/>
            <p:nvPr/>
          </p:nvSpPr>
          <p:spPr>
            <a:xfrm>
              <a:off x="10167003" y="4270426"/>
              <a:ext cx="1498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/>
                <a:t>2018</a:t>
              </a: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8380CCB4-32F2-657B-F0B2-9B458A06FE90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pic>
        <p:nvPicPr>
          <p:cNvPr id="12" name="Image 11" descr="Une image contenant texte, ligne, Tracé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FA9443C-6445-E61C-8520-AF005F620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57" y="2893453"/>
            <a:ext cx="6529931" cy="3662113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1CACFD08-272E-F27D-4CD3-D4851B23F0DE}"/>
              </a:ext>
            </a:extLst>
          </p:cNvPr>
          <p:cNvSpPr txBox="1"/>
          <p:nvPr/>
        </p:nvSpPr>
        <p:spPr>
          <a:xfrm>
            <a:off x="879475" y="2500160"/>
            <a:ext cx="4822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dirty="0">
                <a:effectLst/>
                <a:latin typeface="elsevier-sans"/>
              </a:rPr>
              <a:t>TITLE-ABS-KEY ( "reproducibility crisis" OR "replication crisis" OR "scientific reproducibility" OR "research reproducibility" ) - SCOPUS</a:t>
            </a:r>
            <a:endParaRPr lang="en-GB" sz="1200" dirty="0"/>
          </a:p>
        </p:txBody>
      </p:sp>
      <p:pic>
        <p:nvPicPr>
          <p:cNvPr id="7" name="Image 6" descr="Une image contenant texte, Police, capture d’écran, typographie&#10;&#10;Le contenu généré par l’IA peut être incorrect.">
            <a:extLst>
              <a:ext uri="{FF2B5EF4-FFF2-40B4-BE49-F238E27FC236}">
                <a16:creationId xmlns:a16="http://schemas.microsoft.com/office/drawing/2014/main" id="{70A3184E-5A8D-9F66-6EA7-B739A2ADC5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6900" y="4869704"/>
            <a:ext cx="5245100" cy="82982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BF37AA9-1BA3-7076-BE4E-81EB8EA6D58D}"/>
              </a:ext>
            </a:extLst>
          </p:cNvPr>
          <p:cNvSpPr txBox="1"/>
          <p:nvPr/>
        </p:nvSpPr>
        <p:spPr>
          <a:xfrm>
            <a:off x="8945542" y="5368294"/>
            <a:ext cx="149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021376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80E08-C4A5-F76B-4D92-F51FD7554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277E997-EA9E-62E3-96D4-5FF53E136D2D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55AADC3-BC79-7328-2B4E-8D1CCDD9B315}"/>
              </a:ext>
            </a:extLst>
          </p:cNvPr>
          <p:cNvSpPr/>
          <p:nvPr/>
        </p:nvSpPr>
        <p:spPr>
          <a:xfrm>
            <a:off x="701457" y="1040485"/>
            <a:ext cx="4947780" cy="5361140"/>
          </a:xfrm>
          <a:prstGeom prst="roundRect">
            <a:avLst/>
          </a:prstGeom>
          <a:solidFill>
            <a:srgbClr val="86D5E4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F33E21F-7C22-B5DF-9BC5-60F5FBC08845}"/>
              </a:ext>
            </a:extLst>
          </p:cNvPr>
          <p:cNvSpPr txBox="1"/>
          <p:nvPr/>
        </p:nvSpPr>
        <p:spPr>
          <a:xfrm>
            <a:off x="1377863" y="1127569"/>
            <a:ext cx="362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REPLICABILITY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88BEDDC-FAC9-4496-0BD3-1BEEF82D79E7}"/>
              </a:ext>
            </a:extLst>
          </p:cNvPr>
          <p:cNvSpPr txBox="1"/>
          <p:nvPr/>
        </p:nvSpPr>
        <p:spPr>
          <a:xfrm>
            <a:off x="726509" y="1694836"/>
            <a:ext cx="48976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capacity to “obtain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consistent results across studies aimed at answering the same scientific question, each of which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has obtained its own data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”*</a:t>
            </a: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30541B5-6678-0568-A41A-C5F8BFF772AB}"/>
              </a:ext>
            </a:extLst>
          </p:cNvPr>
          <p:cNvSpPr txBox="1"/>
          <p:nvPr/>
        </p:nvSpPr>
        <p:spPr>
          <a:xfrm>
            <a:off x="914400" y="3450320"/>
            <a:ext cx="4459266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Universality of science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Rigorous sharing of methods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40EB700-6A59-DAB3-5F83-DE11C7BD044D}"/>
              </a:ext>
            </a:extLst>
          </p:cNvPr>
          <p:cNvSpPr txBox="1"/>
          <p:nvPr/>
        </p:nvSpPr>
        <p:spPr>
          <a:xfrm>
            <a:off x="914400" y="5098917"/>
            <a:ext cx="4459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QUALITATIVE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89CD1E1-971E-7EBC-0E1E-1D7D366903AB}"/>
              </a:ext>
            </a:extLst>
          </p:cNvPr>
          <p:cNvSpPr txBox="1"/>
          <p:nvPr/>
        </p:nvSpPr>
        <p:spPr>
          <a:xfrm>
            <a:off x="183578" y="6409645"/>
            <a:ext cx="9140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*</a:t>
            </a:r>
            <a:r>
              <a:rPr lang="en-GB" sz="1400" dirty="0"/>
              <a:t>National Academies of Sciences, Engineering and </a:t>
            </a:r>
            <a:r>
              <a:rPr lang="en-GB" sz="1400" dirty="0" err="1"/>
              <a:t>Medecine</a:t>
            </a:r>
            <a:r>
              <a:rPr lang="en-GB" sz="1400" dirty="0"/>
              <a:t>, 2019 in Hicks, 2023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6936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DD004-03D2-392C-5483-BC13D1E95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CC2BC39-3E5B-B67C-C987-8D6D7F91A4E9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2F74081-D88B-07F9-000A-A6D613B25C8B}"/>
              </a:ext>
            </a:extLst>
          </p:cNvPr>
          <p:cNvSpPr/>
          <p:nvPr/>
        </p:nvSpPr>
        <p:spPr>
          <a:xfrm>
            <a:off x="701457" y="1040485"/>
            <a:ext cx="4947780" cy="5361140"/>
          </a:xfrm>
          <a:prstGeom prst="roundRect">
            <a:avLst/>
          </a:prstGeom>
          <a:solidFill>
            <a:srgbClr val="86D5E4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B30F098-9270-0CAF-F9C3-44B8ADD9E579}"/>
              </a:ext>
            </a:extLst>
          </p:cNvPr>
          <p:cNvSpPr/>
          <p:nvPr/>
        </p:nvSpPr>
        <p:spPr>
          <a:xfrm>
            <a:off x="5989528" y="1040485"/>
            <a:ext cx="4947780" cy="5361140"/>
          </a:xfrm>
          <a:prstGeom prst="roundRect">
            <a:avLst/>
          </a:prstGeom>
          <a:solidFill>
            <a:srgbClr val="F5B6BD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DB95FFB-6A76-E7A7-5D3D-8E7BBFED4B30}"/>
              </a:ext>
            </a:extLst>
          </p:cNvPr>
          <p:cNvSpPr txBox="1"/>
          <p:nvPr/>
        </p:nvSpPr>
        <p:spPr>
          <a:xfrm>
            <a:off x="1377863" y="1127569"/>
            <a:ext cx="362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REPLICABILITY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B212BC6-3FF5-F46D-2499-F6F17B3A0B65}"/>
              </a:ext>
            </a:extLst>
          </p:cNvPr>
          <p:cNvSpPr txBox="1"/>
          <p:nvPr/>
        </p:nvSpPr>
        <p:spPr>
          <a:xfrm>
            <a:off x="6626267" y="1127569"/>
            <a:ext cx="362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REPRODUCIBILITY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775B020-23FC-C11F-FB07-B37724683158}"/>
              </a:ext>
            </a:extLst>
          </p:cNvPr>
          <p:cNvSpPr txBox="1"/>
          <p:nvPr/>
        </p:nvSpPr>
        <p:spPr>
          <a:xfrm>
            <a:off x="726509" y="1694836"/>
            <a:ext cx="48976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capacity to “obtain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consistent results across studies aimed at answering the same scientific question, each of which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has obtained its own data”*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8ADB46B-D093-4F3D-BD20-D998C5CD071F}"/>
              </a:ext>
            </a:extLst>
          </p:cNvPr>
          <p:cNvSpPr txBox="1"/>
          <p:nvPr/>
        </p:nvSpPr>
        <p:spPr>
          <a:xfrm>
            <a:off x="914400" y="3450320"/>
            <a:ext cx="4459266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Universality of science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Rigorous sharing of methods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7AB2BEE-26D6-A73C-3127-FCFF88B85FAD}"/>
              </a:ext>
            </a:extLst>
          </p:cNvPr>
          <p:cNvSpPr txBox="1"/>
          <p:nvPr/>
        </p:nvSpPr>
        <p:spPr>
          <a:xfrm>
            <a:off x="914400" y="5098917"/>
            <a:ext cx="4459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QUALITATIVE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CACC212-B118-93DA-7C5C-1F685DCD3592}"/>
              </a:ext>
            </a:extLst>
          </p:cNvPr>
          <p:cNvSpPr txBox="1"/>
          <p:nvPr/>
        </p:nvSpPr>
        <p:spPr>
          <a:xfrm>
            <a:off x="5989526" y="1694835"/>
            <a:ext cx="4947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capacity to “obtain the same results from the same data by using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same computational steps, the same code, and the same analytical conditions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”*</a:t>
            </a: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9FD614E-69CA-7B69-23C9-00B2398AF822}"/>
              </a:ext>
            </a:extLst>
          </p:cNvPr>
          <p:cNvSpPr txBox="1"/>
          <p:nvPr/>
        </p:nvSpPr>
        <p:spPr>
          <a:xfrm>
            <a:off x="6043107" y="3571942"/>
            <a:ext cx="4840617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Emerged with analytical, computer sciences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A81FC7D-4F70-FCF1-1C0E-0E26C89047D9}"/>
              </a:ext>
            </a:extLst>
          </p:cNvPr>
          <p:cNvSpPr txBox="1"/>
          <p:nvPr/>
        </p:nvSpPr>
        <p:spPr>
          <a:xfrm>
            <a:off x="6233782" y="5098916"/>
            <a:ext cx="4459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QUANTITATIVE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75F7F6E-85D1-0EF2-00FF-794112018932}"/>
              </a:ext>
            </a:extLst>
          </p:cNvPr>
          <p:cNvSpPr txBox="1"/>
          <p:nvPr/>
        </p:nvSpPr>
        <p:spPr>
          <a:xfrm>
            <a:off x="183578" y="6409645"/>
            <a:ext cx="9140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*</a:t>
            </a:r>
            <a:r>
              <a:rPr lang="en-GB" sz="1400" dirty="0"/>
              <a:t>National Academies of Sciences, Engineering and </a:t>
            </a:r>
            <a:r>
              <a:rPr lang="en-GB" sz="1400" dirty="0" err="1"/>
              <a:t>Medecine</a:t>
            </a:r>
            <a:r>
              <a:rPr lang="en-GB" sz="1400" dirty="0"/>
              <a:t>, 2019 in Hicks, 2023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405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98756-29A6-D008-80B0-46A0E51CE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3C0758E-6CC0-58DE-303A-E64905097EB9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DC306E05-5974-3ABC-4230-4FCD25C1FD5A}"/>
              </a:ext>
            </a:extLst>
          </p:cNvPr>
          <p:cNvSpPr/>
          <p:nvPr/>
        </p:nvSpPr>
        <p:spPr>
          <a:xfrm>
            <a:off x="701457" y="1040485"/>
            <a:ext cx="4947780" cy="5361140"/>
          </a:xfrm>
          <a:prstGeom prst="roundRect">
            <a:avLst/>
          </a:prstGeom>
          <a:solidFill>
            <a:srgbClr val="86D5E4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17AB0B5-2BA7-0495-9F8F-525BA53AEBED}"/>
              </a:ext>
            </a:extLst>
          </p:cNvPr>
          <p:cNvSpPr/>
          <p:nvPr/>
        </p:nvSpPr>
        <p:spPr>
          <a:xfrm>
            <a:off x="5989528" y="1040485"/>
            <a:ext cx="4947780" cy="5361140"/>
          </a:xfrm>
          <a:prstGeom prst="roundRect">
            <a:avLst/>
          </a:prstGeom>
          <a:solidFill>
            <a:srgbClr val="F5B6BD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062538E-E69D-5429-03EB-8057D84E2FFC}"/>
              </a:ext>
            </a:extLst>
          </p:cNvPr>
          <p:cNvSpPr txBox="1"/>
          <p:nvPr/>
        </p:nvSpPr>
        <p:spPr>
          <a:xfrm>
            <a:off x="1377863" y="1127569"/>
            <a:ext cx="362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REPLICABILITY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5CA6CCF-2405-0C18-7543-6DDE99186FE0}"/>
              </a:ext>
            </a:extLst>
          </p:cNvPr>
          <p:cNvSpPr txBox="1"/>
          <p:nvPr/>
        </p:nvSpPr>
        <p:spPr>
          <a:xfrm>
            <a:off x="6626267" y="1127569"/>
            <a:ext cx="362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REPRODUCIBILITY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DD35952-0207-9D88-CF29-4D26039AE03B}"/>
              </a:ext>
            </a:extLst>
          </p:cNvPr>
          <p:cNvSpPr txBox="1"/>
          <p:nvPr/>
        </p:nvSpPr>
        <p:spPr>
          <a:xfrm>
            <a:off x="726509" y="1694836"/>
            <a:ext cx="48976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capacity to “obtain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consistent results across studies aimed at answering the same scientific question, each of which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has obtained its own data”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*</a:t>
            </a: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7C8623B-C823-C9C1-74D4-3288A81D5BE4}"/>
              </a:ext>
            </a:extLst>
          </p:cNvPr>
          <p:cNvSpPr txBox="1"/>
          <p:nvPr/>
        </p:nvSpPr>
        <p:spPr>
          <a:xfrm>
            <a:off x="914400" y="3450320"/>
            <a:ext cx="4459266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Universality of science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Rigorous sharing of methods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BEA0673-A485-C7F7-5403-F987B4D681AE}"/>
              </a:ext>
            </a:extLst>
          </p:cNvPr>
          <p:cNvSpPr txBox="1"/>
          <p:nvPr/>
        </p:nvSpPr>
        <p:spPr>
          <a:xfrm>
            <a:off x="914400" y="5098917"/>
            <a:ext cx="4459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QUALITATIVE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200144D-9BA6-7781-D084-5A463A2D3CCE}"/>
              </a:ext>
            </a:extLst>
          </p:cNvPr>
          <p:cNvSpPr txBox="1"/>
          <p:nvPr/>
        </p:nvSpPr>
        <p:spPr>
          <a:xfrm>
            <a:off x="5989526" y="1694835"/>
            <a:ext cx="4947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capacity to “obtain the same results from the same data by using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the same computational steps, the same code, and the same analytical conditions”</a:t>
            </a:r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*</a:t>
            </a:r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5AA587A-29BA-FA33-88C1-A5756F603B4B}"/>
              </a:ext>
            </a:extLst>
          </p:cNvPr>
          <p:cNvSpPr txBox="1"/>
          <p:nvPr/>
        </p:nvSpPr>
        <p:spPr>
          <a:xfrm>
            <a:off x="6043107" y="3571942"/>
            <a:ext cx="4840617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Emerged with analytical, computer sciences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5DDA58E-BA58-3342-60A4-54CBA7479379}"/>
              </a:ext>
            </a:extLst>
          </p:cNvPr>
          <p:cNvSpPr txBox="1"/>
          <p:nvPr/>
        </p:nvSpPr>
        <p:spPr>
          <a:xfrm>
            <a:off x="6233782" y="5098916"/>
            <a:ext cx="4459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QUANTITATIVE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5C21AC-C6BA-B613-61E2-F720F020F4C6}"/>
              </a:ext>
            </a:extLst>
          </p:cNvPr>
          <p:cNvSpPr/>
          <p:nvPr/>
        </p:nvSpPr>
        <p:spPr>
          <a:xfrm>
            <a:off x="3644427" y="2742940"/>
            <a:ext cx="4285192" cy="1438539"/>
          </a:xfrm>
          <a:prstGeom prst="rect">
            <a:avLst/>
          </a:prstGeom>
          <a:solidFill>
            <a:srgbClr val="CA32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chemeClr val="tx1"/>
                </a:solidFill>
              </a:rPr>
              <a:t>Good practices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69BABC8-9275-3030-3BA6-966680DF97E5}"/>
              </a:ext>
            </a:extLst>
          </p:cNvPr>
          <p:cNvSpPr txBox="1"/>
          <p:nvPr/>
        </p:nvSpPr>
        <p:spPr>
          <a:xfrm>
            <a:off x="183578" y="6409645"/>
            <a:ext cx="9140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Helvetica" pitchFamily="2" charset="0"/>
              </a:rPr>
              <a:t>*</a:t>
            </a:r>
            <a:r>
              <a:rPr lang="en-GB" sz="1400" dirty="0"/>
              <a:t>National Academies of Sciences, Engineering and </a:t>
            </a:r>
            <a:r>
              <a:rPr lang="en-GB" sz="1400" dirty="0" err="1"/>
              <a:t>Medecine</a:t>
            </a:r>
            <a:r>
              <a:rPr lang="en-GB" sz="1400" dirty="0"/>
              <a:t>, 2019 in Hicks, 2023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7156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D5ECA-1A52-B61F-0CBA-3254DEF8B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DEA5FE3-A7CD-3DC5-19F6-AAC09F0EDFD0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5566F9E-E4A6-8BEC-9A18-E4698D0DA5F8}"/>
              </a:ext>
            </a:extLst>
          </p:cNvPr>
          <p:cNvSpPr txBox="1"/>
          <p:nvPr/>
        </p:nvSpPr>
        <p:spPr>
          <a:xfrm>
            <a:off x="438411" y="1195937"/>
            <a:ext cx="827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« </a:t>
            </a:r>
            <a:r>
              <a:rPr lang="en-GB" sz="2400" i="1" dirty="0"/>
              <a:t>Why is that so important? »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70933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532B6-DA06-A8E1-8E29-35BD9EA4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C71BD97-9949-4230-9173-11AF7A9F75DA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82F5B3B-1BCE-10B3-ADEA-34A767AF69EE}"/>
              </a:ext>
            </a:extLst>
          </p:cNvPr>
          <p:cNvSpPr txBox="1"/>
          <p:nvPr/>
        </p:nvSpPr>
        <p:spPr>
          <a:xfrm>
            <a:off x="438411" y="1195937"/>
            <a:ext cx="827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« </a:t>
            </a:r>
            <a:r>
              <a:rPr lang="en-GB" sz="2400" i="1" dirty="0"/>
              <a:t>Why is that so important? »</a:t>
            </a:r>
            <a:endParaRPr lang="en-GB" sz="2400" dirty="0"/>
          </a:p>
        </p:txBody>
      </p:sp>
      <p:pic>
        <p:nvPicPr>
          <p:cNvPr id="9" name="Image 8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52D2B42F-5260-3FF1-471A-24DEC90F9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02" y="1765573"/>
            <a:ext cx="7307441" cy="108526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7289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36920-6092-27F5-5962-0B73CDAB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B3933FC-95AF-FDFC-00F4-D7372CFB9629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9059F0A-C4B0-FC90-7173-67083C0C4DE4}"/>
              </a:ext>
            </a:extLst>
          </p:cNvPr>
          <p:cNvSpPr txBox="1"/>
          <p:nvPr/>
        </p:nvSpPr>
        <p:spPr>
          <a:xfrm>
            <a:off x="438411" y="1195937"/>
            <a:ext cx="827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« </a:t>
            </a:r>
            <a:r>
              <a:rPr lang="en-GB" sz="2400" i="1" dirty="0"/>
              <a:t>Why is that so important? »</a:t>
            </a:r>
            <a:endParaRPr lang="en-GB" sz="2400" dirty="0"/>
          </a:p>
        </p:txBody>
      </p:sp>
      <p:pic>
        <p:nvPicPr>
          <p:cNvPr id="9" name="Image 8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EC215EB9-16AE-D135-BE5F-348D19AAD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02" y="1765573"/>
            <a:ext cx="7307441" cy="108526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1937AC7E-1E5F-5854-DBCF-A207C05C03C2}"/>
              </a:ext>
            </a:extLst>
          </p:cNvPr>
          <p:cNvSpPr txBox="1"/>
          <p:nvPr/>
        </p:nvSpPr>
        <p:spPr>
          <a:xfrm>
            <a:off x="599502" y="3619819"/>
            <a:ext cx="10010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From « Publish or Perish » to « Reproduce or Reject »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28E3C9A9-140C-F85E-744A-7B7CBA3CE650}"/>
              </a:ext>
            </a:extLst>
          </p:cNvPr>
          <p:cNvCxnSpPr>
            <a:cxnSpLocks/>
          </p:cNvCxnSpPr>
          <p:nvPr/>
        </p:nvCxnSpPr>
        <p:spPr>
          <a:xfrm flipH="1">
            <a:off x="4253222" y="2988024"/>
            <a:ext cx="1" cy="59481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684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0308-A104-671B-657C-E7FC1DDB9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AD577AD-C650-3926-51AA-ED71DE6E4A4C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EC339DC-29D4-D704-259F-16AC183C41FA}"/>
              </a:ext>
            </a:extLst>
          </p:cNvPr>
          <p:cNvSpPr txBox="1"/>
          <p:nvPr/>
        </p:nvSpPr>
        <p:spPr>
          <a:xfrm>
            <a:off x="438411" y="1195937"/>
            <a:ext cx="827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« </a:t>
            </a:r>
            <a:r>
              <a:rPr lang="en-GB" sz="2400" i="1" dirty="0"/>
              <a:t>Why is that so important? »</a:t>
            </a:r>
            <a:endParaRPr lang="en-GB" sz="2400" dirty="0"/>
          </a:p>
        </p:txBody>
      </p:sp>
      <p:pic>
        <p:nvPicPr>
          <p:cNvPr id="9" name="Image 8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8AF5AD71-6546-DCC7-27F4-2EC736FAE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02" y="1765573"/>
            <a:ext cx="7307441" cy="108526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E2D2918-FBB1-D94B-ECE7-A5B3B200AE38}"/>
              </a:ext>
            </a:extLst>
          </p:cNvPr>
          <p:cNvSpPr txBox="1"/>
          <p:nvPr/>
        </p:nvSpPr>
        <p:spPr>
          <a:xfrm>
            <a:off x="599502" y="3619819"/>
            <a:ext cx="10010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From « Publish or Perish » to « Reproduce or Reject »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0C9DC816-D726-8303-8A9A-BE4B7882E7F8}"/>
              </a:ext>
            </a:extLst>
          </p:cNvPr>
          <p:cNvCxnSpPr>
            <a:cxnSpLocks/>
          </p:cNvCxnSpPr>
          <p:nvPr/>
        </p:nvCxnSpPr>
        <p:spPr>
          <a:xfrm flipH="1">
            <a:off x="4253222" y="2988024"/>
            <a:ext cx="1" cy="59481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A0930600-5C9F-2888-A26B-3117C8488378}"/>
              </a:ext>
            </a:extLst>
          </p:cNvPr>
          <p:cNvSpPr txBox="1"/>
          <p:nvPr/>
        </p:nvSpPr>
        <p:spPr>
          <a:xfrm>
            <a:off x="1716067" y="5361207"/>
            <a:ext cx="7277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For students: think about your supervisor…</a:t>
            </a:r>
          </a:p>
        </p:txBody>
      </p:sp>
      <p:pic>
        <p:nvPicPr>
          <p:cNvPr id="1026" name="Picture 2" descr="3 200+ S'arracher Les Cheveux Photos, taleaux et images libre de droits -  iStock | Stress, Se prendre la tête, Prise de tête">
            <a:extLst>
              <a:ext uri="{FF2B5EF4-FFF2-40B4-BE49-F238E27FC236}">
                <a16:creationId xmlns:a16="http://schemas.microsoft.com/office/drawing/2014/main" id="{85C1F1FC-196D-F7EA-E2DF-B3EF6A502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75" y="3886184"/>
            <a:ext cx="3207773" cy="2971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244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2D1A0-0140-B52A-516E-E2087B6A0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8F8AAC5-CBC5-949F-B6CD-24A6764B8193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1DC35CE-3F0C-DFEF-C98C-DD2F9BB0FB96}"/>
              </a:ext>
            </a:extLst>
          </p:cNvPr>
          <p:cNvSpPr txBox="1"/>
          <p:nvPr/>
        </p:nvSpPr>
        <p:spPr>
          <a:xfrm>
            <a:off x="438411" y="1195937"/>
            <a:ext cx="827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« </a:t>
            </a:r>
            <a:r>
              <a:rPr lang="en-GB" sz="2400" i="1" dirty="0"/>
              <a:t>Why is that so important? »</a:t>
            </a:r>
            <a:endParaRPr lang="en-GB" sz="2400" dirty="0"/>
          </a:p>
        </p:txBody>
      </p:sp>
      <p:pic>
        <p:nvPicPr>
          <p:cNvPr id="9" name="Image 8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DB74B7EA-7726-4264-2A9D-182B249EC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02" y="1765573"/>
            <a:ext cx="7307441" cy="108526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552D6DD-2D0B-511E-9CE0-20A89FC25BAC}"/>
              </a:ext>
            </a:extLst>
          </p:cNvPr>
          <p:cNvSpPr txBox="1"/>
          <p:nvPr/>
        </p:nvSpPr>
        <p:spPr>
          <a:xfrm>
            <a:off x="599502" y="3619819"/>
            <a:ext cx="10010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From « Publish or Perish » to « Reproduce or Reject »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65EB00FE-4C18-21AF-AB69-E212330AE48D}"/>
              </a:ext>
            </a:extLst>
          </p:cNvPr>
          <p:cNvCxnSpPr>
            <a:cxnSpLocks/>
          </p:cNvCxnSpPr>
          <p:nvPr/>
        </p:nvCxnSpPr>
        <p:spPr>
          <a:xfrm flipH="1">
            <a:off x="4253222" y="2988024"/>
            <a:ext cx="1" cy="59481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E2B317CD-30FB-B1D9-A64D-A24A665AED70}"/>
              </a:ext>
            </a:extLst>
          </p:cNvPr>
          <p:cNvSpPr txBox="1"/>
          <p:nvPr/>
        </p:nvSpPr>
        <p:spPr>
          <a:xfrm>
            <a:off x="1716067" y="5361207"/>
            <a:ext cx="7277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For students: think about your supervisor…</a:t>
            </a:r>
          </a:p>
        </p:txBody>
      </p:sp>
      <p:pic>
        <p:nvPicPr>
          <p:cNvPr id="1026" name="Picture 2" descr="3 200+ S'arracher Les Cheveux Photos, taleaux et images libre de droits -  iStock | Stress, Se prendre la tête, Prise de tête">
            <a:extLst>
              <a:ext uri="{FF2B5EF4-FFF2-40B4-BE49-F238E27FC236}">
                <a16:creationId xmlns:a16="http://schemas.microsoft.com/office/drawing/2014/main" id="{0B733CC3-9DDD-64CC-7EB1-437ACC343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375" y="3886184"/>
            <a:ext cx="3207773" cy="2971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8F127C17-CF55-6025-9498-166AF0F773B1}"/>
              </a:ext>
            </a:extLst>
          </p:cNvPr>
          <p:cNvSpPr/>
          <p:nvPr/>
        </p:nvSpPr>
        <p:spPr>
          <a:xfrm>
            <a:off x="1919267" y="973573"/>
            <a:ext cx="8270161" cy="4972456"/>
          </a:xfrm>
          <a:prstGeom prst="roundRect">
            <a:avLst>
              <a:gd name="adj" fmla="val 9508"/>
            </a:avLst>
          </a:prstGeom>
          <a:solidFill>
            <a:srgbClr val="CA32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Reproducibility is </a:t>
            </a:r>
            <a:r>
              <a:rPr lang="en-GB" sz="2800" b="1" dirty="0">
                <a:solidFill>
                  <a:schemeClr val="tx1"/>
                </a:solidFill>
              </a:rPr>
              <a:t>not an end</a:t>
            </a:r>
            <a:r>
              <a:rPr lang="en-GB" sz="2800" dirty="0">
                <a:solidFill>
                  <a:schemeClr val="tx1"/>
                </a:solidFill>
              </a:rPr>
              <a:t> in itself; it is </a:t>
            </a:r>
            <a:r>
              <a:rPr lang="en-GB" sz="2800" b="1" dirty="0">
                <a:solidFill>
                  <a:schemeClr val="tx1"/>
                </a:solidFill>
              </a:rPr>
              <a:t>a means </a:t>
            </a:r>
            <a:r>
              <a:rPr lang="en-GB" sz="2800" dirty="0">
                <a:solidFill>
                  <a:schemeClr val="tx1"/>
                </a:solidFill>
              </a:rPr>
              <a:t>to promote acceptance and </a:t>
            </a:r>
            <a:r>
              <a:rPr lang="en-GB" sz="2800" b="1" dirty="0">
                <a:solidFill>
                  <a:schemeClr val="tx1"/>
                </a:solidFill>
              </a:rPr>
              <a:t>dissemination of your work</a:t>
            </a:r>
            <a:r>
              <a:rPr lang="en-GB" sz="2800" dirty="0">
                <a:solidFill>
                  <a:schemeClr val="tx1"/>
                </a:solidFill>
              </a:rPr>
              <a:t>, as well as overall </a:t>
            </a:r>
            <a:r>
              <a:rPr lang="en-GB" sz="2800" b="1" dirty="0">
                <a:solidFill>
                  <a:schemeClr val="tx1"/>
                </a:solidFill>
              </a:rPr>
              <a:t>transparency in science</a:t>
            </a:r>
            <a:r>
              <a:rPr lang="en-GB" sz="28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7084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0F47F-51F0-C19F-A966-45D9AC2AA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98D8669-043C-36F8-8BFE-63DFD9DF1D9A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0CBEE3A-06BA-2EA0-9C45-FB9D4908117E}"/>
              </a:ext>
            </a:extLst>
          </p:cNvPr>
          <p:cNvSpPr txBox="1"/>
          <p:nvPr/>
        </p:nvSpPr>
        <p:spPr>
          <a:xfrm>
            <a:off x="3907077" y="1218249"/>
            <a:ext cx="43778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/>
              <a:t>REPRODUCIBILITY</a:t>
            </a:r>
            <a:endParaRPr lang="en-GB" sz="3200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1885FF5C-7F57-0C91-152B-A395BA6C517E}"/>
              </a:ext>
            </a:extLst>
          </p:cNvPr>
          <p:cNvSpPr/>
          <p:nvPr/>
        </p:nvSpPr>
        <p:spPr>
          <a:xfrm>
            <a:off x="6106173" y="1899488"/>
            <a:ext cx="4459265" cy="4283902"/>
          </a:xfrm>
          <a:prstGeom prst="roundRect">
            <a:avLst/>
          </a:prstGeom>
          <a:solidFill>
            <a:srgbClr val="E7A1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812039F7-C5A1-5BF6-0599-1A0516FB7FDE}"/>
              </a:ext>
            </a:extLst>
          </p:cNvPr>
          <p:cNvSpPr/>
          <p:nvPr/>
        </p:nvSpPr>
        <p:spPr>
          <a:xfrm>
            <a:off x="1452236" y="1899488"/>
            <a:ext cx="4459265" cy="4283902"/>
          </a:xfrm>
          <a:prstGeom prst="roundRect">
            <a:avLst/>
          </a:prstGeom>
          <a:solidFill>
            <a:srgbClr val="F5B6B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A5952F7-A488-2AF6-7934-ECEA84E43AE0}"/>
              </a:ext>
            </a:extLst>
          </p:cNvPr>
          <p:cNvSpPr txBox="1"/>
          <p:nvPr/>
        </p:nvSpPr>
        <p:spPr>
          <a:xfrm>
            <a:off x="6707422" y="2074853"/>
            <a:ext cx="334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Find help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D54972A-B7DC-801A-B6EA-659AAC99E234}"/>
              </a:ext>
            </a:extLst>
          </p:cNvPr>
          <p:cNvSpPr txBox="1"/>
          <p:nvPr/>
        </p:nvSpPr>
        <p:spPr>
          <a:xfrm>
            <a:off x="6532058" y="3007959"/>
            <a:ext cx="36951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Produce and share stand-alone scripts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3B25585-DB5E-ECCA-9FFD-A7C0F8E8345D}"/>
              </a:ext>
            </a:extLst>
          </p:cNvPr>
          <p:cNvSpPr txBox="1"/>
          <p:nvPr/>
        </p:nvSpPr>
        <p:spPr>
          <a:xfrm>
            <a:off x="6765282" y="4071678"/>
            <a:ext cx="1254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readable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9069486-7181-F0FD-2CEB-D4772B8EDAE0}"/>
              </a:ext>
            </a:extLst>
          </p:cNvPr>
          <p:cNvSpPr txBox="1"/>
          <p:nvPr/>
        </p:nvSpPr>
        <p:spPr>
          <a:xfrm>
            <a:off x="8156645" y="4071678"/>
            <a:ext cx="2015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understandable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B60FA19-35C7-3744-71BC-A27BD9DCF560}"/>
              </a:ext>
            </a:extLst>
          </p:cNvPr>
          <p:cNvSpPr txBox="1"/>
          <p:nvPr/>
        </p:nvSpPr>
        <p:spPr>
          <a:xfrm>
            <a:off x="6768344" y="4654231"/>
            <a:ext cx="1388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executable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43EEFE3-405F-7BE8-14CC-31501816D2F5}"/>
              </a:ext>
            </a:extLst>
          </p:cNvPr>
          <p:cNvSpPr txBox="1"/>
          <p:nvPr/>
        </p:nvSpPr>
        <p:spPr>
          <a:xfrm>
            <a:off x="8268213" y="4758201"/>
            <a:ext cx="1783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data example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2A67F99-905D-1929-0E2B-0F1D49998410}"/>
              </a:ext>
            </a:extLst>
          </p:cNvPr>
          <p:cNvSpPr txBox="1"/>
          <p:nvPr/>
        </p:nvSpPr>
        <p:spPr>
          <a:xfrm>
            <a:off x="7487817" y="5286129"/>
            <a:ext cx="1783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packages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3D2B44CA-76C1-4581-9160-263BE70179B7}"/>
              </a:ext>
            </a:extLst>
          </p:cNvPr>
          <p:cNvSpPr/>
          <p:nvPr/>
        </p:nvSpPr>
        <p:spPr>
          <a:xfrm>
            <a:off x="6319116" y="3910287"/>
            <a:ext cx="4020854" cy="190377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C71EC2CB-D880-F3F0-5B45-6D110A4283DD}"/>
              </a:ext>
            </a:extLst>
          </p:cNvPr>
          <p:cNvCxnSpPr/>
          <p:nvPr/>
        </p:nvCxnSpPr>
        <p:spPr>
          <a:xfrm>
            <a:off x="8379646" y="2444185"/>
            <a:ext cx="0" cy="56377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D79C5CB6-2FCA-93FB-99CE-B8C199307234}"/>
              </a:ext>
            </a:extLst>
          </p:cNvPr>
          <p:cNvSpPr txBox="1"/>
          <p:nvPr/>
        </p:nvSpPr>
        <p:spPr>
          <a:xfrm>
            <a:off x="2009642" y="2074853"/>
            <a:ext cx="345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Reproducible research projects</a:t>
            </a: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599C26F8-5F0C-1858-C95C-9236D1458146}"/>
              </a:ext>
            </a:extLst>
          </p:cNvPr>
          <p:cNvCxnSpPr/>
          <p:nvPr/>
        </p:nvCxnSpPr>
        <p:spPr>
          <a:xfrm>
            <a:off x="3690219" y="2583669"/>
            <a:ext cx="0" cy="56377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22B31B84-A3F2-5A19-893C-EE93F14A9CCB}"/>
              </a:ext>
            </a:extLst>
          </p:cNvPr>
          <p:cNvSpPr txBox="1"/>
          <p:nvPr/>
        </p:nvSpPr>
        <p:spPr>
          <a:xfrm>
            <a:off x="1853589" y="3300273"/>
            <a:ext cx="36951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Ensure your whole work can be exactly reproduced by anyone, at anytime.</a:t>
            </a:r>
          </a:p>
        </p:txBody>
      </p:sp>
    </p:spTree>
    <p:extLst>
      <p:ext uri="{BB962C8B-B14F-4D97-AF65-F5344CB8AC3E}">
        <p14:creationId xmlns:p14="http://schemas.microsoft.com/office/powerpoint/2010/main" val="3157332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F46EB-FC3F-145E-4057-7B2215A94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06E1013-B2DE-2EFC-D941-1EF33C3903DC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A1EC6D2-CA6A-C0AC-4F47-96D265FAADBF}"/>
              </a:ext>
            </a:extLst>
          </p:cNvPr>
          <p:cNvSpPr txBox="1"/>
          <p:nvPr/>
        </p:nvSpPr>
        <p:spPr>
          <a:xfrm>
            <a:off x="3907077" y="1218249"/>
            <a:ext cx="43778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/>
              <a:t>REPRODUCIBILITY</a:t>
            </a:r>
            <a:endParaRPr lang="en-GB" sz="3200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62BFA5E-B2B6-EF5B-C29B-DBD42655D69D}"/>
              </a:ext>
            </a:extLst>
          </p:cNvPr>
          <p:cNvSpPr/>
          <p:nvPr/>
        </p:nvSpPr>
        <p:spPr>
          <a:xfrm>
            <a:off x="6106173" y="1899488"/>
            <a:ext cx="4459265" cy="4283902"/>
          </a:xfrm>
          <a:prstGeom prst="roundRect">
            <a:avLst/>
          </a:prstGeom>
          <a:solidFill>
            <a:srgbClr val="E7A1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A5D7654-4A49-112C-52EE-76020281A95A}"/>
              </a:ext>
            </a:extLst>
          </p:cNvPr>
          <p:cNvSpPr/>
          <p:nvPr/>
        </p:nvSpPr>
        <p:spPr>
          <a:xfrm>
            <a:off x="1452236" y="1899488"/>
            <a:ext cx="4459265" cy="4283902"/>
          </a:xfrm>
          <a:prstGeom prst="roundRect">
            <a:avLst/>
          </a:prstGeom>
          <a:solidFill>
            <a:srgbClr val="F5B6BD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6AD6FAA-F695-B787-1E7D-12C82E402D9C}"/>
              </a:ext>
            </a:extLst>
          </p:cNvPr>
          <p:cNvSpPr txBox="1"/>
          <p:nvPr/>
        </p:nvSpPr>
        <p:spPr>
          <a:xfrm>
            <a:off x="6707422" y="2074853"/>
            <a:ext cx="334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Find help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30596AC-ED72-D3D6-DD2D-B95F4B1C2EDC}"/>
              </a:ext>
            </a:extLst>
          </p:cNvPr>
          <p:cNvSpPr txBox="1"/>
          <p:nvPr/>
        </p:nvSpPr>
        <p:spPr>
          <a:xfrm>
            <a:off x="6532058" y="3007959"/>
            <a:ext cx="36951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Produce and share stand-alone scripts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3A59627-CD5E-C65D-1738-0559C5EE1603}"/>
              </a:ext>
            </a:extLst>
          </p:cNvPr>
          <p:cNvSpPr txBox="1"/>
          <p:nvPr/>
        </p:nvSpPr>
        <p:spPr>
          <a:xfrm>
            <a:off x="6765282" y="4071678"/>
            <a:ext cx="1254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readable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AD08AE2-4D3B-FE18-98D6-5634F2851067}"/>
              </a:ext>
            </a:extLst>
          </p:cNvPr>
          <p:cNvSpPr txBox="1"/>
          <p:nvPr/>
        </p:nvSpPr>
        <p:spPr>
          <a:xfrm>
            <a:off x="8156645" y="4071678"/>
            <a:ext cx="2015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understandable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FFEE310-02F5-01D9-6132-DFF2A4360181}"/>
              </a:ext>
            </a:extLst>
          </p:cNvPr>
          <p:cNvSpPr txBox="1"/>
          <p:nvPr/>
        </p:nvSpPr>
        <p:spPr>
          <a:xfrm>
            <a:off x="6768344" y="4654231"/>
            <a:ext cx="1388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executable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E6F134B-EF34-4FA2-4DA2-33590E98900D}"/>
              </a:ext>
            </a:extLst>
          </p:cNvPr>
          <p:cNvSpPr txBox="1"/>
          <p:nvPr/>
        </p:nvSpPr>
        <p:spPr>
          <a:xfrm>
            <a:off x="8268213" y="4758201"/>
            <a:ext cx="1783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data example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0671910-81C0-9C5B-C767-378F4B7397B4}"/>
              </a:ext>
            </a:extLst>
          </p:cNvPr>
          <p:cNvSpPr txBox="1"/>
          <p:nvPr/>
        </p:nvSpPr>
        <p:spPr>
          <a:xfrm>
            <a:off x="7487817" y="5286129"/>
            <a:ext cx="1783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packages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07F59831-130E-B56B-0A31-AC81FF67336B}"/>
              </a:ext>
            </a:extLst>
          </p:cNvPr>
          <p:cNvSpPr/>
          <p:nvPr/>
        </p:nvSpPr>
        <p:spPr>
          <a:xfrm>
            <a:off x="6319116" y="3910287"/>
            <a:ext cx="4020854" cy="190377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372A3818-9F48-8709-0F20-84EEE6736259}"/>
              </a:ext>
            </a:extLst>
          </p:cNvPr>
          <p:cNvCxnSpPr/>
          <p:nvPr/>
        </p:nvCxnSpPr>
        <p:spPr>
          <a:xfrm>
            <a:off x="8379646" y="2444185"/>
            <a:ext cx="0" cy="56377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E29707ED-60FD-E29D-7261-A1FEAC67A400}"/>
              </a:ext>
            </a:extLst>
          </p:cNvPr>
          <p:cNvSpPr txBox="1"/>
          <p:nvPr/>
        </p:nvSpPr>
        <p:spPr>
          <a:xfrm>
            <a:off x="2009642" y="2074853"/>
            <a:ext cx="345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Reproducible research projects</a:t>
            </a: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DBC01E48-E00E-E7A9-BC47-DEF8FD0667A7}"/>
              </a:ext>
            </a:extLst>
          </p:cNvPr>
          <p:cNvCxnSpPr/>
          <p:nvPr/>
        </p:nvCxnSpPr>
        <p:spPr>
          <a:xfrm>
            <a:off x="3690219" y="2583669"/>
            <a:ext cx="0" cy="56377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7FB371C7-20C1-4B5A-545F-EBF759F5199A}"/>
              </a:ext>
            </a:extLst>
          </p:cNvPr>
          <p:cNvSpPr txBox="1"/>
          <p:nvPr/>
        </p:nvSpPr>
        <p:spPr>
          <a:xfrm>
            <a:off x="1853589" y="3300273"/>
            <a:ext cx="36951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Ensure your whole work can be exactly reproduced by anyone, at anytime.</a:t>
            </a:r>
          </a:p>
        </p:txBody>
      </p:sp>
    </p:spTree>
    <p:extLst>
      <p:ext uri="{BB962C8B-B14F-4D97-AF65-F5344CB8AC3E}">
        <p14:creationId xmlns:p14="http://schemas.microsoft.com/office/powerpoint/2010/main" val="3872564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DCB96-4F49-E69B-3708-0201072D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A88B5E2-3D72-5D9F-D795-E72282D3DD27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D5DB14A-AFCD-83C9-8169-27C84FBDFBBC}"/>
              </a:ext>
            </a:extLst>
          </p:cNvPr>
          <p:cNvSpPr/>
          <p:nvPr/>
        </p:nvSpPr>
        <p:spPr>
          <a:xfrm>
            <a:off x="3730672" y="1149264"/>
            <a:ext cx="3394553" cy="2279737"/>
          </a:xfrm>
          <a:prstGeom prst="roundRect">
            <a:avLst/>
          </a:prstGeom>
          <a:solidFill>
            <a:srgbClr val="E7A1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ARCHITECTURE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52E77D3-532F-FA40-ECE4-F8880150DA36}"/>
              </a:ext>
            </a:extLst>
          </p:cNvPr>
          <p:cNvSpPr/>
          <p:nvPr/>
        </p:nvSpPr>
        <p:spPr>
          <a:xfrm>
            <a:off x="7300589" y="1149263"/>
            <a:ext cx="3394554" cy="2279737"/>
          </a:xfrm>
          <a:prstGeom prst="roundRect">
            <a:avLst/>
          </a:prstGeom>
          <a:solidFill>
            <a:srgbClr val="C6C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IMPLEMENTATION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5E407D9-9EEF-7C61-E7F7-CC3702EE308D}"/>
              </a:ext>
            </a:extLst>
          </p:cNvPr>
          <p:cNvSpPr/>
          <p:nvPr/>
        </p:nvSpPr>
        <p:spPr>
          <a:xfrm>
            <a:off x="3730671" y="3581400"/>
            <a:ext cx="3394554" cy="2279737"/>
          </a:xfrm>
          <a:prstGeom prst="roundRect">
            <a:avLst/>
          </a:prstGeom>
          <a:solidFill>
            <a:srgbClr val="D8A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TRACKING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872AF4F-D757-28CC-D405-1611CE1A1E9C}"/>
              </a:ext>
            </a:extLst>
          </p:cNvPr>
          <p:cNvSpPr/>
          <p:nvPr/>
        </p:nvSpPr>
        <p:spPr>
          <a:xfrm>
            <a:off x="7300588" y="3581400"/>
            <a:ext cx="3394554" cy="2279737"/>
          </a:xfrm>
          <a:prstGeom prst="roundRect">
            <a:avLst/>
          </a:prstGeom>
          <a:solidFill>
            <a:srgbClr val="739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SHARING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DBF2A49-BB17-AA20-D70A-4FBE4C8A1037}"/>
              </a:ext>
            </a:extLst>
          </p:cNvPr>
          <p:cNvSpPr txBox="1"/>
          <p:nvPr/>
        </p:nvSpPr>
        <p:spPr>
          <a:xfrm>
            <a:off x="263045" y="2890391"/>
            <a:ext cx="29436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The 4 pillars of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684694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6C702-1059-39C4-75BA-063CF7BE7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250B579-E37D-F5A0-F9D2-73CF044E0A2A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E73290B-C239-3F2A-8E70-BD24D36A9BC5}"/>
              </a:ext>
            </a:extLst>
          </p:cNvPr>
          <p:cNvSpPr/>
          <p:nvPr/>
        </p:nvSpPr>
        <p:spPr>
          <a:xfrm>
            <a:off x="3730672" y="1149264"/>
            <a:ext cx="3394553" cy="2279737"/>
          </a:xfrm>
          <a:prstGeom prst="roundRect">
            <a:avLst/>
          </a:prstGeom>
          <a:solidFill>
            <a:srgbClr val="E7A1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ARCHITECTURE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F326B42-E0C6-8EBD-0086-E4E48BFFC18D}"/>
              </a:ext>
            </a:extLst>
          </p:cNvPr>
          <p:cNvSpPr/>
          <p:nvPr/>
        </p:nvSpPr>
        <p:spPr>
          <a:xfrm>
            <a:off x="7300589" y="1149263"/>
            <a:ext cx="3394554" cy="2279737"/>
          </a:xfrm>
          <a:prstGeom prst="roundRect">
            <a:avLst/>
          </a:prstGeom>
          <a:solidFill>
            <a:srgbClr val="C6C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IMPLEMENTATION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85DDFC3-346E-B63D-41F6-30A9169826FD}"/>
              </a:ext>
            </a:extLst>
          </p:cNvPr>
          <p:cNvSpPr/>
          <p:nvPr/>
        </p:nvSpPr>
        <p:spPr>
          <a:xfrm>
            <a:off x="3730671" y="3581400"/>
            <a:ext cx="3394554" cy="2279737"/>
          </a:xfrm>
          <a:prstGeom prst="roundRect">
            <a:avLst/>
          </a:prstGeom>
          <a:solidFill>
            <a:srgbClr val="D8A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TRACKING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C62F55D-3FE3-4485-B42C-C3EDC0EE3D71}"/>
              </a:ext>
            </a:extLst>
          </p:cNvPr>
          <p:cNvSpPr/>
          <p:nvPr/>
        </p:nvSpPr>
        <p:spPr>
          <a:xfrm>
            <a:off x="7300588" y="3581400"/>
            <a:ext cx="3394554" cy="2279737"/>
          </a:xfrm>
          <a:prstGeom prst="roundRect">
            <a:avLst/>
          </a:prstGeom>
          <a:solidFill>
            <a:srgbClr val="739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SHARING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89680F5-9911-CF0F-28E6-A989B072B343}"/>
              </a:ext>
            </a:extLst>
          </p:cNvPr>
          <p:cNvSpPr txBox="1"/>
          <p:nvPr/>
        </p:nvSpPr>
        <p:spPr>
          <a:xfrm>
            <a:off x="263045" y="2890391"/>
            <a:ext cx="29436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The 4 pillars of reproducibility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6DAD4F9-E285-63E1-D74F-1603CA280326}"/>
              </a:ext>
            </a:extLst>
          </p:cNvPr>
          <p:cNvSpPr/>
          <p:nvPr/>
        </p:nvSpPr>
        <p:spPr>
          <a:xfrm>
            <a:off x="9259871" y="697282"/>
            <a:ext cx="914400" cy="914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err="1"/>
              <a:t>renv</a:t>
            </a:r>
            <a:endParaRPr lang="en-GB" i="1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9A997402-999D-A12B-0584-07A26D7538D7}"/>
              </a:ext>
            </a:extLst>
          </p:cNvPr>
          <p:cNvSpPr/>
          <p:nvPr/>
        </p:nvSpPr>
        <p:spPr>
          <a:xfrm>
            <a:off x="10174271" y="1605941"/>
            <a:ext cx="914400" cy="914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E9BD40A-66D7-5479-F72B-5BF1698410EF}"/>
              </a:ext>
            </a:extLst>
          </p:cNvPr>
          <p:cNvSpPr txBox="1"/>
          <p:nvPr/>
        </p:nvSpPr>
        <p:spPr>
          <a:xfrm>
            <a:off x="10174271" y="18784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chemeClr val="bg1"/>
                </a:solidFill>
              </a:rPr>
              <a:t>targets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0B951E7-26D1-8EDA-1ACC-1CE55E09CD0B}"/>
              </a:ext>
            </a:extLst>
          </p:cNvPr>
          <p:cNvSpPr/>
          <p:nvPr/>
        </p:nvSpPr>
        <p:spPr>
          <a:xfrm>
            <a:off x="10237942" y="4610194"/>
            <a:ext cx="914400" cy="914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078A07F-9884-5CB0-2454-D2711F18E3F3}"/>
              </a:ext>
            </a:extLst>
          </p:cNvPr>
          <p:cNvSpPr txBox="1"/>
          <p:nvPr/>
        </p:nvSpPr>
        <p:spPr>
          <a:xfrm>
            <a:off x="10237942" y="488272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 err="1">
                <a:solidFill>
                  <a:schemeClr val="bg1"/>
                </a:solidFill>
              </a:rPr>
              <a:t>Rmd</a:t>
            </a:r>
            <a:endParaRPr lang="en-GB" i="1" dirty="0">
              <a:solidFill>
                <a:schemeClr val="bg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449F48DF-3A1B-0496-69B3-D835FB270B8A}"/>
              </a:ext>
            </a:extLst>
          </p:cNvPr>
          <p:cNvSpPr/>
          <p:nvPr/>
        </p:nvSpPr>
        <p:spPr>
          <a:xfrm>
            <a:off x="9259871" y="5334187"/>
            <a:ext cx="914400" cy="914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74C682B-76FF-1B81-3C61-B9FB4F7C1D2F}"/>
              </a:ext>
            </a:extLst>
          </p:cNvPr>
          <p:cNvSpPr txBox="1"/>
          <p:nvPr/>
        </p:nvSpPr>
        <p:spPr>
          <a:xfrm>
            <a:off x="9259871" y="560672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chemeClr val="bg1"/>
                </a:solidFill>
              </a:rPr>
              <a:t>Quarto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FDE52046-FA84-32EA-B1F7-569F6E57539C}"/>
              </a:ext>
            </a:extLst>
          </p:cNvPr>
          <p:cNvSpPr/>
          <p:nvPr/>
        </p:nvSpPr>
        <p:spPr>
          <a:xfrm>
            <a:off x="3209800" y="4692321"/>
            <a:ext cx="914400" cy="914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AA26530-F6ED-A8B6-2247-083781A7DB3B}"/>
              </a:ext>
            </a:extLst>
          </p:cNvPr>
          <p:cNvSpPr txBox="1"/>
          <p:nvPr/>
        </p:nvSpPr>
        <p:spPr>
          <a:xfrm>
            <a:off x="3209800" y="496485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chemeClr val="bg1"/>
                </a:solidFill>
              </a:rPr>
              <a:t>Git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38D5E56B-4D08-63C8-4760-6A1CD4B43AE6}"/>
              </a:ext>
            </a:extLst>
          </p:cNvPr>
          <p:cNvSpPr/>
          <p:nvPr/>
        </p:nvSpPr>
        <p:spPr>
          <a:xfrm>
            <a:off x="4124200" y="5334187"/>
            <a:ext cx="914400" cy="914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3F813D2-F1E7-5C04-F2E6-F7A7FE8240AE}"/>
              </a:ext>
            </a:extLst>
          </p:cNvPr>
          <p:cNvSpPr txBox="1"/>
          <p:nvPr/>
        </p:nvSpPr>
        <p:spPr>
          <a:xfrm>
            <a:off x="4124200" y="560672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chemeClr val="bg1"/>
                </a:solidFill>
              </a:rPr>
              <a:t>GitHub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E140F5E-2816-2262-76F1-76FE605B0C95}"/>
              </a:ext>
            </a:extLst>
          </p:cNvPr>
          <p:cNvSpPr/>
          <p:nvPr/>
        </p:nvSpPr>
        <p:spPr>
          <a:xfrm>
            <a:off x="5255194" y="5334187"/>
            <a:ext cx="914400" cy="9144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i="1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C3AF082-DA68-20FF-B2A0-F25E4946AA1F}"/>
              </a:ext>
            </a:extLst>
          </p:cNvPr>
          <p:cNvSpPr txBox="1"/>
          <p:nvPr/>
        </p:nvSpPr>
        <p:spPr>
          <a:xfrm>
            <a:off x="5255194" y="560672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chemeClr val="bg1"/>
                </a:solidFill>
              </a:rPr>
              <a:t>GitLab</a:t>
            </a:r>
          </a:p>
        </p:txBody>
      </p:sp>
    </p:spTree>
    <p:extLst>
      <p:ext uri="{BB962C8B-B14F-4D97-AF65-F5344CB8AC3E}">
        <p14:creationId xmlns:p14="http://schemas.microsoft.com/office/powerpoint/2010/main" val="4032015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57331-A0A3-D399-6AEC-BBEB3825E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8341E237-715A-4F55-592D-5FFD70649FAE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7BDE3AE0-A022-EB69-5BC9-6A536D1573EA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7B2B732F-3727-091C-4BBF-56835032B654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20E845E9-BB31-3613-A6E9-C80BC16A611D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F42D8F99-93A2-4F70-D53A-EC2791B8B2B7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070909AD-7206-65AF-9C6D-E3BA76F1F3E8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258B081D-2275-9B3D-0198-AD1127B1AE29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6C8CCE8D-111C-2528-C36A-24EAB4390772}"/>
              </a:ext>
            </a:extLst>
          </p:cNvPr>
          <p:cNvSpPr txBox="1"/>
          <p:nvPr/>
        </p:nvSpPr>
        <p:spPr>
          <a:xfrm>
            <a:off x="4881178" y="694661"/>
            <a:ext cx="5609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-apple-system"/>
              </a:rPr>
              <a:t>« A</a:t>
            </a:r>
            <a:r>
              <a:rPr lang="en-GB" b="0" i="0" dirty="0">
                <a:effectLst/>
                <a:latin typeface="-apple-system"/>
              </a:rPr>
              <a:t> convention for how you organise your research artefacts into directories. </a:t>
            </a:r>
            <a:r>
              <a:rPr lang="en-GB" dirty="0">
                <a:latin typeface="-apple-system"/>
              </a:rPr>
              <a:t>» </a:t>
            </a:r>
            <a:r>
              <a:rPr lang="en-GB" sz="1400" dirty="0">
                <a:latin typeface="-apple-system"/>
              </a:rPr>
              <a:t>(https://</a:t>
            </a:r>
            <a:r>
              <a:rPr lang="en-GB" sz="1400" dirty="0" err="1">
                <a:latin typeface="-apple-system"/>
              </a:rPr>
              <a:t>github.com</a:t>
            </a:r>
            <a:r>
              <a:rPr lang="en-GB" sz="1400" dirty="0">
                <a:latin typeface="-apple-system"/>
              </a:rPr>
              <a:t>/</a:t>
            </a:r>
            <a:r>
              <a:rPr lang="en-GB" sz="1400" dirty="0" err="1">
                <a:latin typeface="-apple-system"/>
              </a:rPr>
              <a:t>ropensci</a:t>
            </a:r>
            <a:r>
              <a:rPr lang="en-GB" sz="1400" dirty="0">
                <a:latin typeface="-apple-system"/>
              </a:rPr>
              <a:t>/</a:t>
            </a:r>
            <a:r>
              <a:rPr lang="en-GB" sz="1400" dirty="0" err="1">
                <a:latin typeface="-apple-system"/>
              </a:rPr>
              <a:t>rrrpkg</a:t>
            </a:r>
            <a:r>
              <a:rPr lang="en-GB" sz="1400" dirty="0">
                <a:latin typeface="-apple-system"/>
              </a:rPr>
              <a:t>)</a:t>
            </a:r>
            <a:endParaRPr lang="en-GB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E496D8E1-E94D-8D62-419D-D80154D43EDF}"/>
              </a:ext>
            </a:extLst>
          </p:cNvPr>
          <p:cNvSpPr txBox="1"/>
          <p:nvPr/>
        </p:nvSpPr>
        <p:spPr>
          <a:xfrm>
            <a:off x="5598254" y="307072"/>
            <a:ext cx="3911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Research</a:t>
            </a:r>
            <a:r>
              <a:rPr lang="en-GB" sz="20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Compendium</a:t>
            </a:r>
          </a:p>
        </p:txBody>
      </p:sp>
    </p:spTree>
    <p:extLst>
      <p:ext uri="{BB962C8B-B14F-4D97-AF65-F5344CB8AC3E}">
        <p14:creationId xmlns:p14="http://schemas.microsoft.com/office/powerpoint/2010/main" val="3934540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A0D39-FC45-C40C-0EF3-54575E9FF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0546DAC8-38C6-E2BE-7F95-A1BA9BE48A3E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C7EDFA54-6BB6-CB3B-D88B-C7086C17B80C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0422C8E8-6D76-A6F1-F505-A9BA8956C473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6C9E6044-FAB6-5C21-EBC3-34BBAC287491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73364D75-4E6D-5494-1795-1200736B733B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65FC2352-00CE-B309-8C70-F69EAD768613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F62C96C-8B87-E8DA-DBB5-C6B9285BCAEA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C58A836-0548-6785-6C79-9489ED9E7BAB}"/>
              </a:ext>
            </a:extLst>
          </p:cNvPr>
          <p:cNvSpPr txBox="1"/>
          <p:nvPr/>
        </p:nvSpPr>
        <p:spPr>
          <a:xfrm>
            <a:off x="5598254" y="307072"/>
            <a:ext cx="3911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Research</a:t>
            </a:r>
            <a:r>
              <a:rPr lang="en-GB" sz="20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Compendium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C21E3E-09E6-5D5B-CCE6-32FDC1D6FA56}"/>
              </a:ext>
            </a:extLst>
          </p:cNvPr>
          <p:cNvSpPr/>
          <p:nvPr/>
        </p:nvSpPr>
        <p:spPr>
          <a:xfrm>
            <a:off x="4983253" y="1429657"/>
            <a:ext cx="5263832" cy="26851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AA9BB0EA-AA8C-2723-04E4-9C5E7593B223}"/>
              </a:ext>
            </a:extLst>
          </p:cNvPr>
          <p:cNvGrpSpPr/>
          <p:nvPr/>
        </p:nvGrpSpPr>
        <p:grpSpPr>
          <a:xfrm>
            <a:off x="4983253" y="1615448"/>
            <a:ext cx="4957581" cy="2373002"/>
            <a:chOff x="151447" y="3269785"/>
            <a:chExt cx="4957581" cy="2373002"/>
          </a:xfrm>
        </p:grpSpPr>
        <p:pic>
          <p:nvPicPr>
            <p:cNvPr id="6" name="Graphique 5" descr="Dossier ouvert avec un remplissage uni">
              <a:extLst>
                <a:ext uri="{FF2B5EF4-FFF2-40B4-BE49-F238E27FC236}">
                  <a16:creationId xmlns:a16="http://schemas.microsoft.com/office/drawing/2014/main" id="{953BC16C-9496-EB82-2AC9-4C7680DEA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18937" y="4023969"/>
              <a:ext cx="700315" cy="700315"/>
            </a:xfrm>
            <a:prstGeom prst="rect">
              <a:avLst/>
            </a:prstGeom>
          </p:spPr>
        </p:pic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D8A69659-3E8D-ED9A-3447-6A688B9CCA0C}"/>
                </a:ext>
              </a:extLst>
            </p:cNvPr>
            <p:cNvSpPr txBox="1"/>
            <p:nvPr/>
          </p:nvSpPr>
          <p:spPr>
            <a:xfrm>
              <a:off x="151447" y="4180114"/>
              <a:ext cx="1867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/>
                <a:t>Reproducibility</a:t>
              </a:r>
            </a:p>
          </p:txBody>
        </p:sp>
        <p:pic>
          <p:nvPicPr>
            <p:cNvPr id="8" name="Graphique 7" descr="Dossier ouvert avec un remplissage uni">
              <a:extLst>
                <a:ext uri="{FF2B5EF4-FFF2-40B4-BE49-F238E27FC236}">
                  <a16:creationId xmlns:a16="http://schemas.microsoft.com/office/drawing/2014/main" id="{98678C8B-871A-8C3E-9AFC-E1DD3E496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269785"/>
              <a:ext cx="525086" cy="525086"/>
            </a:xfrm>
            <a:prstGeom prst="rect">
              <a:avLst/>
            </a:prstGeom>
          </p:spPr>
        </p:pic>
        <p:pic>
          <p:nvPicPr>
            <p:cNvPr id="11" name="Graphique 10" descr="Dossier ouvert avec un remplissage uni">
              <a:extLst>
                <a:ext uri="{FF2B5EF4-FFF2-40B4-BE49-F238E27FC236}">
                  <a16:creationId xmlns:a16="http://schemas.microsoft.com/office/drawing/2014/main" id="{793E9C33-FB1C-72C8-473B-1AE04BD16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839694"/>
              <a:ext cx="525086" cy="525086"/>
            </a:xfrm>
            <a:prstGeom prst="rect">
              <a:avLst/>
            </a:prstGeom>
          </p:spPr>
        </p:pic>
        <p:pic>
          <p:nvPicPr>
            <p:cNvPr id="12" name="Graphique 11" descr="Dossier ouvert avec un remplissage uni">
              <a:extLst>
                <a:ext uri="{FF2B5EF4-FFF2-40B4-BE49-F238E27FC236}">
                  <a16:creationId xmlns:a16="http://schemas.microsoft.com/office/drawing/2014/main" id="{702D99E6-2C66-ED1C-C236-75A793045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4452394"/>
              <a:ext cx="525086" cy="525086"/>
            </a:xfrm>
            <a:prstGeom prst="rect">
              <a:avLst/>
            </a:prstGeom>
          </p:spPr>
        </p:pic>
        <p:pic>
          <p:nvPicPr>
            <p:cNvPr id="15" name="Graphique 14" descr="Papier avec un remplissage uni">
              <a:extLst>
                <a:ext uri="{FF2B5EF4-FFF2-40B4-BE49-F238E27FC236}">
                  <a16:creationId xmlns:a16="http://schemas.microsoft.com/office/drawing/2014/main" id="{5C660994-874B-1C7F-D698-F97624FD4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65513" y="5065094"/>
              <a:ext cx="577693" cy="577693"/>
            </a:xfrm>
            <a:prstGeom prst="rect">
              <a:avLst/>
            </a:prstGeom>
          </p:spPr>
        </p:pic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C79507C3-E248-BD1D-38B3-D47E054D0AEF}"/>
                </a:ext>
              </a:extLst>
            </p:cNvPr>
            <p:cNvCxnSpPr>
              <a:stCxn id="6" idx="3"/>
              <a:endCxn id="8" idx="1"/>
            </p:cNvCxnSpPr>
            <p:nvPr/>
          </p:nvCxnSpPr>
          <p:spPr>
            <a:xfrm flipV="1">
              <a:off x="2719252" y="3532328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DDF9A7E3-D7C0-C688-8616-68908E6D9B38}"/>
                </a:ext>
              </a:extLst>
            </p:cNvPr>
            <p:cNvCxnSpPr>
              <a:cxnSpLocks/>
            </p:cNvCxnSpPr>
            <p:nvPr/>
          </p:nvCxnSpPr>
          <p:spPr>
            <a:xfrm>
              <a:off x="2719252" y="4383583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3A819240-9312-C705-AE81-8B0B84041C55}"/>
                </a:ext>
              </a:extLst>
            </p:cNvPr>
            <p:cNvSpPr txBox="1"/>
            <p:nvPr/>
          </p:nvSpPr>
          <p:spPr>
            <a:xfrm>
              <a:off x="4043206" y="3371186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Data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76B1F405-5322-CAD8-3B65-10365A60E807}"/>
                </a:ext>
              </a:extLst>
            </p:cNvPr>
            <p:cNvSpPr txBox="1"/>
            <p:nvPr/>
          </p:nvSpPr>
          <p:spPr>
            <a:xfrm>
              <a:off x="4043206" y="3916008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6898D6D7-CDD6-28CB-A7A4-557ABABAA9A1}"/>
                </a:ext>
              </a:extLst>
            </p:cNvPr>
            <p:cNvSpPr txBox="1"/>
            <p:nvPr/>
          </p:nvSpPr>
          <p:spPr>
            <a:xfrm>
              <a:off x="4043205" y="4549446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Results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8B6D58B8-EC13-5424-2CD2-4884306FE01B}"/>
                </a:ext>
              </a:extLst>
            </p:cNvPr>
            <p:cNvSpPr txBox="1"/>
            <p:nvPr/>
          </p:nvSpPr>
          <p:spPr>
            <a:xfrm>
              <a:off x="4043204" y="5182884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.</a:t>
              </a:r>
              <a:r>
                <a:rPr lang="en-GB" dirty="0" err="1"/>
                <a:t>Rproj</a:t>
              </a:r>
              <a:endParaRPr lang="en-GB" dirty="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8202C30C-5C52-EC91-5B56-DAB09473C0E7}"/>
              </a:ext>
            </a:extLst>
          </p:cNvPr>
          <p:cNvSpPr/>
          <p:nvPr/>
        </p:nvSpPr>
        <p:spPr>
          <a:xfrm>
            <a:off x="8340861" y="1615448"/>
            <a:ext cx="1306989" cy="5250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76BE0EC-D6C3-B257-46DE-7051302B233A}"/>
              </a:ext>
            </a:extLst>
          </p:cNvPr>
          <p:cNvSpPr txBox="1"/>
          <p:nvPr/>
        </p:nvSpPr>
        <p:spPr>
          <a:xfrm>
            <a:off x="4881178" y="694661"/>
            <a:ext cx="5609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-apple-system"/>
              </a:rPr>
              <a:t>« A</a:t>
            </a:r>
            <a:r>
              <a:rPr lang="en-GB" b="0" i="0" dirty="0">
                <a:effectLst/>
                <a:latin typeface="-apple-system"/>
              </a:rPr>
              <a:t> convention for how you organise your research artefacts into directories. </a:t>
            </a:r>
            <a:r>
              <a:rPr lang="en-GB" dirty="0">
                <a:latin typeface="-apple-system"/>
              </a:rPr>
              <a:t>» </a:t>
            </a:r>
            <a:r>
              <a:rPr lang="en-GB" sz="1400" dirty="0">
                <a:latin typeface="-apple-system"/>
              </a:rPr>
              <a:t>(https://</a:t>
            </a:r>
            <a:r>
              <a:rPr lang="en-GB" sz="1400" dirty="0" err="1">
                <a:latin typeface="-apple-system"/>
              </a:rPr>
              <a:t>github.com</a:t>
            </a:r>
            <a:r>
              <a:rPr lang="en-GB" sz="1400" dirty="0">
                <a:latin typeface="-apple-system"/>
              </a:rPr>
              <a:t>/</a:t>
            </a:r>
            <a:r>
              <a:rPr lang="en-GB" sz="1400" dirty="0" err="1">
                <a:latin typeface="-apple-system"/>
              </a:rPr>
              <a:t>ropensci</a:t>
            </a:r>
            <a:r>
              <a:rPr lang="en-GB" sz="1400" dirty="0">
                <a:latin typeface="-apple-system"/>
              </a:rPr>
              <a:t>/</a:t>
            </a:r>
            <a:r>
              <a:rPr lang="en-GB" sz="1400" dirty="0" err="1">
                <a:latin typeface="-apple-system"/>
              </a:rPr>
              <a:t>rrrpkg</a:t>
            </a:r>
            <a:r>
              <a:rPr lang="en-GB" sz="1400" dirty="0">
                <a:latin typeface="-apple-system"/>
              </a:rPr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6676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1F08D-CB73-EA40-C53E-FF0FFA280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10D19AA7-4C3C-4AF4-72CF-82F60A62A82F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3AD8FBF5-8F69-AB9C-F2B5-E7618CD133EE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4F4BC475-3B80-E0AE-A048-EF76CFD5B22D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ADB5A5E2-DEEF-74DF-7367-270D11522F26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A95A1823-FA41-2C9C-D07B-78C331E469C8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9F2DCC3-BC88-A924-5847-002FC0E2DFA9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AB7A588-9BD5-A7C6-D37E-72E4D6AD21DF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64A3B85-D990-254C-3079-519AC9660B25}"/>
              </a:ext>
            </a:extLst>
          </p:cNvPr>
          <p:cNvSpPr txBox="1"/>
          <p:nvPr/>
        </p:nvSpPr>
        <p:spPr>
          <a:xfrm>
            <a:off x="5598254" y="307072"/>
            <a:ext cx="3911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Research</a:t>
            </a:r>
            <a:r>
              <a:rPr lang="en-GB" sz="20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Compendium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8CDB436-E10E-A955-FBD5-B5E29CF1C7BE}"/>
              </a:ext>
            </a:extLst>
          </p:cNvPr>
          <p:cNvSpPr/>
          <p:nvPr/>
        </p:nvSpPr>
        <p:spPr>
          <a:xfrm>
            <a:off x="4983253" y="1429657"/>
            <a:ext cx="5263832" cy="26851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C29B5F5C-370D-2E76-6CFF-1BE76B32F487}"/>
              </a:ext>
            </a:extLst>
          </p:cNvPr>
          <p:cNvGrpSpPr/>
          <p:nvPr/>
        </p:nvGrpSpPr>
        <p:grpSpPr>
          <a:xfrm>
            <a:off x="4983253" y="1615448"/>
            <a:ext cx="4957581" cy="2373002"/>
            <a:chOff x="151447" y="3269785"/>
            <a:chExt cx="4957581" cy="2373002"/>
          </a:xfrm>
        </p:grpSpPr>
        <p:pic>
          <p:nvPicPr>
            <p:cNvPr id="40" name="Graphique 39" descr="Dossier ouvert avec un remplissage uni">
              <a:extLst>
                <a:ext uri="{FF2B5EF4-FFF2-40B4-BE49-F238E27FC236}">
                  <a16:creationId xmlns:a16="http://schemas.microsoft.com/office/drawing/2014/main" id="{5C8487C1-375D-D739-D40E-7ADED49EB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18937" y="4023969"/>
              <a:ext cx="700315" cy="700315"/>
            </a:xfrm>
            <a:prstGeom prst="rect">
              <a:avLst/>
            </a:prstGeom>
          </p:spPr>
        </p:pic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D21D33C8-3C50-AD96-0CB7-2B74BB98939E}"/>
                </a:ext>
              </a:extLst>
            </p:cNvPr>
            <p:cNvSpPr txBox="1"/>
            <p:nvPr/>
          </p:nvSpPr>
          <p:spPr>
            <a:xfrm>
              <a:off x="151447" y="4180114"/>
              <a:ext cx="1867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/>
                <a:t>Reproducibility</a:t>
              </a:r>
            </a:p>
          </p:txBody>
        </p:sp>
        <p:pic>
          <p:nvPicPr>
            <p:cNvPr id="42" name="Graphique 41" descr="Dossier ouvert avec un remplissage uni">
              <a:extLst>
                <a:ext uri="{FF2B5EF4-FFF2-40B4-BE49-F238E27FC236}">
                  <a16:creationId xmlns:a16="http://schemas.microsoft.com/office/drawing/2014/main" id="{560123CD-FC15-0888-DD48-4A5F3040B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269785"/>
              <a:ext cx="525086" cy="525086"/>
            </a:xfrm>
            <a:prstGeom prst="rect">
              <a:avLst/>
            </a:prstGeom>
          </p:spPr>
        </p:pic>
        <p:pic>
          <p:nvPicPr>
            <p:cNvPr id="43" name="Graphique 42" descr="Dossier ouvert avec un remplissage uni">
              <a:extLst>
                <a:ext uri="{FF2B5EF4-FFF2-40B4-BE49-F238E27FC236}">
                  <a16:creationId xmlns:a16="http://schemas.microsoft.com/office/drawing/2014/main" id="{23557801-712D-79FF-7F46-3A05F0C40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839694"/>
              <a:ext cx="525086" cy="525086"/>
            </a:xfrm>
            <a:prstGeom prst="rect">
              <a:avLst/>
            </a:prstGeom>
          </p:spPr>
        </p:pic>
        <p:pic>
          <p:nvPicPr>
            <p:cNvPr id="44" name="Graphique 43" descr="Dossier ouvert avec un remplissage uni">
              <a:extLst>
                <a:ext uri="{FF2B5EF4-FFF2-40B4-BE49-F238E27FC236}">
                  <a16:creationId xmlns:a16="http://schemas.microsoft.com/office/drawing/2014/main" id="{F753F42D-5FFC-CE98-1714-10AAA1024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4452394"/>
              <a:ext cx="525086" cy="525086"/>
            </a:xfrm>
            <a:prstGeom prst="rect">
              <a:avLst/>
            </a:prstGeom>
          </p:spPr>
        </p:pic>
        <p:pic>
          <p:nvPicPr>
            <p:cNvPr id="46" name="Graphique 45" descr="Papier avec un remplissage uni">
              <a:extLst>
                <a:ext uri="{FF2B5EF4-FFF2-40B4-BE49-F238E27FC236}">
                  <a16:creationId xmlns:a16="http://schemas.microsoft.com/office/drawing/2014/main" id="{F23ADB0B-AC23-A8D6-A765-D5DF13D5E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65513" y="5065094"/>
              <a:ext cx="577693" cy="577693"/>
            </a:xfrm>
            <a:prstGeom prst="rect">
              <a:avLst/>
            </a:prstGeom>
          </p:spPr>
        </p:pic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id="{D3BF57CA-3CE8-42B0-E86B-4117A053D6B5}"/>
                </a:ext>
              </a:extLst>
            </p:cNvPr>
            <p:cNvCxnSpPr>
              <a:stCxn id="40" idx="3"/>
              <a:endCxn id="42" idx="1"/>
            </p:cNvCxnSpPr>
            <p:nvPr/>
          </p:nvCxnSpPr>
          <p:spPr>
            <a:xfrm flipV="1">
              <a:off x="2719252" y="3532328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927F9067-5C1F-7383-A09C-0C77B9140C19}"/>
                </a:ext>
              </a:extLst>
            </p:cNvPr>
            <p:cNvCxnSpPr>
              <a:cxnSpLocks/>
            </p:cNvCxnSpPr>
            <p:nvPr/>
          </p:nvCxnSpPr>
          <p:spPr>
            <a:xfrm>
              <a:off x="2719252" y="4383583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A74CF3FA-EB6F-742E-C269-AE7B6C20D926}"/>
                </a:ext>
              </a:extLst>
            </p:cNvPr>
            <p:cNvSpPr txBox="1"/>
            <p:nvPr/>
          </p:nvSpPr>
          <p:spPr>
            <a:xfrm>
              <a:off x="4043206" y="3371186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Data</a:t>
              </a:r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2AFE9310-21BA-D00A-57AD-A0D4F2E13618}"/>
                </a:ext>
              </a:extLst>
            </p:cNvPr>
            <p:cNvSpPr txBox="1"/>
            <p:nvPr/>
          </p:nvSpPr>
          <p:spPr>
            <a:xfrm>
              <a:off x="4043206" y="3916008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</a:t>
              </a:r>
            </a:p>
          </p:txBody>
        </p: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A94E8259-3516-C633-A8B1-3AD50085CDA2}"/>
                </a:ext>
              </a:extLst>
            </p:cNvPr>
            <p:cNvSpPr txBox="1"/>
            <p:nvPr/>
          </p:nvSpPr>
          <p:spPr>
            <a:xfrm>
              <a:off x="4043205" y="4549446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Results</a:t>
              </a:r>
            </a:p>
          </p:txBody>
        </p: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55FDBB1E-FE9F-7BFF-A245-86958A0E249A}"/>
                </a:ext>
              </a:extLst>
            </p:cNvPr>
            <p:cNvSpPr txBox="1"/>
            <p:nvPr/>
          </p:nvSpPr>
          <p:spPr>
            <a:xfrm>
              <a:off x="4043204" y="5182884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.</a:t>
              </a:r>
              <a:r>
                <a:rPr lang="en-GB" dirty="0" err="1"/>
                <a:t>Rproj</a:t>
              </a:r>
              <a:endParaRPr lang="en-GB" dirty="0"/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66C82C89-1749-CF7B-974D-06A91D9DDD07}"/>
              </a:ext>
            </a:extLst>
          </p:cNvPr>
          <p:cNvSpPr/>
          <p:nvPr/>
        </p:nvSpPr>
        <p:spPr>
          <a:xfrm>
            <a:off x="8340861" y="1615448"/>
            <a:ext cx="1306989" cy="5250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8C6C4-47E2-C51B-3EA6-2FA0F5CDD8DB}"/>
              </a:ext>
            </a:extLst>
          </p:cNvPr>
          <p:cNvSpPr/>
          <p:nvPr/>
        </p:nvSpPr>
        <p:spPr>
          <a:xfrm>
            <a:off x="4983252" y="4151475"/>
            <a:ext cx="5263833" cy="2200134"/>
          </a:xfrm>
          <a:prstGeom prst="rect">
            <a:avLst/>
          </a:prstGeom>
          <a:solidFill>
            <a:srgbClr val="EF9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Graphique 2" descr="Dossier ouvert avec un remplissage uni">
            <a:extLst>
              <a:ext uri="{FF2B5EF4-FFF2-40B4-BE49-F238E27FC236}">
                <a16:creationId xmlns:a16="http://schemas.microsoft.com/office/drawing/2014/main" id="{2233AA9B-E468-3AF2-C2BE-4EB8BEDC1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9926" y="4236219"/>
            <a:ext cx="525086" cy="525086"/>
          </a:xfrm>
          <a:prstGeom prst="rect">
            <a:avLst/>
          </a:prstGeom>
        </p:spPr>
      </p:pic>
      <p:pic>
        <p:nvPicPr>
          <p:cNvPr id="6" name="Graphique 5" descr="Papier avec un remplissage uni">
            <a:extLst>
              <a:ext uri="{FF2B5EF4-FFF2-40B4-BE49-F238E27FC236}">
                <a16:creationId xmlns:a16="http://schemas.microsoft.com/office/drawing/2014/main" id="{C013070F-6A79-4A7B-9111-49B23BD2BF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7319" y="5594521"/>
            <a:ext cx="577693" cy="57769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9BE6E6B-0A83-295E-389D-9D0EF66CC618}"/>
              </a:ext>
            </a:extLst>
          </p:cNvPr>
          <p:cNvSpPr txBox="1"/>
          <p:nvPr/>
        </p:nvSpPr>
        <p:spPr>
          <a:xfrm>
            <a:off x="8875010" y="4299466"/>
            <a:ext cx="106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Docs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E0AC036-06A8-046C-52E7-E0B9495447D2}"/>
              </a:ext>
            </a:extLst>
          </p:cNvPr>
          <p:cNvSpPr txBox="1"/>
          <p:nvPr/>
        </p:nvSpPr>
        <p:spPr>
          <a:xfrm>
            <a:off x="8875010" y="5742512"/>
            <a:ext cx="1372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README.txt</a:t>
            </a:r>
            <a:endParaRPr lang="en-GB" dirty="0"/>
          </a:p>
        </p:txBody>
      </p:sp>
      <p:pic>
        <p:nvPicPr>
          <p:cNvPr id="11" name="Graphique 10" descr="Dossier ouvert avec un remplissage uni">
            <a:extLst>
              <a:ext uri="{FF2B5EF4-FFF2-40B4-BE49-F238E27FC236}">
                <a16:creationId xmlns:a16="http://schemas.microsoft.com/office/drawing/2014/main" id="{78B013F2-7117-33E2-DD0E-A5258AA0E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6" y="4673429"/>
            <a:ext cx="525086" cy="52508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6560BA58-FFC3-AE67-376F-09FE5D7E9B54}"/>
              </a:ext>
            </a:extLst>
          </p:cNvPr>
          <p:cNvSpPr txBox="1"/>
          <p:nvPr/>
        </p:nvSpPr>
        <p:spPr>
          <a:xfrm>
            <a:off x="8877510" y="4736676"/>
            <a:ext cx="136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ConfigFiles</a:t>
            </a:r>
            <a:endParaRPr lang="en-GB" dirty="0"/>
          </a:p>
        </p:txBody>
      </p:sp>
      <p:pic>
        <p:nvPicPr>
          <p:cNvPr id="15" name="Graphique 14" descr="Dossier ouvert avec un remplissage uni">
            <a:extLst>
              <a:ext uri="{FF2B5EF4-FFF2-40B4-BE49-F238E27FC236}">
                <a16:creationId xmlns:a16="http://schemas.microsoft.com/office/drawing/2014/main" id="{1BA4944C-F1DD-8752-7511-11361035F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6" y="5100111"/>
            <a:ext cx="525086" cy="525086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2C38C6D9-1B34-302D-0957-A10D804F431B}"/>
              </a:ext>
            </a:extLst>
          </p:cNvPr>
          <p:cNvSpPr txBox="1"/>
          <p:nvPr/>
        </p:nvSpPr>
        <p:spPr>
          <a:xfrm>
            <a:off x="8877510" y="5163358"/>
            <a:ext cx="136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Report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1EACB11-B60F-1E30-A3D7-657C93D8E640}"/>
              </a:ext>
            </a:extLst>
          </p:cNvPr>
          <p:cNvSpPr txBox="1"/>
          <p:nvPr/>
        </p:nvSpPr>
        <p:spPr>
          <a:xfrm>
            <a:off x="4881178" y="694661"/>
            <a:ext cx="5609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-apple-system"/>
              </a:rPr>
              <a:t>« A</a:t>
            </a:r>
            <a:r>
              <a:rPr lang="en-GB" b="0" i="0" dirty="0">
                <a:effectLst/>
                <a:latin typeface="-apple-system"/>
              </a:rPr>
              <a:t> convention for how you organise your research artefacts into directories. </a:t>
            </a:r>
            <a:r>
              <a:rPr lang="en-GB" dirty="0">
                <a:latin typeface="-apple-system"/>
              </a:rPr>
              <a:t>» </a:t>
            </a:r>
            <a:r>
              <a:rPr lang="en-GB" sz="1400" dirty="0">
                <a:latin typeface="-apple-system"/>
              </a:rPr>
              <a:t>(https://</a:t>
            </a:r>
            <a:r>
              <a:rPr lang="en-GB" sz="1400" dirty="0" err="1">
                <a:latin typeface="-apple-system"/>
              </a:rPr>
              <a:t>github.com</a:t>
            </a:r>
            <a:r>
              <a:rPr lang="en-GB" sz="1400" dirty="0">
                <a:latin typeface="-apple-system"/>
              </a:rPr>
              <a:t>/</a:t>
            </a:r>
            <a:r>
              <a:rPr lang="en-GB" sz="1400" dirty="0" err="1">
                <a:latin typeface="-apple-system"/>
              </a:rPr>
              <a:t>ropensci</a:t>
            </a:r>
            <a:r>
              <a:rPr lang="en-GB" sz="1400" dirty="0">
                <a:latin typeface="-apple-system"/>
              </a:rPr>
              <a:t>/</a:t>
            </a:r>
            <a:r>
              <a:rPr lang="en-GB" sz="1400" dirty="0" err="1">
                <a:latin typeface="-apple-system"/>
              </a:rPr>
              <a:t>rrrpkg</a:t>
            </a:r>
            <a:r>
              <a:rPr lang="en-GB" sz="1400" dirty="0">
                <a:latin typeface="-apple-system"/>
              </a:rPr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4831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7C07D-C307-D117-F7FE-EFAA8C541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39F7F7BF-41B5-4867-D566-A231A2C23230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77155C00-3ADC-3D65-D325-0CB8FEE520C1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8F2DA970-B952-9E8A-4A63-3F3A9FE19E43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19A3C5B2-DA72-B76E-97F6-437C28329AD8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9BDA5824-5A45-42BC-A1D6-1A340BC23399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2A37BD0-2405-836D-AD4F-B1F0E9E2FA45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2F0D724-4B55-7C73-94F2-EC4E341A8FB2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4797BAF-5D98-2916-F9D7-BD481C7301ED}"/>
              </a:ext>
            </a:extLst>
          </p:cNvPr>
          <p:cNvSpPr txBox="1"/>
          <p:nvPr/>
        </p:nvSpPr>
        <p:spPr>
          <a:xfrm>
            <a:off x="5598254" y="307072"/>
            <a:ext cx="3911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Research</a:t>
            </a:r>
            <a:r>
              <a:rPr lang="en-GB" sz="20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Compendium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856138A-BE9E-3E25-2A21-2FA4CCD5D0E1}"/>
              </a:ext>
            </a:extLst>
          </p:cNvPr>
          <p:cNvSpPr/>
          <p:nvPr/>
        </p:nvSpPr>
        <p:spPr>
          <a:xfrm>
            <a:off x="247135" y="3212079"/>
            <a:ext cx="4114800" cy="3547067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A0A884D-99C8-345A-8B59-6F0FA9CC4ACE}"/>
              </a:ext>
            </a:extLst>
          </p:cNvPr>
          <p:cNvSpPr txBox="1"/>
          <p:nvPr/>
        </p:nvSpPr>
        <p:spPr>
          <a:xfrm>
            <a:off x="1886518" y="3269048"/>
            <a:ext cx="729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</a:t>
            </a:r>
          </a:p>
        </p:txBody>
      </p:sp>
      <p:pic>
        <p:nvPicPr>
          <p:cNvPr id="7" name="Graphique 6" descr="Base de données contour">
            <a:extLst>
              <a:ext uri="{FF2B5EF4-FFF2-40B4-BE49-F238E27FC236}">
                <a16:creationId xmlns:a16="http://schemas.microsoft.com/office/drawing/2014/main" id="{429CC41D-37A1-465C-3CE2-84A029F69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447" y="4090123"/>
            <a:ext cx="2004188" cy="200418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69208A9-900F-6CD6-AD45-5D67FD08E6BB}"/>
              </a:ext>
            </a:extLst>
          </p:cNvPr>
          <p:cNvSpPr txBox="1"/>
          <p:nvPr/>
        </p:nvSpPr>
        <p:spPr>
          <a:xfrm>
            <a:off x="785087" y="3901085"/>
            <a:ext cx="729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RAW</a:t>
            </a:r>
          </a:p>
        </p:txBody>
      </p:sp>
      <p:pic>
        <p:nvPicPr>
          <p:cNvPr id="11" name="Graphique 10" descr="Base de données contour">
            <a:extLst>
              <a:ext uri="{FF2B5EF4-FFF2-40B4-BE49-F238E27FC236}">
                <a16:creationId xmlns:a16="http://schemas.microsoft.com/office/drawing/2014/main" id="{3F765735-17CA-3E21-9E99-33CC33681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3554" y="4090123"/>
            <a:ext cx="2004188" cy="2004188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7AA5A8A6-D86E-4345-616F-779DD6E19BC6}"/>
              </a:ext>
            </a:extLst>
          </p:cNvPr>
          <p:cNvSpPr txBox="1"/>
          <p:nvPr/>
        </p:nvSpPr>
        <p:spPr>
          <a:xfrm>
            <a:off x="2881883" y="3901085"/>
            <a:ext cx="729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TIDY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88C7B611-5ED3-D4EE-7F67-25BCCA8CEC05}"/>
              </a:ext>
            </a:extLst>
          </p:cNvPr>
          <p:cNvCxnSpPr/>
          <p:nvPr/>
        </p:nvCxnSpPr>
        <p:spPr>
          <a:xfrm>
            <a:off x="1916498" y="5092217"/>
            <a:ext cx="52689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Multiplication 17">
            <a:extLst>
              <a:ext uri="{FF2B5EF4-FFF2-40B4-BE49-F238E27FC236}">
                <a16:creationId xmlns:a16="http://schemas.microsoft.com/office/drawing/2014/main" id="{13601F20-25B1-6E4F-B036-8CDE7EA93AA7}"/>
              </a:ext>
            </a:extLst>
          </p:cNvPr>
          <p:cNvSpPr/>
          <p:nvPr/>
        </p:nvSpPr>
        <p:spPr>
          <a:xfrm>
            <a:off x="1948393" y="3812962"/>
            <a:ext cx="2594510" cy="2594510"/>
          </a:xfrm>
          <a:prstGeom prst="mathMultiply">
            <a:avLst>
              <a:gd name="adj1" fmla="val 6751"/>
            </a:avLst>
          </a:prstGeom>
          <a:solidFill>
            <a:srgbClr val="CA32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D489E7-CCCC-A96A-4B26-AA771DC4E52C}"/>
              </a:ext>
            </a:extLst>
          </p:cNvPr>
          <p:cNvSpPr/>
          <p:nvPr/>
        </p:nvSpPr>
        <p:spPr>
          <a:xfrm>
            <a:off x="4983253" y="1429657"/>
            <a:ext cx="5263832" cy="26851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63C840C1-5469-C6F5-1BAD-42E0143C4BEE}"/>
              </a:ext>
            </a:extLst>
          </p:cNvPr>
          <p:cNvGrpSpPr/>
          <p:nvPr/>
        </p:nvGrpSpPr>
        <p:grpSpPr>
          <a:xfrm>
            <a:off x="4983253" y="1615448"/>
            <a:ext cx="4957581" cy="2373002"/>
            <a:chOff x="151447" y="3269785"/>
            <a:chExt cx="4957581" cy="2373002"/>
          </a:xfrm>
        </p:grpSpPr>
        <p:pic>
          <p:nvPicPr>
            <p:cNvPr id="21" name="Graphique 20" descr="Dossier ouvert avec un remplissage uni">
              <a:extLst>
                <a:ext uri="{FF2B5EF4-FFF2-40B4-BE49-F238E27FC236}">
                  <a16:creationId xmlns:a16="http://schemas.microsoft.com/office/drawing/2014/main" id="{06064812-2EAF-10AB-EC73-E89F2E210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18937" y="4023969"/>
              <a:ext cx="700315" cy="700315"/>
            </a:xfrm>
            <a:prstGeom prst="rect">
              <a:avLst/>
            </a:prstGeom>
          </p:spPr>
        </p:pic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7D0388D9-B3F6-0B7D-C4A4-74C70292061C}"/>
                </a:ext>
              </a:extLst>
            </p:cNvPr>
            <p:cNvSpPr txBox="1"/>
            <p:nvPr/>
          </p:nvSpPr>
          <p:spPr>
            <a:xfrm>
              <a:off x="151447" y="4180114"/>
              <a:ext cx="1867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/>
                <a:t>Reproducibility</a:t>
              </a:r>
            </a:p>
          </p:txBody>
        </p:sp>
        <p:pic>
          <p:nvPicPr>
            <p:cNvPr id="24" name="Graphique 23" descr="Dossier ouvert avec un remplissage uni">
              <a:extLst>
                <a:ext uri="{FF2B5EF4-FFF2-40B4-BE49-F238E27FC236}">
                  <a16:creationId xmlns:a16="http://schemas.microsoft.com/office/drawing/2014/main" id="{0F4DD3F9-CBDE-B95D-AB67-43F34A882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18120" y="3269785"/>
              <a:ext cx="525086" cy="525086"/>
            </a:xfrm>
            <a:prstGeom prst="rect">
              <a:avLst/>
            </a:prstGeom>
          </p:spPr>
        </p:pic>
        <p:pic>
          <p:nvPicPr>
            <p:cNvPr id="25" name="Graphique 24" descr="Dossier ouvert avec un remplissage uni">
              <a:extLst>
                <a:ext uri="{FF2B5EF4-FFF2-40B4-BE49-F238E27FC236}">
                  <a16:creationId xmlns:a16="http://schemas.microsoft.com/office/drawing/2014/main" id="{E965EF0A-1575-C4D3-41F8-106B78819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18120" y="3839694"/>
              <a:ext cx="525086" cy="525086"/>
            </a:xfrm>
            <a:prstGeom prst="rect">
              <a:avLst/>
            </a:prstGeom>
          </p:spPr>
        </p:pic>
        <p:pic>
          <p:nvPicPr>
            <p:cNvPr id="26" name="Graphique 25" descr="Dossier ouvert avec un remplissage uni">
              <a:extLst>
                <a:ext uri="{FF2B5EF4-FFF2-40B4-BE49-F238E27FC236}">
                  <a16:creationId xmlns:a16="http://schemas.microsoft.com/office/drawing/2014/main" id="{7383A1CD-81DF-F654-EB69-66086E4B4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18120" y="4452394"/>
              <a:ext cx="525086" cy="525086"/>
            </a:xfrm>
            <a:prstGeom prst="rect">
              <a:avLst/>
            </a:prstGeom>
          </p:spPr>
        </p:pic>
        <p:pic>
          <p:nvPicPr>
            <p:cNvPr id="34" name="Graphique 33" descr="Papier avec un remplissage uni">
              <a:extLst>
                <a:ext uri="{FF2B5EF4-FFF2-40B4-BE49-F238E27FC236}">
                  <a16:creationId xmlns:a16="http://schemas.microsoft.com/office/drawing/2014/main" id="{F4F53290-3E87-CA4D-24C5-D06219838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65513" y="5065094"/>
              <a:ext cx="577693" cy="577693"/>
            </a:xfrm>
            <a:prstGeom prst="rect">
              <a:avLst/>
            </a:prstGeom>
          </p:spPr>
        </p:pic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0395D08B-2C7F-6E2B-49A1-98394F8915E4}"/>
                </a:ext>
              </a:extLst>
            </p:cNvPr>
            <p:cNvCxnSpPr>
              <a:stCxn id="21" idx="3"/>
              <a:endCxn id="24" idx="1"/>
            </p:cNvCxnSpPr>
            <p:nvPr/>
          </p:nvCxnSpPr>
          <p:spPr>
            <a:xfrm flipV="1">
              <a:off x="2719252" y="3532328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373CA335-3906-C139-66C4-0641AD21224F}"/>
                </a:ext>
              </a:extLst>
            </p:cNvPr>
            <p:cNvCxnSpPr>
              <a:cxnSpLocks/>
            </p:cNvCxnSpPr>
            <p:nvPr/>
          </p:nvCxnSpPr>
          <p:spPr>
            <a:xfrm>
              <a:off x="2719252" y="4383583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C991F2D0-FC90-6498-E5AC-5F7660B3F7F0}"/>
                </a:ext>
              </a:extLst>
            </p:cNvPr>
            <p:cNvSpPr txBox="1"/>
            <p:nvPr/>
          </p:nvSpPr>
          <p:spPr>
            <a:xfrm>
              <a:off x="4043206" y="3371186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Data</a:t>
              </a:r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0DB32A7C-ACF2-8B65-80EE-064FB456EAAA}"/>
                </a:ext>
              </a:extLst>
            </p:cNvPr>
            <p:cNvSpPr txBox="1"/>
            <p:nvPr/>
          </p:nvSpPr>
          <p:spPr>
            <a:xfrm>
              <a:off x="4043206" y="3916008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06A0FDDD-A76F-BCA0-D48E-0032F40B0F76}"/>
                </a:ext>
              </a:extLst>
            </p:cNvPr>
            <p:cNvSpPr txBox="1"/>
            <p:nvPr/>
          </p:nvSpPr>
          <p:spPr>
            <a:xfrm>
              <a:off x="4043205" y="4549446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Results</a:t>
              </a: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39523B32-F69D-EEBC-CF8A-490A66812C1D}"/>
                </a:ext>
              </a:extLst>
            </p:cNvPr>
            <p:cNvSpPr txBox="1"/>
            <p:nvPr/>
          </p:nvSpPr>
          <p:spPr>
            <a:xfrm>
              <a:off x="4043204" y="5182884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.</a:t>
              </a:r>
              <a:r>
                <a:rPr lang="en-GB" dirty="0" err="1"/>
                <a:t>Rproj</a:t>
              </a:r>
              <a:endParaRPr lang="en-GB" dirty="0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4875AA20-FE04-D4E4-6523-6D53F3ADB77B}"/>
              </a:ext>
            </a:extLst>
          </p:cNvPr>
          <p:cNvSpPr/>
          <p:nvPr/>
        </p:nvSpPr>
        <p:spPr>
          <a:xfrm>
            <a:off x="8340861" y="1615448"/>
            <a:ext cx="1306989" cy="5250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9E43E9D-782A-6496-035A-41CF277251EE}"/>
              </a:ext>
            </a:extLst>
          </p:cNvPr>
          <p:cNvSpPr/>
          <p:nvPr/>
        </p:nvSpPr>
        <p:spPr>
          <a:xfrm>
            <a:off x="4983252" y="4151475"/>
            <a:ext cx="5263833" cy="2200134"/>
          </a:xfrm>
          <a:prstGeom prst="rect">
            <a:avLst/>
          </a:prstGeom>
          <a:solidFill>
            <a:srgbClr val="EF9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8" name="Graphique 57" descr="Dossier ouvert avec un remplissage uni">
            <a:extLst>
              <a:ext uri="{FF2B5EF4-FFF2-40B4-BE49-F238E27FC236}">
                <a16:creationId xmlns:a16="http://schemas.microsoft.com/office/drawing/2014/main" id="{60AFFE70-ACC7-8CA6-6F75-DE2B04E0C2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9926" y="4236219"/>
            <a:ext cx="525086" cy="525086"/>
          </a:xfrm>
          <a:prstGeom prst="rect">
            <a:avLst/>
          </a:prstGeom>
        </p:spPr>
      </p:pic>
      <p:pic>
        <p:nvPicPr>
          <p:cNvPr id="59" name="Graphique 58" descr="Papier avec un remplissage uni">
            <a:extLst>
              <a:ext uri="{FF2B5EF4-FFF2-40B4-BE49-F238E27FC236}">
                <a16:creationId xmlns:a16="http://schemas.microsoft.com/office/drawing/2014/main" id="{882EDDD9-3CFD-3B85-5CB3-64673946F5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97319" y="5594521"/>
            <a:ext cx="577693" cy="577693"/>
          </a:xfrm>
          <a:prstGeom prst="rect">
            <a:avLst/>
          </a:prstGeom>
        </p:spPr>
      </p:pic>
      <p:sp>
        <p:nvSpPr>
          <p:cNvPr id="60" name="ZoneTexte 59">
            <a:extLst>
              <a:ext uri="{FF2B5EF4-FFF2-40B4-BE49-F238E27FC236}">
                <a16:creationId xmlns:a16="http://schemas.microsoft.com/office/drawing/2014/main" id="{0BE1C5A6-E8EC-1C1B-BC22-513819E4B5EF}"/>
              </a:ext>
            </a:extLst>
          </p:cNvPr>
          <p:cNvSpPr txBox="1"/>
          <p:nvPr/>
        </p:nvSpPr>
        <p:spPr>
          <a:xfrm>
            <a:off x="8875010" y="4299466"/>
            <a:ext cx="106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Docs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A8A46A93-155F-84F7-619F-D10173DD6171}"/>
              </a:ext>
            </a:extLst>
          </p:cNvPr>
          <p:cNvSpPr txBox="1"/>
          <p:nvPr/>
        </p:nvSpPr>
        <p:spPr>
          <a:xfrm>
            <a:off x="8875010" y="5742512"/>
            <a:ext cx="1372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README.txt</a:t>
            </a:r>
            <a:endParaRPr lang="en-GB" dirty="0"/>
          </a:p>
        </p:txBody>
      </p:sp>
      <p:pic>
        <p:nvPicPr>
          <p:cNvPr id="62" name="Graphique 61" descr="Dossier ouvert avec un remplissage uni">
            <a:extLst>
              <a:ext uri="{FF2B5EF4-FFF2-40B4-BE49-F238E27FC236}">
                <a16:creationId xmlns:a16="http://schemas.microsoft.com/office/drawing/2014/main" id="{E7334CB5-8832-735D-BBB7-4B6FF65323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2426" y="4673429"/>
            <a:ext cx="525086" cy="525086"/>
          </a:xfrm>
          <a:prstGeom prst="rect">
            <a:avLst/>
          </a:prstGeom>
        </p:spPr>
      </p:pic>
      <p:sp>
        <p:nvSpPr>
          <p:cNvPr id="63" name="ZoneTexte 62">
            <a:extLst>
              <a:ext uri="{FF2B5EF4-FFF2-40B4-BE49-F238E27FC236}">
                <a16:creationId xmlns:a16="http://schemas.microsoft.com/office/drawing/2014/main" id="{E1AA8A19-DB7E-B88E-AE98-ACC77E728500}"/>
              </a:ext>
            </a:extLst>
          </p:cNvPr>
          <p:cNvSpPr txBox="1"/>
          <p:nvPr/>
        </p:nvSpPr>
        <p:spPr>
          <a:xfrm>
            <a:off x="8877510" y="4736676"/>
            <a:ext cx="136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ConfigFiles</a:t>
            </a:r>
            <a:endParaRPr lang="en-GB" dirty="0"/>
          </a:p>
        </p:txBody>
      </p:sp>
      <p:pic>
        <p:nvPicPr>
          <p:cNvPr id="64" name="Graphique 63" descr="Dossier ouvert avec un remplissage uni">
            <a:extLst>
              <a:ext uri="{FF2B5EF4-FFF2-40B4-BE49-F238E27FC236}">
                <a16:creationId xmlns:a16="http://schemas.microsoft.com/office/drawing/2014/main" id="{A71A595B-944A-5528-C23B-9728EFE72B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2426" y="5100111"/>
            <a:ext cx="525086" cy="525086"/>
          </a:xfrm>
          <a:prstGeom prst="rect">
            <a:avLst/>
          </a:prstGeom>
        </p:spPr>
      </p:pic>
      <p:sp>
        <p:nvSpPr>
          <p:cNvPr id="65" name="ZoneTexte 64">
            <a:extLst>
              <a:ext uri="{FF2B5EF4-FFF2-40B4-BE49-F238E27FC236}">
                <a16:creationId xmlns:a16="http://schemas.microsoft.com/office/drawing/2014/main" id="{76126E37-02EC-1747-84F4-F41A0243E872}"/>
              </a:ext>
            </a:extLst>
          </p:cNvPr>
          <p:cNvSpPr txBox="1"/>
          <p:nvPr/>
        </p:nvSpPr>
        <p:spPr>
          <a:xfrm>
            <a:off x="8877510" y="5163358"/>
            <a:ext cx="136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Report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76FF2361-0963-1035-9231-0C4721B5B667}"/>
              </a:ext>
            </a:extLst>
          </p:cNvPr>
          <p:cNvSpPr txBox="1"/>
          <p:nvPr/>
        </p:nvSpPr>
        <p:spPr>
          <a:xfrm>
            <a:off x="4881178" y="694661"/>
            <a:ext cx="5609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-apple-system"/>
              </a:rPr>
              <a:t>« A</a:t>
            </a:r>
            <a:r>
              <a:rPr lang="en-GB" b="0" i="0" dirty="0">
                <a:effectLst/>
                <a:latin typeface="-apple-system"/>
              </a:rPr>
              <a:t> convention for how you organise your research artefacts into directories. </a:t>
            </a:r>
            <a:r>
              <a:rPr lang="en-GB" dirty="0">
                <a:latin typeface="-apple-system"/>
              </a:rPr>
              <a:t>» </a:t>
            </a:r>
            <a:r>
              <a:rPr lang="en-GB" sz="1400" dirty="0">
                <a:latin typeface="-apple-system"/>
              </a:rPr>
              <a:t>(https://</a:t>
            </a:r>
            <a:r>
              <a:rPr lang="en-GB" sz="1400" dirty="0" err="1">
                <a:latin typeface="-apple-system"/>
              </a:rPr>
              <a:t>github.com</a:t>
            </a:r>
            <a:r>
              <a:rPr lang="en-GB" sz="1400" dirty="0">
                <a:latin typeface="-apple-system"/>
              </a:rPr>
              <a:t>/</a:t>
            </a:r>
            <a:r>
              <a:rPr lang="en-GB" sz="1400" dirty="0" err="1">
                <a:latin typeface="-apple-system"/>
              </a:rPr>
              <a:t>ropensci</a:t>
            </a:r>
            <a:r>
              <a:rPr lang="en-GB" sz="1400" dirty="0">
                <a:latin typeface="-apple-system"/>
              </a:rPr>
              <a:t>/</a:t>
            </a:r>
            <a:r>
              <a:rPr lang="en-GB" sz="1400" dirty="0" err="1">
                <a:latin typeface="-apple-system"/>
              </a:rPr>
              <a:t>rrrpkg</a:t>
            </a:r>
            <a:r>
              <a:rPr lang="en-GB" sz="1400" dirty="0">
                <a:latin typeface="-apple-system"/>
              </a:rPr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7237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43E2D-AA8D-C190-89C6-466DD257E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E43C3DA6-F53E-1D38-2398-803F71D27928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5BB41087-B929-7873-3C4E-1F89F69143BB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1EA521E7-C317-129B-D849-D2F6CC7067F4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21187CC7-14DC-23D9-69D9-B6C25A6D26DA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2DAAB16C-E645-B884-9B7C-3F6A75F7765D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00F34D6-DB8A-2636-742B-1B255A6A0917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63E6566-F0DD-E51F-6ECC-400B14C85F3F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D3AA30FD-FC16-CC11-F85F-29FE213913B9}"/>
              </a:ext>
            </a:extLst>
          </p:cNvPr>
          <p:cNvSpPr/>
          <p:nvPr/>
        </p:nvSpPr>
        <p:spPr>
          <a:xfrm>
            <a:off x="247135" y="3212079"/>
            <a:ext cx="4114800" cy="3547067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AC76EF-7B6B-933E-9EF2-7F1D1E24247F}"/>
              </a:ext>
            </a:extLst>
          </p:cNvPr>
          <p:cNvSpPr txBox="1"/>
          <p:nvPr/>
        </p:nvSpPr>
        <p:spPr>
          <a:xfrm>
            <a:off x="1886518" y="3269048"/>
            <a:ext cx="729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C693DD8-5D50-167C-4B89-3D0D740CB784}"/>
              </a:ext>
            </a:extLst>
          </p:cNvPr>
          <p:cNvSpPr txBox="1"/>
          <p:nvPr/>
        </p:nvSpPr>
        <p:spPr>
          <a:xfrm>
            <a:off x="904936" y="3750008"/>
            <a:ext cx="3312826" cy="22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dirty="0"/>
              <a:t>01-ImportAndTidy.R</a:t>
            </a:r>
          </a:p>
          <a:p>
            <a:pPr>
              <a:lnSpc>
                <a:spcPct val="200000"/>
              </a:lnSpc>
            </a:pPr>
            <a:r>
              <a:rPr lang="en-GB" dirty="0"/>
              <a:t>02-DataVizualisation.R</a:t>
            </a:r>
          </a:p>
          <a:p>
            <a:pPr>
              <a:lnSpc>
                <a:spcPct val="200000"/>
              </a:lnSpc>
            </a:pPr>
            <a:r>
              <a:rPr lang="en-GB" dirty="0"/>
              <a:t>03-StatisticalTest.R</a:t>
            </a:r>
          </a:p>
          <a:p>
            <a:pPr>
              <a:lnSpc>
                <a:spcPct val="200000"/>
              </a:lnSpc>
            </a:pPr>
            <a:r>
              <a:rPr lang="en-GB" dirty="0"/>
              <a:t>…</a:t>
            </a:r>
          </a:p>
        </p:txBody>
      </p:sp>
      <p:pic>
        <p:nvPicPr>
          <p:cNvPr id="15" name="Graphique 14" descr="Papier avec un remplissage uni">
            <a:extLst>
              <a:ext uri="{FF2B5EF4-FFF2-40B4-BE49-F238E27FC236}">
                <a16:creationId xmlns:a16="http://schemas.microsoft.com/office/drawing/2014/main" id="{C2E783B4-B6A4-972D-8F83-F87DD362BC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557" y="3833864"/>
            <a:ext cx="506854" cy="506854"/>
          </a:xfrm>
          <a:prstGeom prst="rect">
            <a:avLst/>
          </a:prstGeom>
        </p:spPr>
      </p:pic>
      <p:pic>
        <p:nvPicPr>
          <p:cNvPr id="19" name="Graphique 18" descr="Papier avec un remplissage uni">
            <a:extLst>
              <a:ext uri="{FF2B5EF4-FFF2-40B4-BE49-F238E27FC236}">
                <a16:creationId xmlns:a16="http://schemas.microsoft.com/office/drawing/2014/main" id="{CCAF4268-4E33-7C6F-895E-4BB508521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557" y="4426399"/>
            <a:ext cx="506854" cy="506854"/>
          </a:xfrm>
          <a:prstGeom prst="rect">
            <a:avLst/>
          </a:prstGeom>
        </p:spPr>
      </p:pic>
      <p:pic>
        <p:nvPicPr>
          <p:cNvPr id="20" name="Graphique 19" descr="Papier avec un remplissage uni">
            <a:extLst>
              <a:ext uri="{FF2B5EF4-FFF2-40B4-BE49-F238E27FC236}">
                <a16:creationId xmlns:a16="http://schemas.microsoft.com/office/drawing/2014/main" id="{0AD2F104-98C2-9A9F-872C-193718613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557" y="4989554"/>
            <a:ext cx="506854" cy="506854"/>
          </a:xfrm>
          <a:prstGeom prst="rect">
            <a:avLst/>
          </a:prstGeom>
        </p:spPr>
      </p:pic>
      <p:pic>
        <p:nvPicPr>
          <p:cNvPr id="21" name="Graphique 20" descr="Papier avec un remplissage uni">
            <a:extLst>
              <a:ext uri="{FF2B5EF4-FFF2-40B4-BE49-F238E27FC236}">
                <a16:creationId xmlns:a16="http://schemas.microsoft.com/office/drawing/2014/main" id="{E68E3B2D-F166-E8F6-FE43-76BF85607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557" y="5554278"/>
            <a:ext cx="506854" cy="506854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751E18E2-161C-CCE9-20BF-CDCF3A772A29}"/>
              </a:ext>
            </a:extLst>
          </p:cNvPr>
          <p:cNvSpPr txBox="1"/>
          <p:nvPr/>
        </p:nvSpPr>
        <p:spPr>
          <a:xfrm>
            <a:off x="5598254" y="307072"/>
            <a:ext cx="3911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Research</a:t>
            </a:r>
            <a:r>
              <a:rPr lang="en-GB" sz="20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Compendium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63331E-EFFE-DC46-41A2-69B36FD8AFD2}"/>
              </a:ext>
            </a:extLst>
          </p:cNvPr>
          <p:cNvSpPr/>
          <p:nvPr/>
        </p:nvSpPr>
        <p:spPr>
          <a:xfrm>
            <a:off x="4983253" y="1429657"/>
            <a:ext cx="5263832" cy="26851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FB31D13F-2974-B552-0F45-11D58C609F59}"/>
              </a:ext>
            </a:extLst>
          </p:cNvPr>
          <p:cNvGrpSpPr/>
          <p:nvPr/>
        </p:nvGrpSpPr>
        <p:grpSpPr>
          <a:xfrm>
            <a:off x="4983253" y="1615448"/>
            <a:ext cx="4957581" cy="2373002"/>
            <a:chOff x="151447" y="3269785"/>
            <a:chExt cx="4957581" cy="2373002"/>
          </a:xfrm>
        </p:grpSpPr>
        <p:pic>
          <p:nvPicPr>
            <p:cNvPr id="26" name="Graphique 25" descr="Dossier ouvert avec un remplissage uni">
              <a:extLst>
                <a:ext uri="{FF2B5EF4-FFF2-40B4-BE49-F238E27FC236}">
                  <a16:creationId xmlns:a16="http://schemas.microsoft.com/office/drawing/2014/main" id="{7BA8E926-2448-CAA9-AA37-4DDA77993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18937" y="4023969"/>
              <a:ext cx="700315" cy="700315"/>
            </a:xfrm>
            <a:prstGeom prst="rect">
              <a:avLst/>
            </a:prstGeom>
          </p:spPr>
        </p:pic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32F80B7D-FF44-19CF-54D0-FAEBEC8A0435}"/>
                </a:ext>
              </a:extLst>
            </p:cNvPr>
            <p:cNvSpPr txBox="1"/>
            <p:nvPr/>
          </p:nvSpPr>
          <p:spPr>
            <a:xfrm>
              <a:off x="151447" y="4180114"/>
              <a:ext cx="1867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/>
                <a:t>Reproducibility</a:t>
              </a:r>
            </a:p>
          </p:txBody>
        </p:sp>
        <p:pic>
          <p:nvPicPr>
            <p:cNvPr id="28" name="Graphique 27" descr="Dossier ouvert avec un remplissage uni">
              <a:extLst>
                <a:ext uri="{FF2B5EF4-FFF2-40B4-BE49-F238E27FC236}">
                  <a16:creationId xmlns:a16="http://schemas.microsoft.com/office/drawing/2014/main" id="{DE591C2E-396A-55C6-33A3-A5E97A3C8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18120" y="3269785"/>
              <a:ext cx="525086" cy="525086"/>
            </a:xfrm>
            <a:prstGeom prst="rect">
              <a:avLst/>
            </a:prstGeom>
          </p:spPr>
        </p:pic>
        <p:pic>
          <p:nvPicPr>
            <p:cNvPr id="29" name="Graphique 28" descr="Dossier ouvert avec un remplissage uni">
              <a:extLst>
                <a:ext uri="{FF2B5EF4-FFF2-40B4-BE49-F238E27FC236}">
                  <a16:creationId xmlns:a16="http://schemas.microsoft.com/office/drawing/2014/main" id="{24CA45C3-2CAC-0472-5AE2-76D28B9AE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18120" y="3839694"/>
              <a:ext cx="525086" cy="525086"/>
            </a:xfrm>
            <a:prstGeom prst="rect">
              <a:avLst/>
            </a:prstGeom>
          </p:spPr>
        </p:pic>
        <p:pic>
          <p:nvPicPr>
            <p:cNvPr id="30" name="Graphique 29" descr="Dossier ouvert avec un remplissage uni">
              <a:extLst>
                <a:ext uri="{FF2B5EF4-FFF2-40B4-BE49-F238E27FC236}">
                  <a16:creationId xmlns:a16="http://schemas.microsoft.com/office/drawing/2014/main" id="{DA74A6C0-9104-4B44-7E81-DC6CF46C1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18120" y="4452394"/>
              <a:ext cx="525086" cy="525086"/>
            </a:xfrm>
            <a:prstGeom prst="rect">
              <a:avLst/>
            </a:prstGeom>
          </p:spPr>
        </p:pic>
        <p:pic>
          <p:nvPicPr>
            <p:cNvPr id="33" name="Graphique 32" descr="Papier avec un remplissage uni">
              <a:extLst>
                <a:ext uri="{FF2B5EF4-FFF2-40B4-BE49-F238E27FC236}">
                  <a16:creationId xmlns:a16="http://schemas.microsoft.com/office/drawing/2014/main" id="{41B9B316-A7AC-08AF-1A2D-3E21FC871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65513" y="5065094"/>
              <a:ext cx="577693" cy="577693"/>
            </a:xfrm>
            <a:prstGeom prst="rect">
              <a:avLst/>
            </a:prstGeom>
          </p:spPr>
        </p:pic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1F8E6EB5-5135-2EB7-AE6F-2D5D9A90F2CA}"/>
                </a:ext>
              </a:extLst>
            </p:cNvPr>
            <p:cNvCxnSpPr>
              <a:stCxn id="26" idx="3"/>
              <a:endCxn id="28" idx="1"/>
            </p:cNvCxnSpPr>
            <p:nvPr/>
          </p:nvCxnSpPr>
          <p:spPr>
            <a:xfrm flipV="1">
              <a:off x="2719252" y="3532328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66B04EAE-79B8-C9EF-1B2E-3377B6CC1902}"/>
                </a:ext>
              </a:extLst>
            </p:cNvPr>
            <p:cNvCxnSpPr>
              <a:cxnSpLocks/>
            </p:cNvCxnSpPr>
            <p:nvPr/>
          </p:nvCxnSpPr>
          <p:spPr>
            <a:xfrm>
              <a:off x="2719252" y="4383583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256B7161-5D46-8E4D-F3E5-CB89380BA7CD}"/>
                </a:ext>
              </a:extLst>
            </p:cNvPr>
            <p:cNvSpPr txBox="1"/>
            <p:nvPr/>
          </p:nvSpPr>
          <p:spPr>
            <a:xfrm>
              <a:off x="4043206" y="3371186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Data</a:t>
              </a:r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979F273E-6E94-BAF6-736C-05330AF7DCF8}"/>
                </a:ext>
              </a:extLst>
            </p:cNvPr>
            <p:cNvSpPr txBox="1"/>
            <p:nvPr/>
          </p:nvSpPr>
          <p:spPr>
            <a:xfrm>
              <a:off x="4043206" y="3916008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</a:t>
              </a:r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8F11D38B-906F-2ECB-DDC6-C0DC1F61F75C}"/>
                </a:ext>
              </a:extLst>
            </p:cNvPr>
            <p:cNvSpPr txBox="1"/>
            <p:nvPr/>
          </p:nvSpPr>
          <p:spPr>
            <a:xfrm>
              <a:off x="4043205" y="4549446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Results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EB5D45C8-B1C8-1877-1D22-72FC8BC5A9A2}"/>
                </a:ext>
              </a:extLst>
            </p:cNvPr>
            <p:cNvSpPr txBox="1"/>
            <p:nvPr/>
          </p:nvSpPr>
          <p:spPr>
            <a:xfrm>
              <a:off x="4043204" y="5182884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.</a:t>
              </a:r>
              <a:r>
                <a:rPr lang="en-GB" dirty="0" err="1"/>
                <a:t>Rproj</a:t>
              </a:r>
              <a:endParaRPr lang="en-GB" dirty="0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255AFE89-0D90-19DD-EAFE-4FD135171AA9}"/>
              </a:ext>
            </a:extLst>
          </p:cNvPr>
          <p:cNvSpPr/>
          <p:nvPr/>
        </p:nvSpPr>
        <p:spPr>
          <a:xfrm>
            <a:off x="8340861" y="1615448"/>
            <a:ext cx="1306989" cy="5250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F0C70CE-7DEE-18A4-B087-23E2CD3E0D28}"/>
              </a:ext>
            </a:extLst>
          </p:cNvPr>
          <p:cNvSpPr/>
          <p:nvPr/>
        </p:nvSpPr>
        <p:spPr>
          <a:xfrm>
            <a:off x="4983252" y="4151475"/>
            <a:ext cx="5263833" cy="2200134"/>
          </a:xfrm>
          <a:prstGeom prst="rect">
            <a:avLst/>
          </a:prstGeom>
          <a:solidFill>
            <a:srgbClr val="EF9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7" name="Graphique 56" descr="Dossier ouvert avec un remplissage uni">
            <a:extLst>
              <a:ext uri="{FF2B5EF4-FFF2-40B4-BE49-F238E27FC236}">
                <a16:creationId xmlns:a16="http://schemas.microsoft.com/office/drawing/2014/main" id="{3095FD95-6125-66DA-AB97-7F2EEAE8BD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9926" y="4236219"/>
            <a:ext cx="525086" cy="525086"/>
          </a:xfrm>
          <a:prstGeom prst="rect">
            <a:avLst/>
          </a:prstGeom>
        </p:spPr>
      </p:pic>
      <p:pic>
        <p:nvPicPr>
          <p:cNvPr id="58" name="Graphique 57" descr="Papier avec un remplissage uni">
            <a:extLst>
              <a:ext uri="{FF2B5EF4-FFF2-40B4-BE49-F238E27FC236}">
                <a16:creationId xmlns:a16="http://schemas.microsoft.com/office/drawing/2014/main" id="{E783FD43-FA3F-4AF7-5483-A58895F48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7319" y="5594521"/>
            <a:ext cx="577693" cy="577693"/>
          </a:xfrm>
          <a:prstGeom prst="rect">
            <a:avLst/>
          </a:prstGeom>
        </p:spPr>
      </p:pic>
      <p:sp>
        <p:nvSpPr>
          <p:cNvPr id="59" name="ZoneTexte 58">
            <a:extLst>
              <a:ext uri="{FF2B5EF4-FFF2-40B4-BE49-F238E27FC236}">
                <a16:creationId xmlns:a16="http://schemas.microsoft.com/office/drawing/2014/main" id="{F695BE77-51A5-EB5A-6D50-A94A75E9EC41}"/>
              </a:ext>
            </a:extLst>
          </p:cNvPr>
          <p:cNvSpPr txBox="1"/>
          <p:nvPr/>
        </p:nvSpPr>
        <p:spPr>
          <a:xfrm>
            <a:off x="8875010" y="4299466"/>
            <a:ext cx="106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Docs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95C14AA3-636F-B448-035E-CF63B4103A4C}"/>
              </a:ext>
            </a:extLst>
          </p:cNvPr>
          <p:cNvSpPr txBox="1"/>
          <p:nvPr/>
        </p:nvSpPr>
        <p:spPr>
          <a:xfrm>
            <a:off x="8875010" y="5742512"/>
            <a:ext cx="1372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README.txt</a:t>
            </a:r>
            <a:endParaRPr lang="en-GB" dirty="0"/>
          </a:p>
        </p:txBody>
      </p:sp>
      <p:pic>
        <p:nvPicPr>
          <p:cNvPr id="61" name="Graphique 60" descr="Dossier ouvert avec un remplissage uni">
            <a:extLst>
              <a:ext uri="{FF2B5EF4-FFF2-40B4-BE49-F238E27FC236}">
                <a16:creationId xmlns:a16="http://schemas.microsoft.com/office/drawing/2014/main" id="{B5D1CD76-21FA-1E67-57DF-109E858996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2426" y="4673429"/>
            <a:ext cx="525086" cy="525086"/>
          </a:xfrm>
          <a:prstGeom prst="rect">
            <a:avLst/>
          </a:prstGeom>
        </p:spPr>
      </p:pic>
      <p:sp>
        <p:nvSpPr>
          <p:cNvPr id="62" name="ZoneTexte 61">
            <a:extLst>
              <a:ext uri="{FF2B5EF4-FFF2-40B4-BE49-F238E27FC236}">
                <a16:creationId xmlns:a16="http://schemas.microsoft.com/office/drawing/2014/main" id="{B12BB435-5E1B-9784-665C-C09EF51ED33B}"/>
              </a:ext>
            </a:extLst>
          </p:cNvPr>
          <p:cNvSpPr txBox="1"/>
          <p:nvPr/>
        </p:nvSpPr>
        <p:spPr>
          <a:xfrm>
            <a:off x="8877510" y="4736676"/>
            <a:ext cx="136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ConfigFiles</a:t>
            </a:r>
            <a:endParaRPr lang="en-GB" dirty="0"/>
          </a:p>
        </p:txBody>
      </p:sp>
      <p:pic>
        <p:nvPicPr>
          <p:cNvPr id="63" name="Graphique 62" descr="Dossier ouvert avec un remplissage uni">
            <a:extLst>
              <a:ext uri="{FF2B5EF4-FFF2-40B4-BE49-F238E27FC236}">
                <a16:creationId xmlns:a16="http://schemas.microsoft.com/office/drawing/2014/main" id="{B3F81E1A-0FED-3E0A-7356-9F77374835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2426" y="5100111"/>
            <a:ext cx="525086" cy="525086"/>
          </a:xfrm>
          <a:prstGeom prst="rect">
            <a:avLst/>
          </a:prstGeom>
        </p:spPr>
      </p:pic>
      <p:sp>
        <p:nvSpPr>
          <p:cNvPr id="64" name="ZoneTexte 63">
            <a:extLst>
              <a:ext uri="{FF2B5EF4-FFF2-40B4-BE49-F238E27FC236}">
                <a16:creationId xmlns:a16="http://schemas.microsoft.com/office/drawing/2014/main" id="{5116CE09-008A-0122-1C79-F38F920E53E3}"/>
              </a:ext>
            </a:extLst>
          </p:cNvPr>
          <p:cNvSpPr txBox="1"/>
          <p:nvPr/>
        </p:nvSpPr>
        <p:spPr>
          <a:xfrm>
            <a:off x="8877510" y="5163358"/>
            <a:ext cx="136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Report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004A96B2-B0E5-6F66-CC7A-290370416FEE}"/>
              </a:ext>
            </a:extLst>
          </p:cNvPr>
          <p:cNvSpPr txBox="1"/>
          <p:nvPr/>
        </p:nvSpPr>
        <p:spPr>
          <a:xfrm>
            <a:off x="4881178" y="694661"/>
            <a:ext cx="5609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-apple-system"/>
              </a:rPr>
              <a:t>« A</a:t>
            </a:r>
            <a:r>
              <a:rPr lang="en-GB" b="0" i="0" dirty="0">
                <a:effectLst/>
                <a:latin typeface="-apple-system"/>
              </a:rPr>
              <a:t> convention for how you organise your research artefacts into directories. </a:t>
            </a:r>
            <a:r>
              <a:rPr lang="en-GB" dirty="0">
                <a:latin typeface="-apple-system"/>
              </a:rPr>
              <a:t>» </a:t>
            </a:r>
            <a:r>
              <a:rPr lang="en-GB" sz="1400" dirty="0">
                <a:latin typeface="-apple-system"/>
              </a:rPr>
              <a:t>(https://</a:t>
            </a:r>
            <a:r>
              <a:rPr lang="en-GB" sz="1400" dirty="0" err="1">
                <a:latin typeface="-apple-system"/>
              </a:rPr>
              <a:t>github.com</a:t>
            </a:r>
            <a:r>
              <a:rPr lang="en-GB" sz="1400" dirty="0">
                <a:latin typeface="-apple-system"/>
              </a:rPr>
              <a:t>/</a:t>
            </a:r>
            <a:r>
              <a:rPr lang="en-GB" sz="1400" dirty="0" err="1">
                <a:latin typeface="-apple-system"/>
              </a:rPr>
              <a:t>ropensci</a:t>
            </a:r>
            <a:r>
              <a:rPr lang="en-GB" sz="1400" dirty="0">
                <a:latin typeface="-apple-system"/>
              </a:rPr>
              <a:t>/</a:t>
            </a:r>
            <a:r>
              <a:rPr lang="en-GB" sz="1400" dirty="0" err="1">
                <a:latin typeface="-apple-system"/>
              </a:rPr>
              <a:t>rrrpkg</a:t>
            </a:r>
            <a:r>
              <a:rPr lang="en-GB" sz="1400" dirty="0">
                <a:latin typeface="-apple-system"/>
              </a:rPr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2461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B9750-52F4-6657-03FB-C7ECC8945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B55A486D-8F64-640A-D288-191D63F85753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A26BB9C2-6DC7-6AB0-0F93-8FB79261EABC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29D2D1AC-82CA-58C4-08B3-56D1D5DB0F4C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EB83BB63-E2EB-A617-3708-B812B22EDA86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436B4007-7592-24CC-4D12-0AC6AF9F7E3A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D61110C-65B5-5283-87AB-F90A94209E7B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715368E-4358-3920-46B9-4D4F83F4B7F4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27B958AF-860F-EE9A-5EC6-3E1AC25EE106}"/>
              </a:ext>
            </a:extLst>
          </p:cNvPr>
          <p:cNvSpPr/>
          <p:nvPr/>
        </p:nvSpPr>
        <p:spPr>
          <a:xfrm>
            <a:off x="247135" y="3212079"/>
            <a:ext cx="4114800" cy="3547067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3D187FE-E1DE-F948-30E2-4A24DCB2AE2A}"/>
              </a:ext>
            </a:extLst>
          </p:cNvPr>
          <p:cNvSpPr txBox="1"/>
          <p:nvPr/>
        </p:nvSpPr>
        <p:spPr>
          <a:xfrm>
            <a:off x="1692182" y="3254058"/>
            <a:ext cx="968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Results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DA4A22F-94E7-2CDD-FBEB-3571C3C44815}"/>
              </a:ext>
            </a:extLst>
          </p:cNvPr>
          <p:cNvSpPr txBox="1"/>
          <p:nvPr/>
        </p:nvSpPr>
        <p:spPr>
          <a:xfrm>
            <a:off x="844976" y="3735018"/>
            <a:ext cx="3312826" cy="22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dirty="0" err="1"/>
              <a:t>TidyData</a:t>
            </a:r>
            <a:endParaRPr lang="en-GB" dirty="0"/>
          </a:p>
          <a:p>
            <a:pPr>
              <a:lnSpc>
                <a:spcPct val="200000"/>
              </a:lnSpc>
            </a:pPr>
            <a:r>
              <a:rPr lang="en-GB" dirty="0"/>
              <a:t>Plots</a:t>
            </a:r>
          </a:p>
          <a:p>
            <a:pPr>
              <a:lnSpc>
                <a:spcPct val="200000"/>
              </a:lnSpc>
            </a:pPr>
            <a:r>
              <a:rPr lang="en-GB" dirty="0" err="1"/>
              <a:t>TestResults</a:t>
            </a:r>
            <a:endParaRPr lang="en-GB" dirty="0"/>
          </a:p>
          <a:p>
            <a:pPr>
              <a:lnSpc>
                <a:spcPct val="200000"/>
              </a:lnSpc>
            </a:pPr>
            <a:r>
              <a:rPr lang="en-GB" dirty="0"/>
              <a:t>…</a:t>
            </a:r>
          </a:p>
        </p:txBody>
      </p:sp>
      <p:pic>
        <p:nvPicPr>
          <p:cNvPr id="7" name="Graphique 6" descr="Dossier ouvert avec un remplissage uni">
            <a:extLst>
              <a:ext uri="{FF2B5EF4-FFF2-40B4-BE49-F238E27FC236}">
                <a16:creationId xmlns:a16="http://schemas.microsoft.com/office/drawing/2014/main" id="{3304D245-E2F8-AC8A-75B6-E9081AACF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21" y="3797972"/>
            <a:ext cx="525086" cy="525086"/>
          </a:xfrm>
          <a:prstGeom prst="rect">
            <a:avLst/>
          </a:prstGeom>
        </p:spPr>
      </p:pic>
      <p:pic>
        <p:nvPicPr>
          <p:cNvPr id="8" name="Graphique 7" descr="Dossier ouvert avec un remplissage uni">
            <a:extLst>
              <a:ext uri="{FF2B5EF4-FFF2-40B4-BE49-F238E27FC236}">
                <a16:creationId xmlns:a16="http://schemas.microsoft.com/office/drawing/2014/main" id="{D6424A2B-B5F7-4A8F-05DA-9E28B9865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21" y="4354376"/>
            <a:ext cx="525086" cy="525086"/>
          </a:xfrm>
          <a:prstGeom prst="rect">
            <a:avLst/>
          </a:prstGeom>
        </p:spPr>
      </p:pic>
      <p:pic>
        <p:nvPicPr>
          <p:cNvPr id="11" name="Graphique 10" descr="Dossier ouvert avec un remplissage uni">
            <a:extLst>
              <a:ext uri="{FF2B5EF4-FFF2-40B4-BE49-F238E27FC236}">
                <a16:creationId xmlns:a16="http://schemas.microsoft.com/office/drawing/2014/main" id="{05A92B3A-C947-2097-6F07-17DC9B970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812" y="4946902"/>
            <a:ext cx="525086" cy="525086"/>
          </a:xfrm>
          <a:prstGeom prst="rect">
            <a:avLst/>
          </a:prstGeom>
        </p:spPr>
      </p:pic>
      <p:pic>
        <p:nvPicPr>
          <p:cNvPr id="12" name="Graphique 11" descr="Dossier ouvert avec un remplissage uni">
            <a:extLst>
              <a:ext uri="{FF2B5EF4-FFF2-40B4-BE49-F238E27FC236}">
                <a16:creationId xmlns:a16="http://schemas.microsoft.com/office/drawing/2014/main" id="{F0856DE1-2F62-908D-2B06-7C73B6F86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377" y="5549266"/>
            <a:ext cx="525086" cy="525086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64C73D04-4200-2B57-6EF3-AFBFE0B782ED}"/>
              </a:ext>
            </a:extLst>
          </p:cNvPr>
          <p:cNvSpPr txBox="1"/>
          <p:nvPr/>
        </p:nvSpPr>
        <p:spPr>
          <a:xfrm>
            <a:off x="5598254" y="307072"/>
            <a:ext cx="3911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Research</a:t>
            </a:r>
            <a:r>
              <a:rPr lang="en-GB" sz="20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Compendium</a:t>
            </a:r>
          </a:p>
        </p:txBody>
      </p:sp>
      <p:pic>
        <p:nvPicPr>
          <p:cNvPr id="18" name="Graphique 17" descr="Papier avec un remplissage uni">
            <a:extLst>
              <a:ext uri="{FF2B5EF4-FFF2-40B4-BE49-F238E27FC236}">
                <a16:creationId xmlns:a16="http://schemas.microsoft.com/office/drawing/2014/main" id="{BC5C4435-B922-DC57-FA8A-9263DF43E7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76935" y="3922472"/>
            <a:ext cx="463588" cy="463588"/>
          </a:xfrm>
          <a:prstGeom prst="rect">
            <a:avLst/>
          </a:prstGeom>
        </p:spPr>
      </p:pic>
      <p:pic>
        <p:nvPicPr>
          <p:cNvPr id="23" name="Graphique 22" descr="Papier avec un remplissage uni">
            <a:extLst>
              <a:ext uri="{FF2B5EF4-FFF2-40B4-BE49-F238E27FC236}">
                <a16:creationId xmlns:a16="http://schemas.microsoft.com/office/drawing/2014/main" id="{67C11C97-09C6-86E8-6D5D-ECAABA069F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73860" y="4429326"/>
            <a:ext cx="463588" cy="463588"/>
          </a:xfrm>
          <a:prstGeom prst="rect">
            <a:avLst/>
          </a:prstGeom>
        </p:spPr>
      </p:pic>
      <p:pic>
        <p:nvPicPr>
          <p:cNvPr id="24" name="Graphique 23" descr="Papier avec un remplissage uni">
            <a:extLst>
              <a:ext uri="{FF2B5EF4-FFF2-40B4-BE49-F238E27FC236}">
                <a16:creationId xmlns:a16="http://schemas.microsoft.com/office/drawing/2014/main" id="{60F2D1EC-D1DF-3DC6-C3EC-084F53EEAB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73860" y="4923989"/>
            <a:ext cx="463588" cy="463588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5A80AF7E-A93D-FEB6-74CF-CB12164EF728}"/>
              </a:ext>
            </a:extLst>
          </p:cNvPr>
          <p:cNvCxnSpPr>
            <a:cxnSpLocks/>
          </p:cNvCxnSpPr>
          <p:nvPr/>
        </p:nvCxnSpPr>
        <p:spPr>
          <a:xfrm flipV="1">
            <a:off x="1485498" y="4075505"/>
            <a:ext cx="988361" cy="579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3F290ED-A01C-74DE-7574-C00F4200F3B9}"/>
              </a:ext>
            </a:extLst>
          </p:cNvPr>
          <p:cNvCxnSpPr>
            <a:cxnSpLocks/>
          </p:cNvCxnSpPr>
          <p:nvPr/>
        </p:nvCxnSpPr>
        <p:spPr>
          <a:xfrm>
            <a:off x="1493004" y="4662224"/>
            <a:ext cx="988361" cy="5792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BDDC19A4-E9CC-C060-7146-88A4BBB3C798}"/>
              </a:ext>
            </a:extLst>
          </p:cNvPr>
          <p:cNvSpPr txBox="1"/>
          <p:nvPr/>
        </p:nvSpPr>
        <p:spPr>
          <a:xfrm>
            <a:off x="2871932" y="3771327"/>
            <a:ext cx="3312826" cy="1679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dirty="0"/>
              <a:t>Plot1</a:t>
            </a:r>
          </a:p>
          <a:p>
            <a:pPr>
              <a:lnSpc>
                <a:spcPct val="200000"/>
              </a:lnSpc>
            </a:pPr>
            <a:r>
              <a:rPr lang="en-GB" dirty="0"/>
              <a:t>Plot2</a:t>
            </a:r>
          </a:p>
          <a:p>
            <a:pPr>
              <a:lnSpc>
                <a:spcPct val="200000"/>
              </a:lnSpc>
            </a:pPr>
            <a:r>
              <a:rPr lang="en-GB" dirty="0"/>
              <a:t>Plot3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6B0553-23D9-E75D-E2BA-E61BE32A2816}"/>
              </a:ext>
            </a:extLst>
          </p:cNvPr>
          <p:cNvSpPr/>
          <p:nvPr/>
        </p:nvSpPr>
        <p:spPr>
          <a:xfrm>
            <a:off x="4983253" y="1429657"/>
            <a:ext cx="5263832" cy="26851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945EB8D0-9EA9-17C2-B8AF-8D6FA49FAF8E}"/>
              </a:ext>
            </a:extLst>
          </p:cNvPr>
          <p:cNvGrpSpPr/>
          <p:nvPr/>
        </p:nvGrpSpPr>
        <p:grpSpPr>
          <a:xfrm>
            <a:off x="4983253" y="1615448"/>
            <a:ext cx="4957581" cy="2373002"/>
            <a:chOff x="151447" y="3269785"/>
            <a:chExt cx="4957581" cy="2373002"/>
          </a:xfrm>
        </p:grpSpPr>
        <p:pic>
          <p:nvPicPr>
            <p:cNvPr id="22" name="Graphique 21" descr="Dossier ouvert avec un remplissage uni">
              <a:extLst>
                <a:ext uri="{FF2B5EF4-FFF2-40B4-BE49-F238E27FC236}">
                  <a16:creationId xmlns:a16="http://schemas.microsoft.com/office/drawing/2014/main" id="{2FE93E66-1145-CD5D-0824-5FFE63B77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18937" y="4023969"/>
              <a:ext cx="700315" cy="700315"/>
            </a:xfrm>
            <a:prstGeom prst="rect">
              <a:avLst/>
            </a:prstGeom>
          </p:spPr>
        </p:pic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8F81F0DC-8FC5-A17C-3CE3-287746997E19}"/>
                </a:ext>
              </a:extLst>
            </p:cNvPr>
            <p:cNvSpPr txBox="1"/>
            <p:nvPr/>
          </p:nvSpPr>
          <p:spPr>
            <a:xfrm>
              <a:off x="151447" y="4180114"/>
              <a:ext cx="1867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/>
                <a:t>Reproducibility</a:t>
              </a:r>
            </a:p>
          </p:txBody>
        </p:sp>
        <p:pic>
          <p:nvPicPr>
            <p:cNvPr id="29" name="Graphique 28" descr="Dossier ouvert avec un remplissage uni">
              <a:extLst>
                <a:ext uri="{FF2B5EF4-FFF2-40B4-BE49-F238E27FC236}">
                  <a16:creationId xmlns:a16="http://schemas.microsoft.com/office/drawing/2014/main" id="{7C9CB9F4-C62E-B82F-3961-7853CBDD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269785"/>
              <a:ext cx="525086" cy="525086"/>
            </a:xfrm>
            <a:prstGeom prst="rect">
              <a:avLst/>
            </a:prstGeom>
          </p:spPr>
        </p:pic>
        <p:pic>
          <p:nvPicPr>
            <p:cNvPr id="32" name="Graphique 31" descr="Dossier ouvert avec un remplissage uni">
              <a:extLst>
                <a:ext uri="{FF2B5EF4-FFF2-40B4-BE49-F238E27FC236}">
                  <a16:creationId xmlns:a16="http://schemas.microsoft.com/office/drawing/2014/main" id="{84537024-13D2-207A-CFA6-840793A95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839694"/>
              <a:ext cx="525086" cy="525086"/>
            </a:xfrm>
            <a:prstGeom prst="rect">
              <a:avLst/>
            </a:prstGeom>
          </p:spPr>
        </p:pic>
        <p:pic>
          <p:nvPicPr>
            <p:cNvPr id="33" name="Graphique 32" descr="Dossier ouvert avec un remplissage uni">
              <a:extLst>
                <a:ext uri="{FF2B5EF4-FFF2-40B4-BE49-F238E27FC236}">
                  <a16:creationId xmlns:a16="http://schemas.microsoft.com/office/drawing/2014/main" id="{7E6FF61D-BBB8-5E32-5B78-A82195239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4452394"/>
              <a:ext cx="525086" cy="525086"/>
            </a:xfrm>
            <a:prstGeom prst="rect">
              <a:avLst/>
            </a:prstGeom>
          </p:spPr>
        </p:pic>
        <p:pic>
          <p:nvPicPr>
            <p:cNvPr id="34" name="Graphique 33" descr="Papier avec un remplissage uni">
              <a:extLst>
                <a:ext uri="{FF2B5EF4-FFF2-40B4-BE49-F238E27FC236}">
                  <a16:creationId xmlns:a16="http://schemas.microsoft.com/office/drawing/2014/main" id="{0D6F1A23-C83C-35E1-A84D-0BFF4445B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65513" y="5065094"/>
              <a:ext cx="577693" cy="577693"/>
            </a:xfrm>
            <a:prstGeom prst="rect">
              <a:avLst/>
            </a:prstGeom>
          </p:spPr>
        </p:pic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AB358A21-A8C2-56A9-7E1C-A72286EC17EA}"/>
                </a:ext>
              </a:extLst>
            </p:cNvPr>
            <p:cNvCxnSpPr>
              <a:stCxn id="22" idx="3"/>
              <a:endCxn id="29" idx="1"/>
            </p:cNvCxnSpPr>
            <p:nvPr/>
          </p:nvCxnSpPr>
          <p:spPr>
            <a:xfrm flipV="1">
              <a:off x="2719252" y="3532328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7D0208B0-302B-37DD-485F-A1B9A5FD9BEC}"/>
                </a:ext>
              </a:extLst>
            </p:cNvPr>
            <p:cNvCxnSpPr>
              <a:cxnSpLocks/>
            </p:cNvCxnSpPr>
            <p:nvPr/>
          </p:nvCxnSpPr>
          <p:spPr>
            <a:xfrm>
              <a:off x="2719252" y="4383583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E26DAC21-45FA-23D4-A50C-87B11FA7D434}"/>
                </a:ext>
              </a:extLst>
            </p:cNvPr>
            <p:cNvSpPr txBox="1"/>
            <p:nvPr/>
          </p:nvSpPr>
          <p:spPr>
            <a:xfrm>
              <a:off x="4043206" y="3371186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Data</a:t>
              </a:r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9869449E-69E3-2943-7E65-BA1ED5AF074E}"/>
                </a:ext>
              </a:extLst>
            </p:cNvPr>
            <p:cNvSpPr txBox="1"/>
            <p:nvPr/>
          </p:nvSpPr>
          <p:spPr>
            <a:xfrm>
              <a:off x="4043206" y="3916008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8EB59065-9AA9-6CD7-7545-22282A65DB01}"/>
                </a:ext>
              </a:extLst>
            </p:cNvPr>
            <p:cNvSpPr txBox="1"/>
            <p:nvPr/>
          </p:nvSpPr>
          <p:spPr>
            <a:xfrm>
              <a:off x="4043205" y="4549446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Results</a:t>
              </a: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775C60EC-CB63-A1C8-B991-86759EA9CA92}"/>
                </a:ext>
              </a:extLst>
            </p:cNvPr>
            <p:cNvSpPr txBox="1"/>
            <p:nvPr/>
          </p:nvSpPr>
          <p:spPr>
            <a:xfrm>
              <a:off x="4043204" y="5182884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.</a:t>
              </a:r>
              <a:r>
                <a:rPr lang="en-GB" dirty="0" err="1"/>
                <a:t>Rproj</a:t>
              </a:r>
              <a:endParaRPr lang="en-GB" dirty="0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1ACB7A23-A608-B565-EE0B-52220D145179}"/>
              </a:ext>
            </a:extLst>
          </p:cNvPr>
          <p:cNvSpPr/>
          <p:nvPr/>
        </p:nvSpPr>
        <p:spPr>
          <a:xfrm>
            <a:off x="8340861" y="1615448"/>
            <a:ext cx="1306989" cy="5250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1B59823-03D3-5D7F-0D9E-163827D21621}"/>
              </a:ext>
            </a:extLst>
          </p:cNvPr>
          <p:cNvSpPr/>
          <p:nvPr/>
        </p:nvSpPr>
        <p:spPr>
          <a:xfrm>
            <a:off x="4983252" y="4151475"/>
            <a:ext cx="5263833" cy="2200134"/>
          </a:xfrm>
          <a:prstGeom prst="rect">
            <a:avLst/>
          </a:prstGeom>
          <a:solidFill>
            <a:srgbClr val="EF9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9" name="Graphique 58" descr="Dossier ouvert avec un remplissage uni">
            <a:extLst>
              <a:ext uri="{FF2B5EF4-FFF2-40B4-BE49-F238E27FC236}">
                <a16:creationId xmlns:a16="http://schemas.microsoft.com/office/drawing/2014/main" id="{F1E7EA82-0DE1-21B1-3A6B-79BB2B651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9926" y="4236219"/>
            <a:ext cx="525086" cy="525086"/>
          </a:xfrm>
          <a:prstGeom prst="rect">
            <a:avLst/>
          </a:prstGeom>
        </p:spPr>
      </p:pic>
      <p:pic>
        <p:nvPicPr>
          <p:cNvPr id="60" name="Graphique 59" descr="Papier avec un remplissage uni">
            <a:extLst>
              <a:ext uri="{FF2B5EF4-FFF2-40B4-BE49-F238E27FC236}">
                <a16:creationId xmlns:a16="http://schemas.microsoft.com/office/drawing/2014/main" id="{11CF382F-BBA5-064F-57A0-EAB0513ACC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7319" y="5594521"/>
            <a:ext cx="577693" cy="577693"/>
          </a:xfrm>
          <a:prstGeom prst="rect">
            <a:avLst/>
          </a:prstGeom>
        </p:spPr>
      </p:pic>
      <p:sp>
        <p:nvSpPr>
          <p:cNvPr id="65" name="ZoneTexte 64">
            <a:extLst>
              <a:ext uri="{FF2B5EF4-FFF2-40B4-BE49-F238E27FC236}">
                <a16:creationId xmlns:a16="http://schemas.microsoft.com/office/drawing/2014/main" id="{52A1F278-ADCA-D429-DDFD-1C068C9B95A9}"/>
              </a:ext>
            </a:extLst>
          </p:cNvPr>
          <p:cNvSpPr txBox="1"/>
          <p:nvPr/>
        </p:nvSpPr>
        <p:spPr>
          <a:xfrm>
            <a:off x="8875010" y="4299466"/>
            <a:ext cx="106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Docs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AC9C55D9-64E8-E3A1-5251-D49A41A7DC41}"/>
              </a:ext>
            </a:extLst>
          </p:cNvPr>
          <p:cNvSpPr txBox="1"/>
          <p:nvPr/>
        </p:nvSpPr>
        <p:spPr>
          <a:xfrm>
            <a:off x="8875010" y="5742512"/>
            <a:ext cx="1372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README.txt</a:t>
            </a:r>
            <a:endParaRPr lang="en-GB" dirty="0"/>
          </a:p>
        </p:txBody>
      </p:sp>
      <p:pic>
        <p:nvPicPr>
          <p:cNvPr id="67" name="Graphique 66" descr="Dossier ouvert avec un remplissage uni">
            <a:extLst>
              <a:ext uri="{FF2B5EF4-FFF2-40B4-BE49-F238E27FC236}">
                <a16:creationId xmlns:a16="http://schemas.microsoft.com/office/drawing/2014/main" id="{A59ADF65-78BA-185F-5C17-3E65A2FFD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6" y="4673429"/>
            <a:ext cx="525086" cy="525086"/>
          </a:xfrm>
          <a:prstGeom prst="rect">
            <a:avLst/>
          </a:prstGeom>
        </p:spPr>
      </p:pic>
      <p:sp>
        <p:nvSpPr>
          <p:cNvPr id="68" name="ZoneTexte 67">
            <a:extLst>
              <a:ext uri="{FF2B5EF4-FFF2-40B4-BE49-F238E27FC236}">
                <a16:creationId xmlns:a16="http://schemas.microsoft.com/office/drawing/2014/main" id="{1A43F997-74CD-ACF3-D6D5-0089576F7071}"/>
              </a:ext>
            </a:extLst>
          </p:cNvPr>
          <p:cNvSpPr txBox="1"/>
          <p:nvPr/>
        </p:nvSpPr>
        <p:spPr>
          <a:xfrm>
            <a:off x="8877510" y="4736676"/>
            <a:ext cx="136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ConfigFiles</a:t>
            </a:r>
            <a:endParaRPr lang="en-GB" dirty="0"/>
          </a:p>
        </p:txBody>
      </p:sp>
      <p:pic>
        <p:nvPicPr>
          <p:cNvPr id="69" name="Graphique 68" descr="Dossier ouvert avec un remplissage uni">
            <a:extLst>
              <a:ext uri="{FF2B5EF4-FFF2-40B4-BE49-F238E27FC236}">
                <a16:creationId xmlns:a16="http://schemas.microsoft.com/office/drawing/2014/main" id="{025A2B28-9877-BD24-C6D2-4C61D8276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6" y="5100111"/>
            <a:ext cx="525086" cy="525086"/>
          </a:xfrm>
          <a:prstGeom prst="rect">
            <a:avLst/>
          </a:prstGeom>
        </p:spPr>
      </p:pic>
      <p:sp>
        <p:nvSpPr>
          <p:cNvPr id="70" name="ZoneTexte 69">
            <a:extLst>
              <a:ext uri="{FF2B5EF4-FFF2-40B4-BE49-F238E27FC236}">
                <a16:creationId xmlns:a16="http://schemas.microsoft.com/office/drawing/2014/main" id="{E90FC919-26C8-491D-DE22-F9208CA8B8CD}"/>
              </a:ext>
            </a:extLst>
          </p:cNvPr>
          <p:cNvSpPr txBox="1"/>
          <p:nvPr/>
        </p:nvSpPr>
        <p:spPr>
          <a:xfrm>
            <a:off x="8877510" y="5163358"/>
            <a:ext cx="136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Report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A936FD3-BF1A-AB6C-54A6-E9AC5B1ACFB3}"/>
              </a:ext>
            </a:extLst>
          </p:cNvPr>
          <p:cNvSpPr txBox="1"/>
          <p:nvPr/>
        </p:nvSpPr>
        <p:spPr>
          <a:xfrm>
            <a:off x="4881178" y="694661"/>
            <a:ext cx="5609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-apple-system"/>
              </a:rPr>
              <a:t>« A</a:t>
            </a:r>
            <a:r>
              <a:rPr lang="en-GB" b="0" i="0" dirty="0">
                <a:effectLst/>
                <a:latin typeface="-apple-system"/>
              </a:rPr>
              <a:t> convention for how you organise your research artefacts into directories. </a:t>
            </a:r>
            <a:r>
              <a:rPr lang="en-GB" dirty="0">
                <a:latin typeface="-apple-system"/>
              </a:rPr>
              <a:t>» </a:t>
            </a:r>
            <a:r>
              <a:rPr lang="en-GB" sz="1400" dirty="0">
                <a:latin typeface="-apple-system"/>
              </a:rPr>
              <a:t>(https://</a:t>
            </a:r>
            <a:r>
              <a:rPr lang="en-GB" sz="1400" dirty="0" err="1">
                <a:latin typeface="-apple-system"/>
              </a:rPr>
              <a:t>github.com</a:t>
            </a:r>
            <a:r>
              <a:rPr lang="en-GB" sz="1400" dirty="0">
                <a:latin typeface="-apple-system"/>
              </a:rPr>
              <a:t>/</a:t>
            </a:r>
            <a:r>
              <a:rPr lang="en-GB" sz="1400" dirty="0" err="1">
                <a:latin typeface="-apple-system"/>
              </a:rPr>
              <a:t>ropensci</a:t>
            </a:r>
            <a:r>
              <a:rPr lang="en-GB" sz="1400" dirty="0">
                <a:latin typeface="-apple-system"/>
              </a:rPr>
              <a:t>/</a:t>
            </a:r>
            <a:r>
              <a:rPr lang="en-GB" sz="1400" dirty="0" err="1">
                <a:latin typeface="-apple-system"/>
              </a:rPr>
              <a:t>rrrpkg</a:t>
            </a:r>
            <a:r>
              <a:rPr lang="en-GB" sz="1400" dirty="0">
                <a:latin typeface="-apple-system"/>
              </a:rPr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6198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3FFDE-810F-C9A3-452C-693DAAD88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CDCB5637-4C70-5E67-FD11-033E6277BB3C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76C6512C-D3E4-C1D9-FB1F-A17AE337A942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CE010A6B-E586-A2B7-EA76-B1118D88B49F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87141277-584C-9C65-881B-7FD3B4A8004C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6D23843C-4BEF-CDA6-A938-E5C544510CBE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43E9611-CC3A-CE8F-78EB-46198D0B719D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CB4F5B0-9CD2-48E7-FEA4-BFA616555FCB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2AB35E-7251-4F77-83CC-DCA77E092CF4}"/>
              </a:ext>
            </a:extLst>
          </p:cNvPr>
          <p:cNvSpPr txBox="1"/>
          <p:nvPr/>
        </p:nvSpPr>
        <p:spPr>
          <a:xfrm>
            <a:off x="5598254" y="307072"/>
            <a:ext cx="3911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Research</a:t>
            </a:r>
            <a:r>
              <a:rPr lang="en-GB" sz="20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Compendium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B78576-4C4A-44E4-ADB9-61F9912123F8}"/>
              </a:ext>
            </a:extLst>
          </p:cNvPr>
          <p:cNvSpPr/>
          <p:nvPr/>
        </p:nvSpPr>
        <p:spPr>
          <a:xfrm>
            <a:off x="4983253" y="1429657"/>
            <a:ext cx="5263832" cy="26851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EFD42A28-97A4-7188-ABC2-4120A259FD28}"/>
              </a:ext>
            </a:extLst>
          </p:cNvPr>
          <p:cNvGrpSpPr/>
          <p:nvPr/>
        </p:nvGrpSpPr>
        <p:grpSpPr>
          <a:xfrm>
            <a:off x="4983253" y="1615448"/>
            <a:ext cx="4957581" cy="2373002"/>
            <a:chOff x="151447" y="3269785"/>
            <a:chExt cx="4957581" cy="2373002"/>
          </a:xfrm>
        </p:grpSpPr>
        <p:pic>
          <p:nvPicPr>
            <p:cNvPr id="22" name="Graphique 21" descr="Dossier ouvert avec un remplissage uni">
              <a:extLst>
                <a:ext uri="{FF2B5EF4-FFF2-40B4-BE49-F238E27FC236}">
                  <a16:creationId xmlns:a16="http://schemas.microsoft.com/office/drawing/2014/main" id="{1304E61D-2916-1836-9370-1B320DF8C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18937" y="4023969"/>
              <a:ext cx="700315" cy="700315"/>
            </a:xfrm>
            <a:prstGeom prst="rect">
              <a:avLst/>
            </a:prstGeom>
          </p:spPr>
        </p:pic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6C0E5690-9CF9-CC94-CE9B-9E21D7DE03DF}"/>
                </a:ext>
              </a:extLst>
            </p:cNvPr>
            <p:cNvSpPr txBox="1"/>
            <p:nvPr/>
          </p:nvSpPr>
          <p:spPr>
            <a:xfrm>
              <a:off x="151447" y="4180114"/>
              <a:ext cx="1867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/>
                <a:t>Reproducibility</a:t>
              </a:r>
            </a:p>
          </p:txBody>
        </p:sp>
        <p:pic>
          <p:nvPicPr>
            <p:cNvPr id="29" name="Graphique 28" descr="Dossier ouvert avec un remplissage uni">
              <a:extLst>
                <a:ext uri="{FF2B5EF4-FFF2-40B4-BE49-F238E27FC236}">
                  <a16:creationId xmlns:a16="http://schemas.microsoft.com/office/drawing/2014/main" id="{88D3D69B-8946-3905-CE50-7AA071625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269785"/>
              <a:ext cx="525086" cy="525086"/>
            </a:xfrm>
            <a:prstGeom prst="rect">
              <a:avLst/>
            </a:prstGeom>
          </p:spPr>
        </p:pic>
        <p:pic>
          <p:nvPicPr>
            <p:cNvPr id="32" name="Graphique 31" descr="Dossier ouvert avec un remplissage uni">
              <a:extLst>
                <a:ext uri="{FF2B5EF4-FFF2-40B4-BE49-F238E27FC236}">
                  <a16:creationId xmlns:a16="http://schemas.microsoft.com/office/drawing/2014/main" id="{12C84BED-866B-E898-C971-5032303D0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839694"/>
              <a:ext cx="525086" cy="525086"/>
            </a:xfrm>
            <a:prstGeom prst="rect">
              <a:avLst/>
            </a:prstGeom>
          </p:spPr>
        </p:pic>
        <p:pic>
          <p:nvPicPr>
            <p:cNvPr id="33" name="Graphique 32" descr="Dossier ouvert avec un remplissage uni">
              <a:extLst>
                <a:ext uri="{FF2B5EF4-FFF2-40B4-BE49-F238E27FC236}">
                  <a16:creationId xmlns:a16="http://schemas.microsoft.com/office/drawing/2014/main" id="{6866A40C-E0C8-7792-8D97-8F51570A7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4452394"/>
              <a:ext cx="525086" cy="525086"/>
            </a:xfrm>
            <a:prstGeom prst="rect">
              <a:avLst/>
            </a:prstGeom>
          </p:spPr>
        </p:pic>
        <p:pic>
          <p:nvPicPr>
            <p:cNvPr id="34" name="Graphique 33" descr="Papier avec un remplissage uni">
              <a:extLst>
                <a:ext uri="{FF2B5EF4-FFF2-40B4-BE49-F238E27FC236}">
                  <a16:creationId xmlns:a16="http://schemas.microsoft.com/office/drawing/2014/main" id="{7A3B829F-A95A-886F-3571-265338EEB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65513" y="5065094"/>
              <a:ext cx="577693" cy="577693"/>
            </a:xfrm>
            <a:prstGeom prst="rect">
              <a:avLst/>
            </a:prstGeom>
          </p:spPr>
        </p:pic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1F3E1CAF-8A4C-6F6A-F002-F350F1A79A69}"/>
                </a:ext>
              </a:extLst>
            </p:cNvPr>
            <p:cNvCxnSpPr>
              <a:stCxn id="22" idx="3"/>
              <a:endCxn id="29" idx="1"/>
            </p:cNvCxnSpPr>
            <p:nvPr/>
          </p:nvCxnSpPr>
          <p:spPr>
            <a:xfrm flipV="1">
              <a:off x="2719252" y="3532328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5BDC0B75-5DDC-6C43-D0BF-6DDF0FBE2282}"/>
                </a:ext>
              </a:extLst>
            </p:cNvPr>
            <p:cNvCxnSpPr>
              <a:cxnSpLocks/>
            </p:cNvCxnSpPr>
            <p:nvPr/>
          </p:nvCxnSpPr>
          <p:spPr>
            <a:xfrm>
              <a:off x="2719252" y="4383583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FBF11725-91BC-D505-C734-14C4F2452F6D}"/>
                </a:ext>
              </a:extLst>
            </p:cNvPr>
            <p:cNvSpPr txBox="1"/>
            <p:nvPr/>
          </p:nvSpPr>
          <p:spPr>
            <a:xfrm>
              <a:off x="4043206" y="3371186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Data</a:t>
              </a:r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3565EF5E-62F1-2000-8D1E-D5B98306357A}"/>
                </a:ext>
              </a:extLst>
            </p:cNvPr>
            <p:cNvSpPr txBox="1"/>
            <p:nvPr/>
          </p:nvSpPr>
          <p:spPr>
            <a:xfrm>
              <a:off x="4043206" y="3916008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DC9A92EF-CBF3-18E0-BD76-5B5498BD4DB2}"/>
                </a:ext>
              </a:extLst>
            </p:cNvPr>
            <p:cNvSpPr txBox="1"/>
            <p:nvPr/>
          </p:nvSpPr>
          <p:spPr>
            <a:xfrm>
              <a:off x="4043205" y="4549446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Results</a:t>
              </a: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266CFEC4-B511-7288-0301-427D3C25CFBF}"/>
                </a:ext>
              </a:extLst>
            </p:cNvPr>
            <p:cNvSpPr txBox="1"/>
            <p:nvPr/>
          </p:nvSpPr>
          <p:spPr>
            <a:xfrm>
              <a:off x="4043204" y="5182884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.</a:t>
              </a:r>
              <a:r>
                <a:rPr lang="en-GB" dirty="0" err="1"/>
                <a:t>Rproj</a:t>
              </a:r>
              <a:endParaRPr lang="en-GB" dirty="0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9B95DB2F-06DC-EBB8-8DA5-489957EA2A3F}"/>
              </a:ext>
            </a:extLst>
          </p:cNvPr>
          <p:cNvSpPr/>
          <p:nvPr/>
        </p:nvSpPr>
        <p:spPr>
          <a:xfrm>
            <a:off x="8340861" y="1615448"/>
            <a:ext cx="1306989" cy="5250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1F087C3-0A8A-9831-7747-5A8ABFD7D123}"/>
              </a:ext>
            </a:extLst>
          </p:cNvPr>
          <p:cNvSpPr/>
          <p:nvPr/>
        </p:nvSpPr>
        <p:spPr>
          <a:xfrm>
            <a:off x="4983252" y="4151475"/>
            <a:ext cx="5263833" cy="2200134"/>
          </a:xfrm>
          <a:prstGeom prst="rect">
            <a:avLst/>
          </a:prstGeom>
          <a:solidFill>
            <a:srgbClr val="EF9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9" name="Graphique 58" descr="Dossier ouvert avec un remplissage uni">
            <a:extLst>
              <a:ext uri="{FF2B5EF4-FFF2-40B4-BE49-F238E27FC236}">
                <a16:creationId xmlns:a16="http://schemas.microsoft.com/office/drawing/2014/main" id="{0F20E0C2-4B0C-A473-44D0-5EAF9ED74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9926" y="4236219"/>
            <a:ext cx="525086" cy="525086"/>
          </a:xfrm>
          <a:prstGeom prst="rect">
            <a:avLst/>
          </a:prstGeom>
        </p:spPr>
      </p:pic>
      <p:pic>
        <p:nvPicPr>
          <p:cNvPr id="60" name="Graphique 59" descr="Papier avec un remplissage uni">
            <a:extLst>
              <a:ext uri="{FF2B5EF4-FFF2-40B4-BE49-F238E27FC236}">
                <a16:creationId xmlns:a16="http://schemas.microsoft.com/office/drawing/2014/main" id="{C997773E-BB4C-E6CF-6567-202561DCAE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7319" y="5594521"/>
            <a:ext cx="577693" cy="577693"/>
          </a:xfrm>
          <a:prstGeom prst="rect">
            <a:avLst/>
          </a:prstGeom>
        </p:spPr>
      </p:pic>
      <p:sp>
        <p:nvSpPr>
          <p:cNvPr id="65" name="ZoneTexte 64">
            <a:extLst>
              <a:ext uri="{FF2B5EF4-FFF2-40B4-BE49-F238E27FC236}">
                <a16:creationId xmlns:a16="http://schemas.microsoft.com/office/drawing/2014/main" id="{ECAB4643-D8A1-EDBC-15E2-7B4FC72BF5FD}"/>
              </a:ext>
            </a:extLst>
          </p:cNvPr>
          <p:cNvSpPr txBox="1"/>
          <p:nvPr/>
        </p:nvSpPr>
        <p:spPr>
          <a:xfrm>
            <a:off x="8875010" y="4299466"/>
            <a:ext cx="106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Docs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22A7BDDA-DEF0-8A0D-5B20-19647E6E2D4D}"/>
              </a:ext>
            </a:extLst>
          </p:cNvPr>
          <p:cNvSpPr txBox="1"/>
          <p:nvPr/>
        </p:nvSpPr>
        <p:spPr>
          <a:xfrm>
            <a:off x="8875010" y="5742512"/>
            <a:ext cx="1372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README.txt</a:t>
            </a:r>
            <a:endParaRPr lang="en-GB" dirty="0"/>
          </a:p>
        </p:txBody>
      </p:sp>
      <p:pic>
        <p:nvPicPr>
          <p:cNvPr id="67" name="Graphique 66" descr="Dossier ouvert avec un remplissage uni">
            <a:extLst>
              <a:ext uri="{FF2B5EF4-FFF2-40B4-BE49-F238E27FC236}">
                <a16:creationId xmlns:a16="http://schemas.microsoft.com/office/drawing/2014/main" id="{75A701DC-E71A-08C7-51C9-62794BA0A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6" y="4673429"/>
            <a:ext cx="525086" cy="525086"/>
          </a:xfrm>
          <a:prstGeom prst="rect">
            <a:avLst/>
          </a:prstGeom>
        </p:spPr>
      </p:pic>
      <p:sp>
        <p:nvSpPr>
          <p:cNvPr id="68" name="ZoneTexte 67">
            <a:extLst>
              <a:ext uri="{FF2B5EF4-FFF2-40B4-BE49-F238E27FC236}">
                <a16:creationId xmlns:a16="http://schemas.microsoft.com/office/drawing/2014/main" id="{EC6B0908-FE8B-DBE8-E0A7-D366C0CD9783}"/>
              </a:ext>
            </a:extLst>
          </p:cNvPr>
          <p:cNvSpPr txBox="1"/>
          <p:nvPr/>
        </p:nvSpPr>
        <p:spPr>
          <a:xfrm>
            <a:off x="8877510" y="4736676"/>
            <a:ext cx="136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ConfigFiles</a:t>
            </a:r>
            <a:endParaRPr lang="en-GB" dirty="0"/>
          </a:p>
        </p:txBody>
      </p:sp>
      <p:pic>
        <p:nvPicPr>
          <p:cNvPr id="69" name="Graphique 68" descr="Dossier ouvert avec un remplissage uni">
            <a:extLst>
              <a:ext uri="{FF2B5EF4-FFF2-40B4-BE49-F238E27FC236}">
                <a16:creationId xmlns:a16="http://schemas.microsoft.com/office/drawing/2014/main" id="{2BB4CCCE-1AC2-BBD7-F5AC-E04B879BD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6" y="5100111"/>
            <a:ext cx="525086" cy="525086"/>
          </a:xfrm>
          <a:prstGeom prst="rect">
            <a:avLst/>
          </a:prstGeom>
        </p:spPr>
      </p:pic>
      <p:sp>
        <p:nvSpPr>
          <p:cNvPr id="70" name="ZoneTexte 69">
            <a:extLst>
              <a:ext uri="{FF2B5EF4-FFF2-40B4-BE49-F238E27FC236}">
                <a16:creationId xmlns:a16="http://schemas.microsoft.com/office/drawing/2014/main" id="{DB4342C5-BC2E-E089-A6C4-6790E8AB7E82}"/>
              </a:ext>
            </a:extLst>
          </p:cNvPr>
          <p:cNvSpPr txBox="1"/>
          <p:nvPr/>
        </p:nvSpPr>
        <p:spPr>
          <a:xfrm>
            <a:off x="8877510" y="5163358"/>
            <a:ext cx="136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Report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FC6DF328-435F-A243-3D1A-9DBF7FC35F7A}"/>
              </a:ext>
            </a:extLst>
          </p:cNvPr>
          <p:cNvSpPr txBox="1"/>
          <p:nvPr/>
        </p:nvSpPr>
        <p:spPr>
          <a:xfrm>
            <a:off x="4881178" y="694661"/>
            <a:ext cx="5609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-apple-system"/>
              </a:rPr>
              <a:t>« A</a:t>
            </a:r>
            <a:r>
              <a:rPr lang="en-GB" b="0" i="0" dirty="0">
                <a:effectLst/>
                <a:latin typeface="-apple-system"/>
              </a:rPr>
              <a:t> convention for how you organise your research artefacts into directories. </a:t>
            </a:r>
            <a:r>
              <a:rPr lang="en-GB" dirty="0">
                <a:latin typeface="-apple-system"/>
              </a:rPr>
              <a:t>» </a:t>
            </a:r>
            <a:r>
              <a:rPr lang="en-GB" sz="1400" dirty="0">
                <a:latin typeface="-apple-system"/>
              </a:rPr>
              <a:t>(https://</a:t>
            </a:r>
            <a:r>
              <a:rPr lang="en-GB" sz="1400" dirty="0" err="1">
                <a:latin typeface="-apple-system"/>
              </a:rPr>
              <a:t>github.com</a:t>
            </a:r>
            <a:r>
              <a:rPr lang="en-GB" sz="1400" dirty="0">
                <a:latin typeface="-apple-system"/>
              </a:rPr>
              <a:t>/</a:t>
            </a:r>
            <a:r>
              <a:rPr lang="en-GB" sz="1400" dirty="0" err="1">
                <a:latin typeface="-apple-system"/>
              </a:rPr>
              <a:t>ropensci</a:t>
            </a:r>
            <a:r>
              <a:rPr lang="en-GB" sz="1400" dirty="0">
                <a:latin typeface="-apple-system"/>
              </a:rPr>
              <a:t>/</a:t>
            </a:r>
            <a:r>
              <a:rPr lang="en-GB" sz="1400" dirty="0" err="1">
                <a:latin typeface="-apple-system"/>
              </a:rPr>
              <a:t>rrrpkg</a:t>
            </a:r>
            <a:r>
              <a:rPr lang="en-GB" sz="1400" dirty="0">
                <a:latin typeface="-apple-system"/>
              </a:rPr>
              <a:t>)</a:t>
            </a:r>
            <a:endParaRPr lang="en-GB" dirty="0"/>
          </a:p>
        </p:txBody>
      </p:sp>
      <p:pic>
        <p:nvPicPr>
          <p:cNvPr id="19" name="Image 18" descr="Une image contenant texte, capture d’écran, logiciel, Système d’exploitation&#10;&#10;Le contenu généré par l’IA peut être incorrect.">
            <a:extLst>
              <a:ext uri="{FF2B5EF4-FFF2-40B4-BE49-F238E27FC236}">
                <a16:creationId xmlns:a16="http://schemas.microsoft.com/office/drawing/2014/main" id="{5C9CBEEA-9002-DA9D-3931-ABAFBB9662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680" y="3123535"/>
            <a:ext cx="4282138" cy="3055798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9636A5CD-1860-A99F-C550-CEC99A759953}"/>
              </a:ext>
            </a:extLst>
          </p:cNvPr>
          <p:cNvSpPr txBox="1"/>
          <p:nvPr/>
        </p:nvSpPr>
        <p:spPr>
          <a:xfrm>
            <a:off x="1765452" y="5708735"/>
            <a:ext cx="1354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setwd</a:t>
            </a:r>
            <a:r>
              <a:rPr lang="fr-FR" sz="2400" b="1" dirty="0"/>
              <a:t>()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7D3A3831-60C7-FAF6-7F25-B52BE260F65F}"/>
              </a:ext>
            </a:extLst>
          </p:cNvPr>
          <p:cNvCxnSpPr/>
          <p:nvPr/>
        </p:nvCxnSpPr>
        <p:spPr>
          <a:xfrm>
            <a:off x="1921790" y="5708735"/>
            <a:ext cx="867905" cy="4705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DEBAE6D1-DA0E-CEB0-3ACE-B730AB14A3C8}"/>
              </a:ext>
            </a:extLst>
          </p:cNvPr>
          <p:cNvCxnSpPr>
            <a:cxnSpLocks/>
          </p:cNvCxnSpPr>
          <p:nvPr/>
        </p:nvCxnSpPr>
        <p:spPr>
          <a:xfrm flipV="1">
            <a:off x="1944914" y="5728103"/>
            <a:ext cx="867905" cy="4705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751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42B0D-192B-FEA3-4DD5-299C057E5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2F83C0A9-DE27-DBA1-7E89-1B7FFC44BE07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B2C68839-3549-A00B-2A9A-04BAA85D86A6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B39BB07C-6A29-7087-BDE0-CC33CA1199B0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01B15E26-30A5-589D-F7E2-A746C1C6C601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533C5B62-A7AF-E382-669F-86F186349DE5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52D9673-17C4-8D9A-03BC-FA06C141E2C1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2735D068-7D57-7994-CDD4-A67F32303CE9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3AE334F-A60E-5F4F-A8A8-C28F0588B989}"/>
              </a:ext>
            </a:extLst>
          </p:cNvPr>
          <p:cNvSpPr txBox="1"/>
          <p:nvPr/>
        </p:nvSpPr>
        <p:spPr>
          <a:xfrm>
            <a:off x="5598254" y="307072"/>
            <a:ext cx="3911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Research</a:t>
            </a:r>
            <a:r>
              <a:rPr lang="en-GB" sz="20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Compendium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0A7DCA-1CE8-2E37-E459-44DCE882B1B6}"/>
              </a:ext>
            </a:extLst>
          </p:cNvPr>
          <p:cNvSpPr/>
          <p:nvPr/>
        </p:nvSpPr>
        <p:spPr>
          <a:xfrm>
            <a:off x="4983253" y="1429657"/>
            <a:ext cx="5263832" cy="26851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0BDF815D-737B-6817-1A99-05DD17426417}"/>
              </a:ext>
            </a:extLst>
          </p:cNvPr>
          <p:cNvGrpSpPr/>
          <p:nvPr/>
        </p:nvGrpSpPr>
        <p:grpSpPr>
          <a:xfrm>
            <a:off x="4983253" y="1615448"/>
            <a:ext cx="4957581" cy="2373002"/>
            <a:chOff x="151447" y="3269785"/>
            <a:chExt cx="4957581" cy="2373002"/>
          </a:xfrm>
        </p:grpSpPr>
        <p:pic>
          <p:nvPicPr>
            <p:cNvPr id="22" name="Graphique 21" descr="Dossier ouvert avec un remplissage uni">
              <a:extLst>
                <a:ext uri="{FF2B5EF4-FFF2-40B4-BE49-F238E27FC236}">
                  <a16:creationId xmlns:a16="http://schemas.microsoft.com/office/drawing/2014/main" id="{6B10C88E-EA2A-9100-F2C4-AC7C5F0FD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18937" y="4023969"/>
              <a:ext cx="700315" cy="700315"/>
            </a:xfrm>
            <a:prstGeom prst="rect">
              <a:avLst/>
            </a:prstGeom>
          </p:spPr>
        </p:pic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486A92F9-FC4F-B545-D2CF-07FCA7CFF955}"/>
                </a:ext>
              </a:extLst>
            </p:cNvPr>
            <p:cNvSpPr txBox="1"/>
            <p:nvPr/>
          </p:nvSpPr>
          <p:spPr>
            <a:xfrm>
              <a:off x="151447" y="4180114"/>
              <a:ext cx="1867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/>
                <a:t>Reproducibility</a:t>
              </a:r>
            </a:p>
          </p:txBody>
        </p:sp>
        <p:pic>
          <p:nvPicPr>
            <p:cNvPr id="29" name="Graphique 28" descr="Dossier ouvert avec un remplissage uni">
              <a:extLst>
                <a:ext uri="{FF2B5EF4-FFF2-40B4-BE49-F238E27FC236}">
                  <a16:creationId xmlns:a16="http://schemas.microsoft.com/office/drawing/2014/main" id="{2A8FD64A-8291-C3FE-5890-7BD0A53B6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269785"/>
              <a:ext cx="525086" cy="525086"/>
            </a:xfrm>
            <a:prstGeom prst="rect">
              <a:avLst/>
            </a:prstGeom>
          </p:spPr>
        </p:pic>
        <p:pic>
          <p:nvPicPr>
            <p:cNvPr id="32" name="Graphique 31" descr="Dossier ouvert avec un remplissage uni">
              <a:extLst>
                <a:ext uri="{FF2B5EF4-FFF2-40B4-BE49-F238E27FC236}">
                  <a16:creationId xmlns:a16="http://schemas.microsoft.com/office/drawing/2014/main" id="{3E8FBE20-9BDA-55C7-214A-3C23733F6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3839694"/>
              <a:ext cx="525086" cy="525086"/>
            </a:xfrm>
            <a:prstGeom prst="rect">
              <a:avLst/>
            </a:prstGeom>
          </p:spPr>
        </p:pic>
        <p:pic>
          <p:nvPicPr>
            <p:cNvPr id="33" name="Graphique 32" descr="Dossier ouvert avec un remplissage uni">
              <a:extLst>
                <a:ext uri="{FF2B5EF4-FFF2-40B4-BE49-F238E27FC236}">
                  <a16:creationId xmlns:a16="http://schemas.microsoft.com/office/drawing/2014/main" id="{0B3A4159-0DEE-CB4E-8CCE-A36714753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18120" y="4452394"/>
              <a:ext cx="525086" cy="525086"/>
            </a:xfrm>
            <a:prstGeom prst="rect">
              <a:avLst/>
            </a:prstGeom>
          </p:spPr>
        </p:pic>
        <p:pic>
          <p:nvPicPr>
            <p:cNvPr id="34" name="Graphique 33" descr="Papier avec un remplissage uni">
              <a:extLst>
                <a:ext uri="{FF2B5EF4-FFF2-40B4-BE49-F238E27FC236}">
                  <a16:creationId xmlns:a16="http://schemas.microsoft.com/office/drawing/2014/main" id="{CE8AA24C-F184-117F-79DF-D1E820B80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65513" y="5065094"/>
              <a:ext cx="577693" cy="577693"/>
            </a:xfrm>
            <a:prstGeom prst="rect">
              <a:avLst/>
            </a:prstGeom>
          </p:spPr>
        </p:pic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25745272-639A-2C1C-E7BA-CB980E991A49}"/>
                </a:ext>
              </a:extLst>
            </p:cNvPr>
            <p:cNvCxnSpPr>
              <a:stCxn id="22" idx="3"/>
              <a:endCxn id="29" idx="1"/>
            </p:cNvCxnSpPr>
            <p:nvPr/>
          </p:nvCxnSpPr>
          <p:spPr>
            <a:xfrm flipV="1">
              <a:off x="2719252" y="3532328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02E2F9D2-B9E5-033E-7481-71EE42ECD95C}"/>
                </a:ext>
              </a:extLst>
            </p:cNvPr>
            <p:cNvCxnSpPr>
              <a:cxnSpLocks/>
            </p:cNvCxnSpPr>
            <p:nvPr/>
          </p:nvCxnSpPr>
          <p:spPr>
            <a:xfrm>
              <a:off x="2719252" y="4383583"/>
              <a:ext cx="798868" cy="8417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857A48D4-D316-4F86-DF83-53CE7F9B033C}"/>
                </a:ext>
              </a:extLst>
            </p:cNvPr>
            <p:cNvSpPr txBox="1"/>
            <p:nvPr/>
          </p:nvSpPr>
          <p:spPr>
            <a:xfrm>
              <a:off x="4043206" y="3371186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Data</a:t>
              </a:r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3138A82B-2DDF-9AB1-F23C-DACC8D98996A}"/>
                </a:ext>
              </a:extLst>
            </p:cNvPr>
            <p:cNvSpPr txBox="1"/>
            <p:nvPr/>
          </p:nvSpPr>
          <p:spPr>
            <a:xfrm>
              <a:off x="4043206" y="3916008"/>
              <a:ext cx="729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788B8D98-70F4-9893-4E2D-AA964AA15E33}"/>
                </a:ext>
              </a:extLst>
            </p:cNvPr>
            <p:cNvSpPr txBox="1"/>
            <p:nvPr/>
          </p:nvSpPr>
          <p:spPr>
            <a:xfrm>
              <a:off x="4043205" y="4549446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Results</a:t>
              </a: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D28E079A-3D00-CFF1-2BC7-2DD0C69E2843}"/>
                </a:ext>
              </a:extLst>
            </p:cNvPr>
            <p:cNvSpPr txBox="1"/>
            <p:nvPr/>
          </p:nvSpPr>
          <p:spPr>
            <a:xfrm>
              <a:off x="4043204" y="5182884"/>
              <a:ext cx="1065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.</a:t>
              </a:r>
              <a:r>
                <a:rPr lang="en-GB" dirty="0" err="1"/>
                <a:t>Rproj</a:t>
              </a:r>
              <a:endParaRPr lang="en-GB" dirty="0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1D6C8535-96DF-2904-ABC6-A4FD8245B3EC}"/>
              </a:ext>
            </a:extLst>
          </p:cNvPr>
          <p:cNvSpPr/>
          <p:nvPr/>
        </p:nvSpPr>
        <p:spPr>
          <a:xfrm>
            <a:off x="8340861" y="1615448"/>
            <a:ext cx="1306989" cy="5250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01AF99F-959D-277B-077B-29819497C66F}"/>
              </a:ext>
            </a:extLst>
          </p:cNvPr>
          <p:cNvSpPr/>
          <p:nvPr/>
        </p:nvSpPr>
        <p:spPr>
          <a:xfrm>
            <a:off x="4983252" y="4151475"/>
            <a:ext cx="5263833" cy="2200134"/>
          </a:xfrm>
          <a:prstGeom prst="rect">
            <a:avLst/>
          </a:prstGeom>
          <a:solidFill>
            <a:srgbClr val="EF93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9" name="Graphique 58" descr="Dossier ouvert avec un remplissage uni">
            <a:extLst>
              <a:ext uri="{FF2B5EF4-FFF2-40B4-BE49-F238E27FC236}">
                <a16:creationId xmlns:a16="http://schemas.microsoft.com/office/drawing/2014/main" id="{466FE73D-7164-6822-8911-0B7BD7BC0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9926" y="4236219"/>
            <a:ext cx="525086" cy="525086"/>
          </a:xfrm>
          <a:prstGeom prst="rect">
            <a:avLst/>
          </a:prstGeom>
        </p:spPr>
      </p:pic>
      <p:pic>
        <p:nvPicPr>
          <p:cNvPr id="60" name="Graphique 59" descr="Papier avec un remplissage uni">
            <a:extLst>
              <a:ext uri="{FF2B5EF4-FFF2-40B4-BE49-F238E27FC236}">
                <a16:creationId xmlns:a16="http://schemas.microsoft.com/office/drawing/2014/main" id="{E53D1A1F-7630-3927-F9EA-9DC5D09FD6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7319" y="5594521"/>
            <a:ext cx="577693" cy="577693"/>
          </a:xfrm>
          <a:prstGeom prst="rect">
            <a:avLst/>
          </a:prstGeom>
        </p:spPr>
      </p:pic>
      <p:sp>
        <p:nvSpPr>
          <p:cNvPr id="65" name="ZoneTexte 64">
            <a:extLst>
              <a:ext uri="{FF2B5EF4-FFF2-40B4-BE49-F238E27FC236}">
                <a16:creationId xmlns:a16="http://schemas.microsoft.com/office/drawing/2014/main" id="{55227AB2-CBA8-9B4E-E63A-81A9EA0D6635}"/>
              </a:ext>
            </a:extLst>
          </p:cNvPr>
          <p:cNvSpPr txBox="1"/>
          <p:nvPr/>
        </p:nvSpPr>
        <p:spPr>
          <a:xfrm>
            <a:off x="8875010" y="4299466"/>
            <a:ext cx="106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Docs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A5FBFF85-BAAF-E1C4-11D0-F78A6EA2CAC9}"/>
              </a:ext>
            </a:extLst>
          </p:cNvPr>
          <p:cNvSpPr txBox="1"/>
          <p:nvPr/>
        </p:nvSpPr>
        <p:spPr>
          <a:xfrm>
            <a:off x="8875010" y="5742512"/>
            <a:ext cx="1372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README.txt</a:t>
            </a:r>
            <a:endParaRPr lang="en-GB" dirty="0"/>
          </a:p>
        </p:txBody>
      </p:sp>
      <p:pic>
        <p:nvPicPr>
          <p:cNvPr id="67" name="Graphique 66" descr="Dossier ouvert avec un remplissage uni">
            <a:extLst>
              <a:ext uri="{FF2B5EF4-FFF2-40B4-BE49-F238E27FC236}">
                <a16:creationId xmlns:a16="http://schemas.microsoft.com/office/drawing/2014/main" id="{FE8D812D-B3E9-FA92-6059-BDB6B585A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6" y="4673429"/>
            <a:ext cx="525086" cy="525086"/>
          </a:xfrm>
          <a:prstGeom prst="rect">
            <a:avLst/>
          </a:prstGeom>
        </p:spPr>
      </p:pic>
      <p:sp>
        <p:nvSpPr>
          <p:cNvPr id="68" name="ZoneTexte 67">
            <a:extLst>
              <a:ext uri="{FF2B5EF4-FFF2-40B4-BE49-F238E27FC236}">
                <a16:creationId xmlns:a16="http://schemas.microsoft.com/office/drawing/2014/main" id="{16A38D6F-6A23-0B94-7DFC-02E5EA9E1DC9}"/>
              </a:ext>
            </a:extLst>
          </p:cNvPr>
          <p:cNvSpPr txBox="1"/>
          <p:nvPr/>
        </p:nvSpPr>
        <p:spPr>
          <a:xfrm>
            <a:off x="8877510" y="4736676"/>
            <a:ext cx="136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ConfigFiles</a:t>
            </a:r>
            <a:endParaRPr lang="en-GB" dirty="0"/>
          </a:p>
        </p:txBody>
      </p:sp>
      <p:pic>
        <p:nvPicPr>
          <p:cNvPr id="69" name="Graphique 68" descr="Dossier ouvert avec un remplissage uni">
            <a:extLst>
              <a:ext uri="{FF2B5EF4-FFF2-40B4-BE49-F238E27FC236}">
                <a16:creationId xmlns:a16="http://schemas.microsoft.com/office/drawing/2014/main" id="{1A841E64-7DEB-5386-ED18-0A777DAFA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2426" y="5100111"/>
            <a:ext cx="525086" cy="525086"/>
          </a:xfrm>
          <a:prstGeom prst="rect">
            <a:avLst/>
          </a:prstGeom>
        </p:spPr>
      </p:pic>
      <p:sp>
        <p:nvSpPr>
          <p:cNvPr id="70" name="ZoneTexte 69">
            <a:extLst>
              <a:ext uri="{FF2B5EF4-FFF2-40B4-BE49-F238E27FC236}">
                <a16:creationId xmlns:a16="http://schemas.microsoft.com/office/drawing/2014/main" id="{3DC06A35-81EB-BF77-D428-3EF0D22D2FF2}"/>
              </a:ext>
            </a:extLst>
          </p:cNvPr>
          <p:cNvSpPr txBox="1"/>
          <p:nvPr/>
        </p:nvSpPr>
        <p:spPr>
          <a:xfrm>
            <a:off x="8877510" y="5163358"/>
            <a:ext cx="136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Report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56135351-41D4-FE19-D52D-2EADE9914176}"/>
              </a:ext>
            </a:extLst>
          </p:cNvPr>
          <p:cNvSpPr txBox="1"/>
          <p:nvPr/>
        </p:nvSpPr>
        <p:spPr>
          <a:xfrm>
            <a:off x="4881178" y="694661"/>
            <a:ext cx="5609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-apple-system"/>
              </a:rPr>
              <a:t>« A</a:t>
            </a:r>
            <a:r>
              <a:rPr lang="en-GB" b="0" i="0" dirty="0">
                <a:effectLst/>
                <a:latin typeface="-apple-system"/>
              </a:rPr>
              <a:t> convention for how you organise your research artefacts into directories. </a:t>
            </a:r>
            <a:r>
              <a:rPr lang="en-GB" dirty="0">
                <a:latin typeface="-apple-system"/>
              </a:rPr>
              <a:t>» </a:t>
            </a:r>
            <a:r>
              <a:rPr lang="en-GB" sz="1400" dirty="0">
                <a:latin typeface="-apple-system"/>
              </a:rPr>
              <a:t>(https://</a:t>
            </a:r>
            <a:r>
              <a:rPr lang="en-GB" sz="1400" dirty="0" err="1">
                <a:latin typeface="-apple-system"/>
              </a:rPr>
              <a:t>github.com</a:t>
            </a:r>
            <a:r>
              <a:rPr lang="en-GB" sz="1400" dirty="0">
                <a:latin typeface="-apple-system"/>
              </a:rPr>
              <a:t>/</a:t>
            </a:r>
            <a:r>
              <a:rPr lang="en-GB" sz="1400" dirty="0" err="1">
                <a:latin typeface="-apple-system"/>
              </a:rPr>
              <a:t>ropensci</a:t>
            </a:r>
            <a:r>
              <a:rPr lang="en-GB" sz="1400" dirty="0">
                <a:latin typeface="-apple-system"/>
              </a:rPr>
              <a:t>/</a:t>
            </a:r>
            <a:r>
              <a:rPr lang="en-GB" sz="1400" dirty="0" err="1">
                <a:latin typeface="-apple-system"/>
              </a:rPr>
              <a:t>rrrpkg</a:t>
            </a:r>
            <a:r>
              <a:rPr lang="en-GB" sz="1400" dirty="0">
                <a:latin typeface="-apple-system"/>
              </a:rPr>
              <a:t>)</a:t>
            </a:r>
            <a:endParaRPr lang="en-GB" dirty="0"/>
          </a:p>
        </p:txBody>
      </p:sp>
      <p:pic>
        <p:nvPicPr>
          <p:cNvPr id="19" name="Image 18" descr="Une image contenant texte, capture d’écran, logiciel, Système d’exploitation&#10;&#10;Le contenu généré par l’IA peut être incorrect.">
            <a:extLst>
              <a:ext uri="{FF2B5EF4-FFF2-40B4-BE49-F238E27FC236}">
                <a16:creationId xmlns:a16="http://schemas.microsoft.com/office/drawing/2014/main" id="{C09BAAFD-DF38-83C1-CB03-D48C92D9D0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680" y="3123535"/>
            <a:ext cx="4282138" cy="3055798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9D53D68F-4C3D-1A70-5ACD-C056FC1DFA6B}"/>
              </a:ext>
            </a:extLst>
          </p:cNvPr>
          <p:cNvSpPr txBox="1"/>
          <p:nvPr/>
        </p:nvSpPr>
        <p:spPr>
          <a:xfrm>
            <a:off x="1765452" y="5708735"/>
            <a:ext cx="1354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setwd</a:t>
            </a:r>
            <a:r>
              <a:rPr lang="fr-FR" sz="2400" b="1" dirty="0"/>
              <a:t>()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1EAEF874-9B40-A30F-DFF3-A4FD38375FBC}"/>
              </a:ext>
            </a:extLst>
          </p:cNvPr>
          <p:cNvCxnSpPr/>
          <p:nvPr/>
        </p:nvCxnSpPr>
        <p:spPr>
          <a:xfrm>
            <a:off x="1921790" y="5708735"/>
            <a:ext cx="867905" cy="4705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ED32A4EB-8204-A152-1D07-1E2336A5B01F}"/>
              </a:ext>
            </a:extLst>
          </p:cNvPr>
          <p:cNvCxnSpPr>
            <a:cxnSpLocks/>
          </p:cNvCxnSpPr>
          <p:nvPr/>
        </p:nvCxnSpPr>
        <p:spPr>
          <a:xfrm flipV="1">
            <a:off x="1944914" y="5728103"/>
            <a:ext cx="867905" cy="4705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B93C7562-D542-8BBB-BFD3-13485229A2CC}"/>
              </a:ext>
            </a:extLst>
          </p:cNvPr>
          <p:cNvSpPr txBox="1"/>
          <p:nvPr/>
        </p:nvSpPr>
        <p:spPr>
          <a:xfrm>
            <a:off x="1921790" y="6419487"/>
            <a:ext cx="7916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read_csv</a:t>
            </a:r>
            <a:r>
              <a:rPr lang="fr-FR" dirty="0"/>
              <a:t>(« Data/</a:t>
            </a:r>
            <a:r>
              <a:rPr lang="fr-FR" dirty="0" err="1"/>
              <a:t>Allo.csv</a:t>
            </a:r>
            <a:r>
              <a:rPr lang="fr-FR" dirty="0"/>
              <a:t> ») </a:t>
            </a:r>
            <a:r>
              <a:rPr lang="fr-FR" dirty="0">
                <a:sym typeface="Wingdings" pitchFamily="2" charset="2"/>
              </a:rPr>
              <a:t> </a:t>
            </a:r>
            <a:r>
              <a:rPr lang="fr-FR" dirty="0" err="1">
                <a:sym typeface="Wingdings" pitchFamily="2" charset="2"/>
              </a:rPr>
              <a:t>read_csv</a:t>
            </a:r>
            <a:r>
              <a:rPr lang="fr-FR" dirty="0">
                <a:sym typeface="Wingdings" pitchFamily="2" charset="2"/>
              </a:rPr>
              <a:t>(</a:t>
            </a:r>
            <a:r>
              <a:rPr lang="fr-FR" b="1" dirty="0" err="1">
                <a:sym typeface="Wingdings" pitchFamily="2" charset="2"/>
              </a:rPr>
              <a:t>here</a:t>
            </a:r>
            <a:r>
              <a:rPr lang="fr-FR" b="1" dirty="0">
                <a:sym typeface="Wingdings" pitchFamily="2" charset="2"/>
              </a:rPr>
              <a:t>::</a:t>
            </a:r>
            <a:r>
              <a:rPr lang="fr-FR" b="1" dirty="0" err="1">
                <a:sym typeface="Wingdings" pitchFamily="2" charset="2"/>
              </a:rPr>
              <a:t>here</a:t>
            </a:r>
            <a:r>
              <a:rPr lang="fr-FR" b="1" dirty="0">
                <a:sym typeface="Wingdings" pitchFamily="2" charset="2"/>
              </a:rPr>
              <a:t>(« Data », « </a:t>
            </a:r>
            <a:r>
              <a:rPr lang="fr-FR" b="1" dirty="0" err="1">
                <a:sym typeface="Wingdings" pitchFamily="2" charset="2"/>
              </a:rPr>
              <a:t>Allo.csv</a:t>
            </a:r>
            <a:r>
              <a:rPr lang="fr-FR" b="1" dirty="0">
                <a:sym typeface="Wingdings" pitchFamily="2" charset="2"/>
              </a:rPr>
              <a:t> »)</a:t>
            </a:r>
            <a:r>
              <a:rPr lang="fr-FR" dirty="0">
                <a:sym typeface="Wingdings" pitchFamily="2" charset="2"/>
              </a:rPr>
              <a:t>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72742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84407-78BC-D647-1EFE-B02A740F7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1311C36-3773-113C-0827-DFAACBA43C7B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3001915-5B65-5058-54D8-FEE9485986F3}"/>
              </a:ext>
            </a:extLst>
          </p:cNvPr>
          <p:cNvSpPr/>
          <p:nvPr/>
        </p:nvSpPr>
        <p:spPr>
          <a:xfrm>
            <a:off x="3730672" y="1149264"/>
            <a:ext cx="3394553" cy="2279737"/>
          </a:xfrm>
          <a:prstGeom prst="roundRect">
            <a:avLst/>
          </a:prstGeom>
          <a:solidFill>
            <a:srgbClr val="E7A1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ARCHITECTURE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7516C59-8F66-7F21-7611-B37F499AC64E}"/>
              </a:ext>
            </a:extLst>
          </p:cNvPr>
          <p:cNvSpPr/>
          <p:nvPr/>
        </p:nvSpPr>
        <p:spPr>
          <a:xfrm>
            <a:off x="7300589" y="1149263"/>
            <a:ext cx="3394554" cy="2279737"/>
          </a:xfrm>
          <a:prstGeom prst="roundRect">
            <a:avLst/>
          </a:prstGeom>
          <a:solidFill>
            <a:srgbClr val="C6CEF7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IMPLEMENTATION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B6B71F1-8611-CF01-1B27-F87D32B6D8F8}"/>
              </a:ext>
            </a:extLst>
          </p:cNvPr>
          <p:cNvSpPr/>
          <p:nvPr/>
        </p:nvSpPr>
        <p:spPr>
          <a:xfrm>
            <a:off x="3730671" y="3581400"/>
            <a:ext cx="3394554" cy="2279737"/>
          </a:xfrm>
          <a:prstGeom prst="roundRect">
            <a:avLst/>
          </a:prstGeom>
          <a:solidFill>
            <a:srgbClr val="D8A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TRACKING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89343F5-C39D-E3F5-0A8F-7AD6CA34AE5B}"/>
              </a:ext>
            </a:extLst>
          </p:cNvPr>
          <p:cNvSpPr/>
          <p:nvPr/>
        </p:nvSpPr>
        <p:spPr>
          <a:xfrm>
            <a:off x="7300588" y="3581400"/>
            <a:ext cx="3394554" cy="2279737"/>
          </a:xfrm>
          <a:prstGeom prst="roundRect">
            <a:avLst/>
          </a:prstGeom>
          <a:solidFill>
            <a:srgbClr val="739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SHARING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1E269D7-BF1A-E14C-8C51-C74108A6A2B1}"/>
              </a:ext>
            </a:extLst>
          </p:cNvPr>
          <p:cNvSpPr txBox="1"/>
          <p:nvPr/>
        </p:nvSpPr>
        <p:spPr>
          <a:xfrm>
            <a:off x="263045" y="2890391"/>
            <a:ext cx="29436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The 4 pillars of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1688421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53B01-BA54-783C-488D-09184FEE6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62B28FB5-946C-2B2E-7931-12850C0A14F6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4151F4E9-54C4-713F-FFA9-F7DE367E6F25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TRACKING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0DA37345-1EE9-5BCE-CBC5-887163068DD8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78E428D5-A709-06B3-BFF9-E6E5DA1FB1FC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96A38207-F07B-7AAA-C545-2F0ECE8503D7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FD48830-D465-C376-D63B-134F44D1CA00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9BDF09F-D77E-227C-398D-634DF2F92FE8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35990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AB9ED-EE2B-8607-5199-AAD861A32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902B9CDF-7C16-AEE0-A6F2-AB47EC8A488B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A3B66DC7-707C-5FDA-9FFD-841ED07F0DAC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TRACKING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0FE21BA8-B2B7-AD44-0384-D0E1C26D9BB4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9CB9BFA3-1415-A1A1-5F1E-925FD1C3AF43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A9DE7727-1591-6587-6BB8-4D34A153EB37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08B8E51-7DAD-4BA2-936E-2B631DFA2C20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8925B4F-AAE1-B918-04DB-D03975698C7F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031EE7DF-A574-585B-AE61-3992EE5CBFBB}"/>
              </a:ext>
            </a:extLst>
          </p:cNvPr>
          <p:cNvGrpSpPr/>
          <p:nvPr/>
        </p:nvGrpSpPr>
        <p:grpSpPr>
          <a:xfrm>
            <a:off x="1113174" y="3826322"/>
            <a:ext cx="4195950" cy="2129878"/>
            <a:chOff x="977299" y="3984792"/>
            <a:chExt cx="4195950" cy="2129878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BEEF587B-6888-0AE2-C8C1-B5DD5F8A0DA4}"/>
                </a:ext>
              </a:extLst>
            </p:cNvPr>
            <p:cNvSpPr txBox="1"/>
            <p:nvPr/>
          </p:nvSpPr>
          <p:spPr>
            <a:xfrm>
              <a:off x="1029909" y="3984792"/>
              <a:ext cx="1771126" cy="2129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dirty="0"/>
                <a:t>Code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Packages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System libraries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OS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MATERIAL</a:t>
              </a:r>
            </a:p>
          </p:txBody>
        </p:sp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080CCCFD-9614-0001-F82F-85DA1AC941FF}"/>
                </a:ext>
              </a:extLst>
            </p:cNvPr>
            <p:cNvSpPr/>
            <p:nvPr/>
          </p:nvSpPr>
          <p:spPr>
            <a:xfrm>
              <a:off x="977299" y="4879443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4A09AA77-DAD1-AD35-D4DE-8404AE0437D0}"/>
                </a:ext>
              </a:extLst>
            </p:cNvPr>
            <p:cNvSpPr/>
            <p:nvPr/>
          </p:nvSpPr>
          <p:spPr>
            <a:xfrm>
              <a:off x="977299" y="5280276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1FBC63A7-CCD2-A87C-3657-2844F04932FA}"/>
                </a:ext>
              </a:extLst>
            </p:cNvPr>
            <p:cNvSpPr/>
            <p:nvPr/>
          </p:nvSpPr>
          <p:spPr>
            <a:xfrm>
              <a:off x="977299" y="5681109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BD295D3E-0F4C-1D70-B179-31F2E3117C97}"/>
                </a:ext>
              </a:extLst>
            </p:cNvPr>
            <p:cNvSpPr/>
            <p:nvPr/>
          </p:nvSpPr>
          <p:spPr>
            <a:xfrm>
              <a:off x="977299" y="4478610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Rectangle : coins arrondis 24">
              <a:extLst>
                <a:ext uri="{FF2B5EF4-FFF2-40B4-BE49-F238E27FC236}">
                  <a16:creationId xmlns:a16="http://schemas.microsoft.com/office/drawing/2014/main" id="{ACC5DD43-E024-F01E-3D84-20CDF967B1E9}"/>
                </a:ext>
              </a:extLst>
            </p:cNvPr>
            <p:cNvSpPr/>
            <p:nvPr/>
          </p:nvSpPr>
          <p:spPr>
            <a:xfrm>
              <a:off x="977299" y="4077777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EB0D973C-BF1B-CFB6-7724-2E560331851B}"/>
                </a:ext>
              </a:extLst>
            </p:cNvPr>
            <p:cNvSpPr txBox="1"/>
            <p:nvPr/>
          </p:nvSpPr>
          <p:spPr>
            <a:xfrm>
              <a:off x="3204728" y="4494360"/>
              <a:ext cx="122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 err="1"/>
                <a:t>renv</a:t>
              </a:r>
              <a:endParaRPr lang="en-GB" b="1" dirty="0"/>
            </a:p>
          </p:txBody>
        </p: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FA54D0C2-610E-5EFD-E73E-B5E801404A21}"/>
                </a:ext>
              </a:extLst>
            </p:cNvPr>
            <p:cNvSpPr txBox="1"/>
            <p:nvPr/>
          </p:nvSpPr>
          <p:spPr>
            <a:xfrm>
              <a:off x="3204728" y="4863692"/>
              <a:ext cx="1968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Conda / Docker</a:t>
              </a: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16C975E5-3EC6-3444-545B-F6A119A4041A}"/>
                </a:ext>
              </a:extLst>
            </p:cNvPr>
            <p:cNvSpPr txBox="1"/>
            <p:nvPr/>
          </p:nvSpPr>
          <p:spPr>
            <a:xfrm>
              <a:off x="3204727" y="5296026"/>
              <a:ext cx="1968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Docker</a:t>
              </a:r>
            </a:p>
          </p:txBody>
        </p:sp>
        <p:cxnSp>
          <p:nvCxnSpPr>
            <p:cNvPr id="30" name="Connecteur droit avec flèche 29">
              <a:extLst>
                <a:ext uri="{FF2B5EF4-FFF2-40B4-BE49-F238E27FC236}">
                  <a16:creationId xmlns:a16="http://schemas.microsoft.com/office/drawing/2014/main" id="{44DD1A5F-B6A0-874F-2D81-30E2CBA68E6D}"/>
                </a:ext>
              </a:extLst>
            </p:cNvPr>
            <p:cNvCxnSpPr/>
            <p:nvPr/>
          </p:nvCxnSpPr>
          <p:spPr>
            <a:xfrm flipH="1">
              <a:off x="2943616" y="4685844"/>
              <a:ext cx="26111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necteur droit avec flèche 30">
              <a:extLst>
                <a:ext uri="{FF2B5EF4-FFF2-40B4-BE49-F238E27FC236}">
                  <a16:creationId xmlns:a16="http://schemas.microsoft.com/office/drawing/2014/main" id="{4876A4F0-85BA-A607-6FCB-8BC452C7C253}"/>
                </a:ext>
              </a:extLst>
            </p:cNvPr>
            <p:cNvCxnSpPr/>
            <p:nvPr/>
          </p:nvCxnSpPr>
          <p:spPr>
            <a:xfrm flipH="1">
              <a:off x="2950765" y="5085936"/>
              <a:ext cx="26111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necteur droit avec flèche 31">
              <a:extLst>
                <a:ext uri="{FF2B5EF4-FFF2-40B4-BE49-F238E27FC236}">
                  <a16:creationId xmlns:a16="http://schemas.microsoft.com/office/drawing/2014/main" id="{2F258F97-D81B-F5C1-5346-7F24C91106CD}"/>
                </a:ext>
              </a:extLst>
            </p:cNvPr>
            <p:cNvCxnSpPr/>
            <p:nvPr/>
          </p:nvCxnSpPr>
          <p:spPr>
            <a:xfrm flipH="1">
              <a:off x="2950765" y="5493218"/>
              <a:ext cx="26111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" name="ZoneTexte 33">
            <a:extLst>
              <a:ext uri="{FF2B5EF4-FFF2-40B4-BE49-F238E27FC236}">
                <a16:creationId xmlns:a16="http://schemas.microsoft.com/office/drawing/2014/main" id="{4DB3A831-BD0C-7DF1-A357-72612A1580C8}"/>
              </a:ext>
            </a:extLst>
          </p:cNvPr>
          <p:cNvSpPr txBox="1"/>
          <p:nvPr/>
        </p:nvSpPr>
        <p:spPr>
          <a:xfrm rot="16200000">
            <a:off x="-156780" y="4744173"/>
            <a:ext cx="212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Whole environment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B2891D41-FBDE-317A-9298-0E9F60354866}"/>
              </a:ext>
            </a:extLst>
          </p:cNvPr>
          <p:cNvSpPr txBox="1"/>
          <p:nvPr/>
        </p:nvSpPr>
        <p:spPr>
          <a:xfrm>
            <a:off x="3340602" y="3949382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targets 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A25E5443-657B-F89F-C1D7-098C8CE78692}"/>
              </a:ext>
            </a:extLst>
          </p:cNvPr>
          <p:cNvCxnSpPr/>
          <p:nvPr/>
        </p:nvCxnSpPr>
        <p:spPr>
          <a:xfrm flipH="1">
            <a:off x="3079490" y="4140866"/>
            <a:ext cx="26111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4DA122A6-AD09-87D7-76B7-DAF8AD07D64C}"/>
              </a:ext>
            </a:extLst>
          </p:cNvPr>
          <p:cNvSpPr txBox="1"/>
          <p:nvPr/>
        </p:nvSpPr>
        <p:spPr>
          <a:xfrm>
            <a:off x="562659" y="3315980"/>
            <a:ext cx="31707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The layers of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42738607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6379C-AB60-4904-E177-4702C7ADC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B6E2CDED-DD34-CEF9-EAA5-7B40F95108F9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81DBD64B-3B3C-65FE-B4DF-978D475EFFE9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TRACKING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12FF05E1-06EB-4586-0130-F83D85CDB690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DB35625C-0ABB-0273-A578-4943C20A5320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CA65CDC2-C7E8-F300-FD18-2B63FD419B77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6CE2F43D-191F-8007-D0EC-06D99E9F8E26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EA537AAC-F238-9B2E-ADEE-35ACF77CF1CA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7E874FC9-B0DE-730A-1990-863CF997C146}"/>
              </a:ext>
            </a:extLst>
          </p:cNvPr>
          <p:cNvGrpSpPr/>
          <p:nvPr/>
        </p:nvGrpSpPr>
        <p:grpSpPr>
          <a:xfrm>
            <a:off x="1113174" y="3826322"/>
            <a:ext cx="4195950" cy="2129878"/>
            <a:chOff x="977299" y="3984792"/>
            <a:chExt cx="4195950" cy="2129878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D44605A7-FFB0-7D96-1916-657E51995270}"/>
                </a:ext>
              </a:extLst>
            </p:cNvPr>
            <p:cNvSpPr txBox="1"/>
            <p:nvPr/>
          </p:nvSpPr>
          <p:spPr>
            <a:xfrm>
              <a:off x="1029909" y="3984792"/>
              <a:ext cx="1771126" cy="2129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dirty="0"/>
                <a:t>Code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Packages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System libraries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OS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MATERIAL</a:t>
              </a:r>
            </a:p>
          </p:txBody>
        </p:sp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BEF1BA04-A965-A9F6-79E5-D8134EB8E58D}"/>
                </a:ext>
              </a:extLst>
            </p:cNvPr>
            <p:cNvSpPr/>
            <p:nvPr/>
          </p:nvSpPr>
          <p:spPr>
            <a:xfrm>
              <a:off x="977299" y="4879443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DDFA8703-C35B-CA8C-86E9-F573CFAE2A3D}"/>
                </a:ext>
              </a:extLst>
            </p:cNvPr>
            <p:cNvSpPr/>
            <p:nvPr/>
          </p:nvSpPr>
          <p:spPr>
            <a:xfrm>
              <a:off x="977299" y="5280276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A5042B88-A11E-0DE4-0155-1E88F07790BD}"/>
                </a:ext>
              </a:extLst>
            </p:cNvPr>
            <p:cNvSpPr/>
            <p:nvPr/>
          </p:nvSpPr>
          <p:spPr>
            <a:xfrm>
              <a:off x="977299" y="5681109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23CB74AD-4CE4-B7BD-31D8-6A5D5C0FD341}"/>
                </a:ext>
              </a:extLst>
            </p:cNvPr>
            <p:cNvSpPr/>
            <p:nvPr/>
          </p:nvSpPr>
          <p:spPr>
            <a:xfrm>
              <a:off x="977299" y="4478610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Rectangle : coins arrondis 24">
              <a:extLst>
                <a:ext uri="{FF2B5EF4-FFF2-40B4-BE49-F238E27FC236}">
                  <a16:creationId xmlns:a16="http://schemas.microsoft.com/office/drawing/2014/main" id="{677CC2C4-9847-3C48-5018-429129BA7B68}"/>
                </a:ext>
              </a:extLst>
            </p:cNvPr>
            <p:cNvSpPr/>
            <p:nvPr/>
          </p:nvSpPr>
          <p:spPr>
            <a:xfrm>
              <a:off x="977299" y="4077777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AE1F3046-4ABB-BE2B-F257-98285E681B14}"/>
                </a:ext>
              </a:extLst>
            </p:cNvPr>
            <p:cNvSpPr txBox="1"/>
            <p:nvPr/>
          </p:nvSpPr>
          <p:spPr>
            <a:xfrm>
              <a:off x="3204728" y="4494360"/>
              <a:ext cx="122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 err="1"/>
                <a:t>renv</a:t>
              </a:r>
              <a:endParaRPr lang="en-GB" b="1" dirty="0"/>
            </a:p>
          </p:txBody>
        </p: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46A7252F-A468-22CA-9156-B54B8710C37A}"/>
                </a:ext>
              </a:extLst>
            </p:cNvPr>
            <p:cNvSpPr txBox="1"/>
            <p:nvPr/>
          </p:nvSpPr>
          <p:spPr>
            <a:xfrm>
              <a:off x="3204728" y="4863692"/>
              <a:ext cx="1968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Conda / Docker</a:t>
              </a: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2AE1560A-4A71-AD9E-03E1-6809B7294E55}"/>
                </a:ext>
              </a:extLst>
            </p:cNvPr>
            <p:cNvSpPr txBox="1"/>
            <p:nvPr/>
          </p:nvSpPr>
          <p:spPr>
            <a:xfrm>
              <a:off x="3204727" y="5296026"/>
              <a:ext cx="1968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Docker</a:t>
              </a:r>
            </a:p>
          </p:txBody>
        </p:sp>
        <p:cxnSp>
          <p:nvCxnSpPr>
            <p:cNvPr id="30" name="Connecteur droit avec flèche 29">
              <a:extLst>
                <a:ext uri="{FF2B5EF4-FFF2-40B4-BE49-F238E27FC236}">
                  <a16:creationId xmlns:a16="http://schemas.microsoft.com/office/drawing/2014/main" id="{4666E0DA-DACD-3028-1F8F-7A81599998D0}"/>
                </a:ext>
              </a:extLst>
            </p:cNvPr>
            <p:cNvCxnSpPr/>
            <p:nvPr/>
          </p:nvCxnSpPr>
          <p:spPr>
            <a:xfrm flipH="1">
              <a:off x="2943616" y="4685844"/>
              <a:ext cx="26111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necteur droit avec flèche 30">
              <a:extLst>
                <a:ext uri="{FF2B5EF4-FFF2-40B4-BE49-F238E27FC236}">
                  <a16:creationId xmlns:a16="http://schemas.microsoft.com/office/drawing/2014/main" id="{1B932FE2-7C27-5E22-BADB-03457D576F86}"/>
                </a:ext>
              </a:extLst>
            </p:cNvPr>
            <p:cNvCxnSpPr/>
            <p:nvPr/>
          </p:nvCxnSpPr>
          <p:spPr>
            <a:xfrm flipH="1">
              <a:off x="2950765" y="5085936"/>
              <a:ext cx="26111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necteur droit avec flèche 31">
              <a:extLst>
                <a:ext uri="{FF2B5EF4-FFF2-40B4-BE49-F238E27FC236}">
                  <a16:creationId xmlns:a16="http://schemas.microsoft.com/office/drawing/2014/main" id="{E8195547-073F-F57D-B82A-E56D7982B199}"/>
                </a:ext>
              </a:extLst>
            </p:cNvPr>
            <p:cNvCxnSpPr/>
            <p:nvPr/>
          </p:nvCxnSpPr>
          <p:spPr>
            <a:xfrm flipH="1">
              <a:off x="2950765" y="5493218"/>
              <a:ext cx="26111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" name="ZoneTexte 33">
            <a:extLst>
              <a:ext uri="{FF2B5EF4-FFF2-40B4-BE49-F238E27FC236}">
                <a16:creationId xmlns:a16="http://schemas.microsoft.com/office/drawing/2014/main" id="{1E0E0E61-E1FF-3978-236C-E7E1ED0A7F77}"/>
              </a:ext>
            </a:extLst>
          </p:cNvPr>
          <p:cNvSpPr txBox="1"/>
          <p:nvPr/>
        </p:nvSpPr>
        <p:spPr>
          <a:xfrm rot="16200000">
            <a:off x="-156780" y="4744173"/>
            <a:ext cx="212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Whole environment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2983B12-71F6-33C5-4695-986AD684E606}"/>
              </a:ext>
            </a:extLst>
          </p:cNvPr>
          <p:cNvSpPr txBox="1"/>
          <p:nvPr/>
        </p:nvSpPr>
        <p:spPr>
          <a:xfrm>
            <a:off x="3340602" y="3949382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targets 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C3A0A164-9E9B-1E4F-0D9D-368FA3C7BE77}"/>
              </a:ext>
            </a:extLst>
          </p:cNvPr>
          <p:cNvCxnSpPr/>
          <p:nvPr/>
        </p:nvCxnSpPr>
        <p:spPr>
          <a:xfrm flipH="1">
            <a:off x="3079490" y="4140866"/>
            <a:ext cx="26111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C2371233-B013-DB6F-AC9C-9F339FD8AB02}"/>
              </a:ext>
            </a:extLst>
          </p:cNvPr>
          <p:cNvSpPr txBox="1"/>
          <p:nvPr/>
        </p:nvSpPr>
        <p:spPr>
          <a:xfrm>
            <a:off x="562659" y="3315980"/>
            <a:ext cx="31707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The layers of reproducibility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B17E2548-5C3B-06D5-2B8E-0BB3C85B97B9}"/>
              </a:ext>
            </a:extLst>
          </p:cNvPr>
          <p:cNvSpPr/>
          <p:nvPr/>
        </p:nvSpPr>
        <p:spPr>
          <a:xfrm>
            <a:off x="1025492" y="3852427"/>
            <a:ext cx="3170727" cy="818443"/>
          </a:xfrm>
          <a:prstGeom prst="roundRect">
            <a:avLst>
              <a:gd name="adj" fmla="val 0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7410A7A-3B63-79E3-178C-31AE76A39E86}"/>
              </a:ext>
            </a:extLst>
          </p:cNvPr>
          <p:cNvSpPr/>
          <p:nvPr/>
        </p:nvSpPr>
        <p:spPr>
          <a:xfrm>
            <a:off x="1025491" y="4763855"/>
            <a:ext cx="4150092" cy="1241398"/>
          </a:xfrm>
          <a:prstGeom prst="roundRect">
            <a:avLst>
              <a:gd name="adj" fmla="val 0"/>
            </a:avLst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66014D8-A162-E788-7736-7D8B1007A0FF}"/>
              </a:ext>
            </a:extLst>
          </p:cNvPr>
          <p:cNvSpPr txBox="1"/>
          <p:nvPr/>
        </p:nvSpPr>
        <p:spPr>
          <a:xfrm>
            <a:off x="2467628" y="349456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>
                <a:solidFill>
                  <a:schemeClr val="accent2"/>
                </a:solidFill>
              </a:rPr>
              <a:t>Our concern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B50E7A5-4954-AEE5-5368-B2EC17CDCAEC}"/>
              </a:ext>
            </a:extLst>
          </p:cNvPr>
          <p:cNvSpPr txBox="1"/>
          <p:nvPr/>
        </p:nvSpPr>
        <p:spPr>
          <a:xfrm>
            <a:off x="3315550" y="5953181"/>
            <a:ext cx="2155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3"/>
                </a:solidFill>
              </a:rPr>
              <a:t>Geek’s concern</a:t>
            </a:r>
          </a:p>
        </p:txBody>
      </p:sp>
    </p:spTree>
    <p:extLst>
      <p:ext uri="{BB962C8B-B14F-4D97-AF65-F5344CB8AC3E}">
        <p14:creationId xmlns:p14="http://schemas.microsoft.com/office/powerpoint/2010/main" val="2306941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5BE55-667E-E3C2-6AC7-6A918F4CA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824C6053-F4C9-2889-9345-68D7DF190F13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9944B415-0EFB-89C5-5589-FDAE1C97EDE6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TRACKING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C511BA2A-2844-0A44-B437-B3ECF017036A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BB9F98F2-6C41-34F3-332F-2645EE6ABC51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46B5FA20-18EE-45E8-BC7A-F4BE26864FAF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05C2469B-6751-33D7-A922-3A97F42B3B44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1F98AD8-4940-EA59-9918-6AD628C03863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02570BA-2D5A-2CB4-CAA7-8954285CA9CB}"/>
              </a:ext>
            </a:extLst>
          </p:cNvPr>
          <p:cNvSpPr txBox="1"/>
          <p:nvPr/>
        </p:nvSpPr>
        <p:spPr>
          <a:xfrm>
            <a:off x="5861299" y="307072"/>
            <a:ext cx="4472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Reproducible R environment - </a:t>
            </a:r>
            <a:r>
              <a:rPr lang="en-GB" sz="2000" b="1" i="1" dirty="0" err="1">
                <a:solidFill>
                  <a:srgbClr val="000000"/>
                </a:solidFill>
                <a:effectLst/>
                <a:latin typeface="Helvetica" pitchFamily="2" charset="0"/>
              </a:rPr>
              <a:t>renv</a:t>
            </a:r>
            <a:endParaRPr lang="en-GB" sz="2000" b="1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D6FF702-C2EA-C13B-CFC3-FC0E1E4AC435}"/>
              </a:ext>
            </a:extLst>
          </p:cNvPr>
          <p:cNvSpPr txBox="1"/>
          <p:nvPr/>
        </p:nvSpPr>
        <p:spPr>
          <a:xfrm>
            <a:off x="4649490" y="1418077"/>
            <a:ext cx="70965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All necessary to execute the code and obtain the same results.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355F5091-1521-26AD-9B6A-D9BE4170FD7D}"/>
              </a:ext>
            </a:extLst>
          </p:cNvPr>
          <p:cNvCxnSpPr/>
          <p:nvPr/>
        </p:nvCxnSpPr>
        <p:spPr>
          <a:xfrm flipH="1">
            <a:off x="4757979" y="707180"/>
            <a:ext cx="3347634" cy="710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9D6313F2-E606-8B7E-46D9-9D1B12EC64B6}"/>
              </a:ext>
            </a:extLst>
          </p:cNvPr>
          <p:cNvCxnSpPr>
            <a:cxnSpLocks/>
          </p:cNvCxnSpPr>
          <p:nvPr/>
        </p:nvCxnSpPr>
        <p:spPr>
          <a:xfrm flipH="1" flipV="1">
            <a:off x="8105613" y="707181"/>
            <a:ext cx="3347634" cy="710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F0E3662-F647-F8AA-F297-5FFD619744ED}"/>
              </a:ext>
            </a:extLst>
          </p:cNvPr>
          <p:cNvGrpSpPr/>
          <p:nvPr/>
        </p:nvGrpSpPr>
        <p:grpSpPr>
          <a:xfrm>
            <a:off x="1113174" y="3826322"/>
            <a:ext cx="4195950" cy="2129878"/>
            <a:chOff x="977299" y="3984792"/>
            <a:chExt cx="4195950" cy="2129878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BC5CC42F-CE3A-F8E0-7D46-A70757CDF880}"/>
                </a:ext>
              </a:extLst>
            </p:cNvPr>
            <p:cNvSpPr txBox="1"/>
            <p:nvPr/>
          </p:nvSpPr>
          <p:spPr>
            <a:xfrm>
              <a:off x="1029909" y="3984792"/>
              <a:ext cx="1771126" cy="2129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dirty="0"/>
                <a:t>Code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Packages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System libraries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OS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MATERIAL</a:t>
              </a:r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F7ADBAEA-14E8-3401-2A15-4D2010565E1D}"/>
                </a:ext>
              </a:extLst>
            </p:cNvPr>
            <p:cNvSpPr/>
            <p:nvPr/>
          </p:nvSpPr>
          <p:spPr>
            <a:xfrm>
              <a:off x="977299" y="4879443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Rectangle : coins arrondis 18">
              <a:extLst>
                <a:ext uri="{FF2B5EF4-FFF2-40B4-BE49-F238E27FC236}">
                  <a16:creationId xmlns:a16="http://schemas.microsoft.com/office/drawing/2014/main" id="{074ADA6A-917B-2972-7D38-3CA2E8A33E8B}"/>
                </a:ext>
              </a:extLst>
            </p:cNvPr>
            <p:cNvSpPr/>
            <p:nvPr/>
          </p:nvSpPr>
          <p:spPr>
            <a:xfrm>
              <a:off x="977299" y="5280276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01AB5497-13F1-8002-4B41-88C39A3D0EB5}"/>
                </a:ext>
              </a:extLst>
            </p:cNvPr>
            <p:cNvSpPr/>
            <p:nvPr/>
          </p:nvSpPr>
          <p:spPr>
            <a:xfrm>
              <a:off x="977299" y="5681109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8D445539-C151-4168-B5AE-31322101ED11}"/>
                </a:ext>
              </a:extLst>
            </p:cNvPr>
            <p:cNvSpPr/>
            <p:nvPr/>
          </p:nvSpPr>
          <p:spPr>
            <a:xfrm>
              <a:off x="977299" y="4478610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9" name="Rectangle : coins arrondis 28">
              <a:extLst>
                <a:ext uri="{FF2B5EF4-FFF2-40B4-BE49-F238E27FC236}">
                  <a16:creationId xmlns:a16="http://schemas.microsoft.com/office/drawing/2014/main" id="{FA3DAE55-CE3F-7E20-ED60-3A2A21503C34}"/>
                </a:ext>
              </a:extLst>
            </p:cNvPr>
            <p:cNvSpPr/>
            <p:nvPr/>
          </p:nvSpPr>
          <p:spPr>
            <a:xfrm>
              <a:off x="977299" y="4077777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B2079B4E-97BE-975B-C1E1-29708F89356C}"/>
                </a:ext>
              </a:extLst>
            </p:cNvPr>
            <p:cNvSpPr txBox="1"/>
            <p:nvPr/>
          </p:nvSpPr>
          <p:spPr>
            <a:xfrm>
              <a:off x="3204728" y="4494360"/>
              <a:ext cx="122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 err="1"/>
                <a:t>renv</a:t>
              </a:r>
              <a:endParaRPr lang="en-GB" b="1" dirty="0"/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EAD89F48-BC46-C66D-639A-8AC0D73573CF}"/>
                </a:ext>
              </a:extLst>
            </p:cNvPr>
            <p:cNvSpPr txBox="1"/>
            <p:nvPr/>
          </p:nvSpPr>
          <p:spPr>
            <a:xfrm>
              <a:off x="3204728" y="4863692"/>
              <a:ext cx="1968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Conda / Docker</a:t>
              </a:r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241A92AD-4C26-51BD-D2AF-1D37E6A23880}"/>
                </a:ext>
              </a:extLst>
            </p:cNvPr>
            <p:cNvSpPr txBox="1"/>
            <p:nvPr/>
          </p:nvSpPr>
          <p:spPr>
            <a:xfrm>
              <a:off x="3204727" y="5296026"/>
              <a:ext cx="1968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Docker</a:t>
              </a:r>
            </a:p>
          </p:txBody>
        </p:sp>
        <p:cxnSp>
          <p:nvCxnSpPr>
            <p:cNvPr id="42" name="Connecteur droit avec flèche 41">
              <a:extLst>
                <a:ext uri="{FF2B5EF4-FFF2-40B4-BE49-F238E27FC236}">
                  <a16:creationId xmlns:a16="http://schemas.microsoft.com/office/drawing/2014/main" id="{DE572287-06DD-9AE4-C591-CF589A5A5544}"/>
                </a:ext>
              </a:extLst>
            </p:cNvPr>
            <p:cNvCxnSpPr/>
            <p:nvPr/>
          </p:nvCxnSpPr>
          <p:spPr>
            <a:xfrm flipH="1">
              <a:off x="2943616" y="4685844"/>
              <a:ext cx="26111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BDEA3E6B-B363-6A41-CB4E-E68AA5468745}"/>
                </a:ext>
              </a:extLst>
            </p:cNvPr>
            <p:cNvCxnSpPr/>
            <p:nvPr/>
          </p:nvCxnSpPr>
          <p:spPr>
            <a:xfrm flipH="1">
              <a:off x="2950765" y="5085936"/>
              <a:ext cx="26111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Connecteur droit avec flèche 43">
              <a:extLst>
                <a:ext uri="{FF2B5EF4-FFF2-40B4-BE49-F238E27FC236}">
                  <a16:creationId xmlns:a16="http://schemas.microsoft.com/office/drawing/2014/main" id="{B9BD788A-5E98-91B4-7A60-341BF18005C7}"/>
                </a:ext>
              </a:extLst>
            </p:cNvPr>
            <p:cNvCxnSpPr/>
            <p:nvPr/>
          </p:nvCxnSpPr>
          <p:spPr>
            <a:xfrm flipH="1">
              <a:off x="2950765" y="5493218"/>
              <a:ext cx="26111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ZoneTexte 44">
            <a:extLst>
              <a:ext uri="{FF2B5EF4-FFF2-40B4-BE49-F238E27FC236}">
                <a16:creationId xmlns:a16="http://schemas.microsoft.com/office/drawing/2014/main" id="{7A5EB5C1-F739-C779-7879-D9307C3FFA86}"/>
              </a:ext>
            </a:extLst>
          </p:cNvPr>
          <p:cNvSpPr txBox="1"/>
          <p:nvPr/>
        </p:nvSpPr>
        <p:spPr>
          <a:xfrm rot="16200000">
            <a:off x="-156780" y="4744173"/>
            <a:ext cx="212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Whole environment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A05DC420-85C6-2028-F33C-4B3354991C65}"/>
              </a:ext>
            </a:extLst>
          </p:cNvPr>
          <p:cNvSpPr txBox="1"/>
          <p:nvPr/>
        </p:nvSpPr>
        <p:spPr>
          <a:xfrm>
            <a:off x="3340602" y="3949382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targets </a:t>
            </a:r>
          </a:p>
        </p:txBody>
      </p: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B407464F-3030-AF72-DCEA-D702E7071904}"/>
              </a:ext>
            </a:extLst>
          </p:cNvPr>
          <p:cNvCxnSpPr/>
          <p:nvPr/>
        </p:nvCxnSpPr>
        <p:spPr>
          <a:xfrm flipH="1">
            <a:off x="3079490" y="4140866"/>
            <a:ext cx="26111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ZoneTexte 47">
            <a:extLst>
              <a:ext uri="{FF2B5EF4-FFF2-40B4-BE49-F238E27FC236}">
                <a16:creationId xmlns:a16="http://schemas.microsoft.com/office/drawing/2014/main" id="{ADDDFD19-7F16-2C3F-D1AE-9E60ABACE898}"/>
              </a:ext>
            </a:extLst>
          </p:cNvPr>
          <p:cNvSpPr txBox="1"/>
          <p:nvPr/>
        </p:nvSpPr>
        <p:spPr>
          <a:xfrm>
            <a:off x="562659" y="3315980"/>
            <a:ext cx="31707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The layers of reproducibility</a:t>
            </a: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C182C59A-A32C-D0DF-FB47-B3FDA21EAC95}"/>
              </a:ext>
            </a:extLst>
          </p:cNvPr>
          <p:cNvSpPr/>
          <p:nvPr/>
        </p:nvSpPr>
        <p:spPr>
          <a:xfrm>
            <a:off x="1025492" y="3852427"/>
            <a:ext cx="3170727" cy="818443"/>
          </a:xfrm>
          <a:prstGeom prst="roundRect">
            <a:avLst>
              <a:gd name="adj" fmla="val 0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319A49EE-103B-BE94-BCF4-BCB1875B1933}"/>
              </a:ext>
            </a:extLst>
          </p:cNvPr>
          <p:cNvSpPr/>
          <p:nvPr/>
        </p:nvSpPr>
        <p:spPr>
          <a:xfrm>
            <a:off x="1025491" y="4763855"/>
            <a:ext cx="4150092" cy="1241398"/>
          </a:xfrm>
          <a:prstGeom prst="roundRect">
            <a:avLst>
              <a:gd name="adj" fmla="val 0"/>
            </a:avLst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38D9CF46-3BA5-F57C-2303-52EB17460962}"/>
              </a:ext>
            </a:extLst>
          </p:cNvPr>
          <p:cNvSpPr txBox="1"/>
          <p:nvPr/>
        </p:nvSpPr>
        <p:spPr>
          <a:xfrm>
            <a:off x="2467628" y="349456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>
                <a:solidFill>
                  <a:schemeClr val="accent2"/>
                </a:solidFill>
              </a:rPr>
              <a:t>Our concern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C522A178-C6B9-9EF5-5849-9183019ABD22}"/>
              </a:ext>
            </a:extLst>
          </p:cNvPr>
          <p:cNvSpPr txBox="1"/>
          <p:nvPr/>
        </p:nvSpPr>
        <p:spPr>
          <a:xfrm>
            <a:off x="3315550" y="5953181"/>
            <a:ext cx="2155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3"/>
                </a:solidFill>
              </a:rPr>
              <a:t>Geek’s concern</a:t>
            </a:r>
          </a:p>
        </p:txBody>
      </p:sp>
    </p:spTree>
    <p:extLst>
      <p:ext uri="{BB962C8B-B14F-4D97-AF65-F5344CB8AC3E}">
        <p14:creationId xmlns:p14="http://schemas.microsoft.com/office/powerpoint/2010/main" val="1622638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1D52A-288D-0D08-DE04-B7075374C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884942CE-A94B-0245-F680-4D2B9CD93C0E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62A9BCDB-CE18-9D9B-E796-CC9BC46BD971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TRACKING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57946291-2D45-F5F1-2700-A3756BA7DDDD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895D6EB3-DE0B-9D72-7C6D-647B811FCF62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BB24D9B6-2178-7C44-C562-76E1A621F22E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659CD8E-CEF9-0225-BD71-684BCD154911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B76BDEE-FFE0-3094-A4D7-7CD145986A78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718A01F-047B-A2F9-3ACB-7935F653CFEB}"/>
              </a:ext>
            </a:extLst>
          </p:cNvPr>
          <p:cNvSpPr txBox="1"/>
          <p:nvPr/>
        </p:nvSpPr>
        <p:spPr>
          <a:xfrm>
            <a:off x="5861299" y="307072"/>
            <a:ext cx="4472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Reproducible R environment - </a:t>
            </a:r>
            <a:r>
              <a:rPr lang="en-GB" sz="2000" b="1" i="1" dirty="0" err="1">
                <a:solidFill>
                  <a:srgbClr val="000000"/>
                </a:solidFill>
                <a:effectLst/>
                <a:latin typeface="Helvetica" pitchFamily="2" charset="0"/>
              </a:rPr>
              <a:t>renv</a:t>
            </a:r>
            <a:endParaRPr lang="en-GB" sz="2000" b="1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9D4F769-8934-7083-6E46-3F72B947DD04}"/>
              </a:ext>
            </a:extLst>
          </p:cNvPr>
          <p:cNvSpPr txBox="1"/>
          <p:nvPr/>
        </p:nvSpPr>
        <p:spPr>
          <a:xfrm>
            <a:off x="4649490" y="1418077"/>
            <a:ext cx="70965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All necessary to execute the code and obtain the same results.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88DABF6D-579F-60A2-0600-0AD80C572754}"/>
              </a:ext>
            </a:extLst>
          </p:cNvPr>
          <p:cNvCxnSpPr/>
          <p:nvPr/>
        </p:nvCxnSpPr>
        <p:spPr>
          <a:xfrm flipH="1">
            <a:off x="4757979" y="707180"/>
            <a:ext cx="3347634" cy="710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1A68B063-1D1B-A842-5051-E34F76469380}"/>
              </a:ext>
            </a:extLst>
          </p:cNvPr>
          <p:cNvCxnSpPr>
            <a:cxnSpLocks/>
          </p:cNvCxnSpPr>
          <p:nvPr/>
        </p:nvCxnSpPr>
        <p:spPr>
          <a:xfrm flipH="1" flipV="1">
            <a:off x="8105613" y="707181"/>
            <a:ext cx="3347634" cy="710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A08FC931-82E4-259A-90AC-D175A158CD33}"/>
              </a:ext>
            </a:extLst>
          </p:cNvPr>
          <p:cNvSpPr txBox="1"/>
          <p:nvPr/>
        </p:nvSpPr>
        <p:spPr>
          <a:xfrm>
            <a:off x="4757979" y="1854914"/>
            <a:ext cx="6462794" cy="21298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 packages</a:t>
            </a:r>
          </a:p>
          <a:p>
            <a:pPr lvl="2"/>
            <a:r>
              <a:rPr lang="en-GB" dirty="0">
                <a:sym typeface="Wingdings" pitchFamily="2" charset="2"/>
              </a:rPr>
              <a:t> Name</a:t>
            </a:r>
          </a:p>
          <a:p>
            <a:pPr marL="1200150" lvl="2" indent="-285750">
              <a:buFont typeface="Wingdings" pitchFamily="2" charset="2"/>
              <a:buChar char="à"/>
            </a:pPr>
            <a:r>
              <a:rPr lang="en-GB" dirty="0">
                <a:sym typeface="Wingdings" pitchFamily="2" charset="2"/>
              </a:rPr>
              <a:t>Version</a:t>
            </a:r>
          </a:p>
          <a:p>
            <a:pPr marL="1200150" lvl="2" indent="-285750">
              <a:buFont typeface="Wingdings" pitchFamily="2" charset="2"/>
              <a:buChar char="à"/>
            </a:pPr>
            <a:r>
              <a:rPr lang="en-GB" dirty="0">
                <a:sym typeface="Wingdings" pitchFamily="2" charset="2"/>
              </a:rPr>
              <a:t>Dependencies</a:t>
            </a:r>
            <a:endParaRPr lang="en-GB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Sources</a:t>
            </a:r>
            <a:r>
              <a:rPr lang="en-GB" dirty="0"/>
              <a:t> (CRAN, Bioconductor, GitHub, etc.)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 version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CDA8F880-F419-C5AB-9625-3AC4571B1E34}"/>
              </a:ext>
            </a:extLst>
          </p:cNvPr>
          <p:cNvGrpSpPr/>
          <p:nvPr/>
        </p:nvGrpSpPr>
        <p:grpSpPr>
          <a:xfrm>
            <a:off x="1113174" y="3826322"/>
            <a:ext cx="4195950" cy="2129878"/>
            <a:chOff x="977299" y="3984792"/>
            <a:chExt cx="4195950" cy="2129878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02CF2FB0-FE00-6C65-7E6A-AE794CBFF00C}"/>
                </a:ext>
              </a:extLst>
            </p:cNvPr>
            <p:cNvSpPr txBox="1"/>
            <p:nvPr/>
          </p:nvSpPr>
          <p:spPr>
            <a:xfrm>
              <a:off x="1029909" y="3984792"/>
              <a:ext cx="1771126" cy="2129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dirty="0"/>
                <a:t>Code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Packages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System libraries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OS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MATERIAL</a:t>
              </a:r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CEE8FC09-24D9-56AE-A372-EC3997BFC66A}"/>
                </a:ext>
              </a:extLst>
            </p:cNvPr>
            <p:cNvSpPr/>
            <p:nvPr/>
          </p:nvSpPr>
          <p:spPr>
            <a:xfrm>
              <a:off x="977299" y="4879443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Rectangle : coins arrondis 18">
              <a:extLst>
                <a:ext uri="{FF2B5EF4-FFF2-40B4-BE49-F238E27FC236}">
                  <a16:creationId xmlns:a16="http://schemas.microsoft.com/office/drawing/2014/main" id="{2159F26F-E469-FC79-E3B3-00C5086856AA}"/>
                </a:ext>
              </a:extLst>
            </p:cNvPr>
            <p:cNvSpPr/>
            <p:nvPr/>
          </p:nvSpPr>
          <p:spPr>
            <a:xfrm>
              <a:off x="977299" y="5280276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0B10CDB0-08E6-F374-AA90-3F615F1ED33A}"/>
                </a:ext>
              </a:extLst>
            </p:cNvPr>
            <p:cNvSpPr/>
            <p:nvPr/>
          </p:nvSpPr>
          <p:spPr>
            <a:xfrm>
              <a:off x="977299" y="5681109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68A009B5-7CC5-6B67-FA45-8D929648E31D}"/>
                </a:ext>
              </a:extLst>
            </p:cNvPr>
            <p:cNvSpPr/>
            <p:nvPr/>
          </p:nvSpPr>
          <p:spPr>
            <a:xfrm>
              <a:off x="977299" y="4478610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9" name="Rectangle : coins arrondis 28">
              <a:extLst>
                <a:ext uri="{FF2B5EF4-FFF2-40B4-BE49-F238E27FC236}">
                  <a16:creationId xmlns:a16="http://schemas.microsoft.com/office/drawing/2014/main" id="{0F77D83A-575A-1CF7-E546-D6F5174F4847}"/>
                </a:ext>
              </a:extLst>
            </p:cNvPr>
            <p:cNvSpPr/>
            <p:nvPr/>
          </p:nvSpPr>
          <p:spPr>
            <a:xfrm>
              <a:off x="977299" y="4077777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B1F6EED0-B3FE-27BC-B84C-BEAB5CF02E73}"/>
                </a:ext>
              </a:extLst>
            </p:cNvPr>
            <p:cNvSpPr txBox="1"/>
            <p:nvPr/>
          </p:nvSpPr>
          <p:spPr>
            <a:xfrm>
              <a:off x="3204728" y="4494360"/>
              <a:ext cx="122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 err="1"/>
                <a:t>renv</a:t>
              </a:r>
              <a:endParaRPr lang="en-GB" b="1" dirty="0"/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0684BAD9-68A3-46F3-D9E5-DB7E106B908B}"/>
                </a:ext>
              </a:extLst>
            </p:cNvPr>
            <p:cNvSpPr txBox="1"/>
            <p:nvPr/>
          </p:nvSpPr>
          <p:spPr>
            <a:xfrm>
              <a:off x="3204728" y="4863692"/>
              <a:ext cx="1968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Conda / Docker</a:t>
              </a:r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53FF0F09-7669-1C14-2C67-EDBD7D007FA7}"/>
                </a:ext>
              </a:extLst>
            </p:cNvPr>
            <p:cNvSpPr txBox="1"/>
            <p:nvPr/>
          </p:nvSpPr>
          <p:spPr>
            <a:xfrm>
              <a:off x="3204727" y="5296026"/>
              <a:ext cx="1968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Docker</a:t>
              </a:r>
            </a:p>
          </p:txBody>
        </p:sp>
        <p:cxnSp>
          <p:nvCxnSpPr>
            <p:cNvPr id="42" name="Connecteur droit avec flèche 41">
              <a:extLst>
                <a:ext uri="{FF2B5EF4-FFF2-40B4-BE49-F238E27FC236}">
                  <a16:creationId xmlns:a16="http://schemas.microsoft.com/office/drawing/2014/main" id="{8EC82CF3-8FE2-A7E1-EA06-364181C4D0E4}"/>
                </a:ext>
              </a:extLst>
            </p:cNvPr>
            <p:cNvCxnSpPr/>
            <p:nvPr/>
          </p:nvCxnSpPr>
          <p:spPr>
            <a:xfrm flipH="1">
              <a:off x="2943616" y="4685844"/>
              <a:ext cx="26111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8847A9C6-4AED-EED7-38DF-26D637B5166F}"/>
                </a:ext>
              </a:extLst>
            </p:cNvPr>
            <p:cNvCxnSpPr/>
            <p:nvPr/>
          </p:nvCxnSpPr>
          <p:spPr>
            <a:xfrm flipH="1">
              <a:off x="2950765" y="5085936"/>
              <a:ext cx="26111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Connecteur droit avec flèche 43">
              <a:extLst>
                <a:ext uri="{FF2B5EF4-FFF2-40B4-BE49-F238E27FC236}">
                  <a16:creationId xmlns:a16="http://schemas.microsoft.com/office/drawing/2014/main" id="{78F5261D-EDD3-86F3-858E-E0C01800EDBF}"/>
                </a:ext>
              </a:extLst>
            </p:cNvPr>
            <p:cNvCxnSpPr/>
            <p:nvPr/>
          </p:nvCxnSpPr>
          <p:spPr>
            <a:xfrm flipH="1">
              <a:off x="2950765" y="5493218"/>
              <a:ext cx="26111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ZoneTexte 44">
            <a:extLst>
              <a:ext uri="{FF2B5EF4-FFF2-40B4-BE49-F238E27FC236}">
                <a16:creationId xmlns:a16="http://schemas.microsoft.com/office/drawing/2014/main" id="{D68053E7-A19E-7A82-0E3A-BE97BD58E190}"/>
              </a:ext>
            </a:extLst>
          </p:cNvPr>
          <p:cNvSpPr txBox="1"/>
          <p:nvPr/>
        </p:nvSpPr>
        <p:spPr>
          <a:xfrm rot="16200000">
            <a:off x="-156780" y="4744173"/>
            <a:ext cx="212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Whole environment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8B6E993E-80D3-567C-A707-1DF5FA027619}"/>
              </a:ext>
            </a:extLst>
          </p:cNvPr>
          <p:cNvSpPr txBox="1"/>
          <p:nvPr/>
        </p:nvSpPr>
        <p:spPr>
          <a:xfrm>
            <a:off x="3340602" y="3949382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targets </a:t>
            </a:r>
          </a:p>
        </p:txBody>
      </p: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C3B5A083-5556-A36F-1A41-35B06A1FB2FF}"/>
              </a:ext>
            </a:extLst>
          </p:cNvPr>
          <p:cNvCxnSpPr/>
          <p:nvPr/>
        </p:nvCxnSpPr>
        <p:spPr>
          <a:xfrm flipH="1">
            <a:off x="3079490" y="4140866"/>
            <a:ext cx="26111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ZoneTexte 47">
            <a:extLst>
              <a:ext uri="{FF2B5EF4-FFF2-40B4-BE49-F238E27FC236}">
                <a16:creationId xmlns:a16="http://schemas.microsoft.com/office/drawing/2014/main" id="{1AEA7C57-C322-33D8-E87F-4ECAF4590E07}"/>
              </a:ext>
            </a:extLst>
          </p:cNvPr>
          <p:cNvSpPr txBox="1"/>
          <p:nvPr/>
        </p:nvSpPr>
        <p:spPr>
          <a:xfrm>
            <a:off x="562659" y="3315980"/>
            <a:ext cx="31707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The layers of reproducibility</a:t>
            </a: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07FE4EE2-3768-C4F7-7F22-4CA95B115666}"/>
              </a:ext>
            </a:extLst>
          </p:cNvPr>
          <p:cNvSpPr/>
          <p:nvPr/>
        </p:nvSpPr>
        <p:spPr>
          <a:xfrm>
            <a:off x="1025492" y="3852427"/>
            <a:ext cx="3170727" cy="818443"/>
          </a:xfrm>
          <a:prstGeom prst="roundRect">
            <a:avLst>
              <a:gd name="adj" fmla="val 0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224F2A37-5B5D-C447-0CED-3FB3F3D9A289}"/>
              </a:ext>
            </a:extLst>
          </p:cNvPr>
          <p:cNvSpPr/>
          <p:nvPr/>
        </p:nvSpPr>
        <p:spPr>
          <a:xfrm>
            <a:off x="1025491" y="4763855"/>
            <a:ext cx="4150092" cy="1241398"/>
          </a:xfrm>
          <a:prstGeom prst="roundRect">
            <a:avLst>
              <a:gd name="adj" fmla="val 0"/>
            </a:avLst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155853D8-BA88-ED0D-450C-FC2C6014DF19}"/>
              </a:ext>
            </a:extLst>
          </p:cNvPr>
          <p:cNvSpPr txBox="1"/>
          <p:nvPr/>
        </p:nvSpPr>
        <p:spPr>
          <a:xfrm>
            <a:off x="2467628" y="349456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>
                <a:solidFill>
                  <a:schemeClr val="accent2"/>
                </a:solidFill>
              </a:rPr>
              <a:t>Our concern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3CCB8CD9-4D20-F15E-E19A-0596E7DD40E2}"/>
              </a:ext>
            </a:extLst>
          </p:cNvPr>
          <p:cNvSpPr txBox="1"/>
          <p:nvPr/>
        </p:nvSpPr>
        <p:spPr>
          <a:xfrm>
            <a:off x="3315550" y="5953181"/>
            <a:ext cx="2155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3"/>
                </a:solidFill>
              </a:rPr>
              <a:t>Geek’s concern</a:t>
            </a:r>
          </a:p>
        </p:txBody>
      </p:sp>
    </p:spTree>
    <p:extLst>
      <p:ext uri="{BB962C8B-B14F-4D97-AF65-F5344CB8AC3E}">
        <p14:creationId xmlns:p14="http://schemas.microsoft.com/office/powerpoint/2010/main" val="3779546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E058D-0F27-4111-FB45-45A6AC5D9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5C487E40-EF73-C3F3-D7CA-A2D75131B9C4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850CC76A-D931-8E38-051C-C9A8CA5F626A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TRACKING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61AE4DFA-E350-C14B-9041-E58401EE8B52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535F4BEA-F48D-7884-01EF-0F9F927DA22A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C2B0D798-CB2B-2013-61A8-F655148F05FC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F3172DF-5C48-AF4A-4741-9358C2913999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FE57EF2-152D-3C73-8EDE-9E6A5400AAF0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2F71B7C-3864-E7E5-AF41-E929AE5934E7}"/>
              </a:ext>
            </a:extLst>
          </p:cNvPr>
          <p:cNvSpPr txBox="1"/>
          <p:nvPr/>
        </p:nvSpPr>
        <p:spPr>
          <a:xfrm>
            <a:off x="5861299" y="307072"/>
            <a:ext cx="4472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Reproducible R environment - </a:t>
            </a:r>
            <a:r>
              <a:rPr lang="en-GB" sz="2000" b="1" i="1" dirty="0" err="1">
                <a:solidFill>
                  <a:srgbClr val="000000"/>
                </a:solidFill>
                <a:effectLst/>
                <a:latin typeface="Helvetica" pitchFamily="2" charset="0"/>
              </a:rPr>
              <a:t>renv</a:t>
            </a:r>
            <a:endParaRPr lang="en-GB" sz="2000" b="1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3CBE626-8F49-D258-57AC-6A996CABE9AF}"/>
              </a:ext>
            </a:extLst>
          </p:cNvPr>
          <p:cNvSpPr txBox="1"/>
          <p:nvPr/>
        </p:nvSpPr>
        <p:spPr>
          <a:xfrm>
            <a:off x="4649490" y="1418077"/>
            <a:ext cx="70965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All necessary to execute the code and obtain the same results.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5ECAD926-3FE0-54E2-9966-262FEDBB1F52}"/>
              </a:ext>
            </a:extLst>
          </p:cNvPr>
          <p:cNvCxnSpPr/>
          <p:nvPr/>
        </p:nvCxnSpPr>
        <p:spPr>
          <a:xfrm flipH="1">
            <a:off x="4757979" y="707180"/>
            <a:ext cx="3347634" cy="710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DB611620-60B1-6B1C-AA06-52A24038F3C6}"/>
              </a:ext>
            </a:extLst>
          </p:cNvPr>
          <p:cNvCxnSpPr>
            <a:cxnSpLocks/>
          </p:cNvCxnSpPr>
          <p:nvPr/>
        </p:nvCxnSpPr>
        <p:spPr>
          <a:xfrm flipH="1" flipV="1">
            <a:off x="8105613" y="707181"/>
            <a:ext cx="3347634" cy="7108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6B0754DE-17D8-061A-E15E-C15A782E3630}"/>
              </a:ext>
            </a:extLst>
          </p:cNvPr>
          <p:cNvSpPr txBox="1"/>
          <p:nvPr/>
        </p:nvSpPr>
        <p:spPr>
          <a:xfrm>
            <a:off x="4757979" y="1854914"/>
            <a:ext cx="6462794" cy="21298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 packages</a:t>
            </a:r>
          </a:p>
          <a:p>
            <a:pPr lvl="2"/>
            <a:r>
              <a:rPr lang="en-GB" dirty="0">
                <a:sym typeface="Wingdings" pitchFamily="2" charset="2"/>
              </a:rPr>
              <a:t> Name</a:t>
            </a:r>
          </a:p>
          <a:p>
            <a:pPr marL="1200150" lvl="2" indent="-285750">
              <a:buFont typeface="Wingdings" pitchFamily="2" charset="2"/>
              <a:buChar char="à"/>
            </a:pPr>
            <a:r>
              <a:rPr lang="en-GB" dirty="0">
                <a:sym typeface="Wingdings" pitchFamily="2" charset="2"/>
              </a:rPr>
              <a:t>Version</a:t>
            </a:r>
          </a:p>
          <a:p>
            <a:pPr marL="1200150" lvl="2" indent="-285750">
              <a:buFont typeface="Wingdings" pitchFamily="2" charset="2"/>
              <a:buChar char="à"/>
            </a:pPr>
            <a:r>
              <a:rPr lang="en-GB" dirty="0">
                <a:sym typeface="Wingdings" pitchFamily="2" charset="2"/>
              </a:rPr>
              <a:t>Dependencies</a:t>
            </a:r>
            <a:endParaRPr lang="en-GB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Sources</a:t>
            </a:r>
            <a:r>
              <a:rPr lang="en-GB" dirty="0"/>
              <a:t> (CRAN, Bioconductor, GitHub, etc.)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 version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8B39DB88-93F5-4C3E-3C20-3C731DDBDDD5}"/>
              </a:ext>
            </a:extLst>
          </p:cNvPr>
          <p:cNvGrpSpPr/>
          <p:nvPr/>
        </p:nvGrpSpPr>
        <p:grpSpPr>
          <a:xfrm>
            <a:off x="1113174" y="3826322"/>
            <a:ext cx="4195950" cy="2129878"/>
            <a:chOff x="977299" y="3984792"/>
            <a:chExt cx="4195950" cy="2129878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DC2DC9E0-0DED-B742-8074-8A7B59ECF92E}"/>
                </a:ext>
              </a:extLst>
            </p:cNvPr>
            <p:cNvSpPr txBox="1"/>
            <p:nvPr/>
          </p:nvSpPr>
          <p:spPr>
            <a:xfrm>
              <a:off x="1029909" y="3984792"/>
              <a:ext cx="1771126" cy="2129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dirty="0"/>
                <a:t>Code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Packages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System libraries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OS</a:t>
              </a:r>
            </a:p>
            <a:p>
              <a:pPr algn="ctr">
                <a:lnSpc>
                  <a:spcPct val="150000"/>
                </a:lnSpc>
              </a:pPr>
              <a:r>
                <a:rPr lang="en-GB" dirty="0"/>
                <a:t>MATERIAL</a:t>
              </a:r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102E70B0-F985-8215-3476-7642148D777B}"/>
                </a:ext>
              </a:extLst>
            </p:cNvPr>
            <p:cNvSpPr/>
            <p:nvPr/>
          </p:nvSpPr>
          <p:spPr>
            <a:xfrm>
              <a:off x="977299" y="4879443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Rectangle : coins arrondis 18">
              <a:extLst>
                <a:ext uri="{FF2B5EF4-FFF2-40B4-BE49-F238E27FC236}">
                  <a16:creationId xmlns:a16="http://schemas.microsoft.com/office/drawing/2014/main" id="{085A0E07-CDC4-E5E9-AF84-16B089C57837}"/>
                </a:ext>
              </a:extLst>
            </p:cNvPr>
            <p:cNvSpPr/>
            <p:nvPr/>
          </p:nvSpPr>
          <p:spPr>
            <a:xfrm>
              <a:off x="977299" y="5280276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35787062-5C8E-08F5-465E-1447A66BECB8}"/>
                </a:ext>
              </a:extLst>
            </p:cNvPr>
            <p:cNvSpPr/>
            <p:nvPr/>
          </p:nvSpPr>
          <p:spPr>
            <a:xfrm>
              <a:off x="977299" y="5681109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25350387-8CAF-BD8B-ECF4-DB93B8F256A3}"/>
                </a:ext>
              </a:extLst>
            </p:cNvPr>
            <p:cNvSpPr/>
            <p:nvPr/>
          </p:nvSpPr>
          <p:spPr>
            <a:xfrm>
              <a:off x="977299" y="4478610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9" name="Rectangle : coins arrondis 28">
              <a:extLst>
                <a:ext uri="{FF2B5EF4-FFF2-40B4-BE49-F238E27FC236}">
                  <a16:creationId xmlns:a16="http://schemas.microsoft.com/office/drawing/2014/main" id="{4CDC80F5-9ADB-2366-4E16-FD6875CDC6A0}"/>
                </a:ext>
              </a:extLst>
            </p:cNvPr>
            <p:cNvSpPr/>
            <p:nvPr/>
          </p:nvSpPr>
          <p:spPr>
            <a:xfrm>
              <a:off x="977299" y="4077777"/>
              <a:ext cx="1876346" cy="400833"/>
            </a:xfrm>
            <a:prstGeom prst="roundRect">
              <a:avLst/>
            </a:prstGeom>
            <a:noFill/>
            <a:ln w="28575"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77A643F7-D5B9-EB0C-8B2B-22D4E9D37294}"/>
                </a:ext>
              </a:extLst>
            </p:cNvPr>
            <p:cNvSpPr txBox="1"/>
            <p:nvPr/>
          </p:nvSpPr>
          <p:spPr>
            <a:xfrm>
              <a:off x="3204728" y="4494360"/>
              <a:ext cx="12275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 err="1"/>
                <a:t>renv</a:t>
              </a:r>
              <a:endParaRPr lang="en-GB" b="1" dirty="0"/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AF6E872B-3441-0008-EF51-2C66BA66810A}"/>
                </a:ext>
              </a:extLst>
            </p:cNvPr>
            <p:cNvSpPr txBox="1"/>
            <p:nvPr/>
          </p:nvSpPr>
          <p:spPr>
            <a:xfrm>
              <a:off x="3204728" y="4863692"/>
              <a:ext cx="1968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Conda / Docker</a:t>
              </a:r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FACF0D22-81AF-9649-6BAB-2B974F867AF6}"/>
                </a:ext>
              </a:extLst>
            </p:cNvPr>
            <p:cNvSpPr txBox="1"/>
            <p:nvPr/>
          </p:nvSpPr>
          <p:spPr>
            <a:xfrm>
              <a:off x="3204727" y="5296026"/>
              <a:ext cx="1968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Docker</a:t>
              </a:r>
            </a:p>
          </p:txBody>
        </p:sp>
        <p:cxnSp>
          <p:nvCxnSpPr>
            <p:cNvPr id="42" name="Connecteur droit avec flèche 41">
              <a:extLst>
                <a:ext uri="{FF2B5EF4-FFF2-40B4-BE49-F238E27FC236}">
                  <a16:creationId xmlns:a16="http://schemas.microsoft.com/office/drawing/2014/main" id="{B847C22C-95D0-1023-08DF-9E4980690ACA}"/>
                </a:ext>
              </a:extLst>
            </p:cNvPr>
            <p:cNvCxnSpPr/>
            <p:nvPr/>
          </p:nvCxnSpPr>
          <p:spPr>
            <a:xfrm flipH="1">
              <a:off x="2943616" y="4685844"/>
              <a:ext cx="26111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44D6C2D4-EAC4-F2A0-32A0-BB91630BD8CD}"/>
                </a:ext>
              </a:extLst>
            </p:cNvPr>
            <p:cNvCxnSpPr/>
            <p:nvPr/>
          </p:nvCxnSpPr>
          <p:spPr>
            <a:xfrm flipH="1">
              <a:off x="2950765" y="5085936"/>
              <a:ext cx="26111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Connecteur droit avec flèche 43">
              <a:extLst>
                <a:ext uri="{FF2B5EF4-FFF2-40B4-BE49-F238E27FC236}">
                  <a16:creationId xmlns:a16="http://schemas.microsoft.com/office/drawing/2014/main" id="{14C2C3FA-743E-D902-06C9-1BC8999585E4}"/>
                </a:ext>
              </a:extLst>
            </p:cNvPr>
            <p:cNvCxnSpPr/>
            <p:nvPr/>
          </p:nvCxnSpPr>
          <p:spPr>
            <a:xfrm flipH="1">
              <a:off x="2950765" y="5493218"/>
              <a:ext cx="26111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ZoneTexte 44">
            <a:extLst>
              <a:ext uri="{FF2B5EF4-FFF2-40B4-BE49-F238E27FC236}">
                <a16:creationId xmlns:a16="http://schemas.microsoft.com/office/drawing/2014/main" id="{1AA557F8-0E1F-7D6E-C1ED-6305B52CA4FD}"/>
              </a:ext>
            </a:extLst>
          </p:cNvPr>
          <p:cNvSpPr txBox="1"/>
          <p:nvPr/>
        </p:nvSpPr>
        <p:spPr>
          <a:xfrm rot="16200000">
            <a:off x="-156780" y="4744173"/>
            <a:ext cx="2129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Whole environment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B4D289DA-6E57-D927-B6FF-C8A1E33FB2D0}"/>
              </a:ext>
            </a:extLst>
          </p:cNvPr>
          <p:cNvSpPr txBox="1"/>
          <p:nvPr/>
        </p:nvSpPr>
        <p:spPr>
          <a:xfrm>
            <a:off x="3340602" y="3949382"/>
            <a:ext cx="1227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targets </a:t>
            </a:r>
          </a:p>
        </p:txBody>
      </p: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B35EE45F-02DE-7DFB-775E-7CC49996DA13}"/>
              </a:ext>
            </a:extLst>
          </p:cNvPr>
          <p:cNvCxnSpPr/>
          <p:nvPr/>
        </p:nvCxnSpPr>
        <p:spPr>
          <a:xfrm flipH="1">
            <a:off x="3079490" y="4140866"/>
            <a:ext cx="26111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ZoneTexte 47">
            <a:extLst>
              <a:ext uri="{FF2B5EF4-FFF2-40B4-BE49-F238E27FC236}">
                <a16:creationId xmlns:a16="http://schemas.microsoft.com/office/drawing/2014/main" id="{681038E7-665B-1CB9-651D-78EA73DE2687}"/>
              </a:ext>
            </a:extLst>
          </p:cNvPr>
          <p:cNvSpPr txBox="1"/>
          <p:nvPr/>
        </p:nvSpPr>
        <p:spPr>
          <a:xfrm>
            <a:off x="562659" y="3315980"/>
            <a:ext cx="31707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The layers of reproducibility</a:t>
            </a: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70FBECF2-15D8-E4B3-1271-A043F94F66A5}"/>
              </a:ext>
            </a:extLst>
          </p:cNvPr>
          <p:cNvSpPr/>
          <p:nvPr/>
        </p:nvSpPr>
        <p:spPr>
          <a:xfrm>
            <a:off x="1025492" y="3852427"/>
            <a:ext cx="3170727" cy="818443"/>
          </a:xfrm>
          <a:prstGeom prst="roundRect">
            <a:avLst>
              <a:gd name="adj" fmla="val 0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0C8394CB-C27B-2E92-10BB-4FBCA1618C4C}"/>
              </a:ext>
            </a:extLst>
          </p:cNvPr>
          <p:cNvSpPr/>
          <p:nvPr/>
        </p:nvSpPr>
        <p:spPr>
          <a:xfrm>
            <a:off x="1025491" y="4763855"/>
            <a:ext cx="4150092" cy="1241398"/>
          </a:xfrm>
          <a:prstGeom prst="roundRect">
            <a:avLst>
              <a:gd name="adj" fmla="val 0"/>
            </a:avLst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FCFCE47B-F021-A7CC-E6E6-517A8BA00AE3}"/>
              </a:ext>
            </a:extLst>
          </p:cNvPr>
          <p:cNvSpPr txBox="1"/>
          <p:nvPr/>
        </p:nvSpPr>
        <p:spPr>
          <a:xfrm>
            <a:off x="2467628" y="349456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>
                <a:solidFill>
                  <a:schemeClr val="accent2"/>
                </a:solidFill>
              </a:rPr>
              <a:t>Our concern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A0739895-7E56-68C9-484F-C6F55DAD6BB1}"/>
              </a:ext>
            </a:extLst>
          </p:cNvPr>
          <p:cNvSpPr txBox="1"/>
          <p:nvPr/>
        </p:nvSpPr>
        <p:spPr>
          <a:xfrm>
            <a:off x="3315550" y="5953181"/>
            <a:ext cx="2155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3"/>
                </a:solidFill>
              </a:rPr>
              <a:t>Geek’s concern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5B59D831-89DD-184D-1D07-41C111C19E3F}"/>
              </a:ext>
            </a:extLst>
          </p:cNvPr>
          <p:cNvSpPr txBox="1"/>
          <p:nvPr/>
        </p:nvSpPr>
        <p:spPr>
          <a:xfrm>
            <a:off x="5736039" y="4435993"/>
            <a:ext cx="4769869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renv</a:t>
            </a:r>
            <a:r>
              <a:rPr lang="fr-FR" dirty="0"/>
              <a:t>::init()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renv</a:t>
            </a:r>
            <a:r>
              <a:rPr lang="fr-FR" dirty="0"/>
              <a:t>::snapshot()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renv</a:t>
            </a:r>
            <a:r>
              <a:rPr lang="fr-FR" dirty="0"/>
              <a:t>::</a:t>
            </a:r>
            <a:r>
              <a:rPr lang="fr-FR" dirty="0" err="1"/>
              <a:t>status</a:t>
            </a:r>
            <a:r>
              <a:rPr lang="fr-FR" dirty="0"/>
              <a:t>()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renv</a:t>
            </a:r>
            <a:r>
              <a:rPr lang="fr-FR" dirty="0"/>
              <a:t>::restore()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1C606FF3-54CE-7734-9AE2-8813852B94E3}"/>
              </a:ext>
            </a:extLst>
          </p:cNvPr>
          <p:cNvCxnSpPr>
            <a:cxnSpLocks/>
          </p:cNvCxnSpPr>
          <p:nvPr/>
        </p:nvCxnSpPr>
        <p:spPr>
          <a:xfrm flipH="1">
            <a:off x="7177589" y="4730338"/>
            <a:ext cx="81178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DB31FBDD-76E0-8EC2-4CE3-95DF9725EF96}"/>
              </a:ext>
            </a:extLst>
          </p:cNvPr>
          <p:cNvSpPr txBox="1"/>
          <p:nvPr/>
        </p:nvSpPr>
        <p:spPr>
          <a:xfrm>
            <a:off x="8008239" y="4527374"/>
            <a:ext cx="32070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Initiate the </a:t>
            </a:r>
            <a:r>
              <a:rPr lang="en-GB" sz="1600" dirty="0" err="1"/>
              <a:t>renv</a:t>
            </a:r>
            <a:r>
              <a:rPr lang="en-GB" sz="1600" dirty="0"/>
              <a:t> environment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C9EABBC-4D90-0F54-E6CD-F3AA4DC63A25}"/>
              </a:ext>
            </a:extLst>
          </p:cNvPr>
          <p:cNvSpPr txBox="1"/>
          <p:nvPr/>
        </p:nvSpPr>
        <p:spPr>
          <a:xfrm>
            <a:off x="8023499" y="4947954"/>
            <a:ext cx="32070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Save the current status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34A1F37-5BAE-B934-8A11-7C38E3030EE7}"/>
              </a:ext>
            </a:extLst>
          </p:cNvPr>
          <p:cNvSpPr txBox="1"/>
          <p:nvPr/>
        </p:nvSpPr>
        <p:spPr>
          <a:xfrm>
            <a:off x="8023498" y="5362826"/>
            <a:ext cx="4327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Compare the current status with </a:t>
            </a:r>
            <a:r>
              <a:rPr lang="en-GB" sz="1600" dirty="0" err="1"/>
              <a:t>renv.lock</a:t>
            </a:r>
            <a:endParaRPr lang="en-GB" sz="16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F8AF4E3-7B4B-9261-0033-521050EC5831}"/>
              </a:ext>
            </a:extLst>
          </p:cNvPr>
          <p:cNvSpPr txBox="1"/>
          <p:nvPr/>
        </p:nvSpPr>
        <p:spPr>
          <a:xfrm>
            <a:off x="8023498" y="5771820"/>
            <a:ext cx="4327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Restore the environment described in  </a:t>
            </a:r>
            <a:r>
              <a:rPr lang="en-GB" sz="1600" dirty="0" err="1"/>
              <a:t>renv.lock</a:t>
            </a:r>
            <a:endParaRPr lang="en-GB" sz="1600" dirty="0"/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849E28AF-4F2F-8521-2DA3-7985ED6EBFFD}"/>
              </a:ext>
            </a:extLst>
          </p:cNvPr>
          <p:cNvCxnSpPr>
            <a:cxnSpLocks/>
          </p:cNvCxnSpPr>
          <p:nvPr/>
        </p:nvCxnSpPr>
        <p:spPr>
          <a:xfrm flipH="1">
            <a:off x="7741085" y="5114818"/>
            <a:ext cx="28241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3E5069FD-7E07-46C4-1229-46A85D49DFD2}"/>
              </a:ext>
            </a:extLst>
          </p:cNvPr>
          <p:cNvCxnSpPr>
            <a:cxnSpLocks/>
          </p:cNvCxnSpPr>
          <p:nvPr/>
        </p:nvCxnSpPr>
        <p:spPr>
          <a:xfrm flipH="1">
            <a:off x="7452986" y="5532103"/>
            <a:ext cx="58854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C48E4FCF-30DC-934D-B14D-31ED78B9B1C3}"/>
              </a:ext>
            </a:extLst>
          </p:cNvPr>
          <p:cNvCxnSpPr>
            <a:cxnSpLocks/>
          </p:cNvCxnSpPr>
          <p:nvPr/>
        </p:nvCxnSpPr>
        <p:spPr>
          <a:xfrm flipH="1">
            <a:off x="7583482" y="5943675"/>
            <a:ext cx="45804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756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3F6A9-D68E-DFE1-D6C4-9CEC052E8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11C1A8C-D613-65D5-1B18-48BEC6F87417}"/>
              </a:ext>
            </a:extLst>
          </p:cNvPr>
          <p:cNvSpPr/>
          <p:nvPr/>
        </p:nvSpPr>
        <p:spPr>
          <a:xfrm>
            <a:off x="3730672" y="1149264"/>
            <a:ext cx="3394553" cy="2279737"/>
          </a:xfrm>
          <a:prstGeom prst="roundRect">
            <a:avLst/>
          </a:prstGeom>
          <a:solidFill>
            <a:srgbClr val="E7A1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ARCHITECTURE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E632C24-3EAE-E61E-8D92-34C5536C0818}"/>
              </a:ext>
            </a:extLst>
          </p:cNvPr>
          <p:cNvSpPr/>
          <p:nvPr/>
        </p:nvSpPr>
        <p:spPr>
          <a:xfrm>
            <a:off x="7300589" y="1149263"/>
            <a:ext cx="3394554" cy="2279737"/>
          </a:xfrm>
          <a:prstGeom prst="roundRect">
            <a:avLst/>
          </a:prstGeom>
          <a:solidFill>
            <a:srgbClr val="C6C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IMPLEMENTATION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73198668-BBB1-53BC-459B-34712BFA6F6B}"/>
              </a:ext>
            </a:extLst>
          </p:cNvPr>
          <p:cNvSpPr/>
          <p:nvPr/>
        </p:nvSpPr>
        <p:spPr>
          <a:xfrm>
            <a:off x="3730671" y="3581400"/>
            <a:ext cx="3394554" cy="2279737"/>
          </a:xfrm>
          <a:prstGeom prst="roundRect">
            <a:avLst/>
          </a:prstGeom>
          <a:solidFill>
            <a:srgbClr val="D8A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TRACKING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3623A34-92AE-5E21-F247-AB7B87E1D2A1}"/>
              </a:ext>
            </a:extLst>
          </p:cNvPr>
          <p:cNvSpPr/>
          <p:nvPr/>
        </p:nvSpPr>
        <p:spPr>
          <a:xfrm>
            <a:off x="7300588" y="3581400"/>
            <a:ext cx="3394554" cy="2279737"/>
          </a:xfrm>
          <a:prstGeom prst="roundRect">
            <a:avLst/>
          </a:prstGeom>
          <a:solidFill>
            <a:srgbClr val="7394D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SHARING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9091489-5CD1-A95D-5DA2-D557825EE98E}"/>
              </a:ext>
            </a:extLst>
          </p:cNvPr>
          <p:cNvSpPr txBox="1"/>
          <p:nvPr/>
        </p:nvSpPr>
        <p:spPr>
          <a:xfrm>
            <a:off x="263045" y="2890391"/>
            <a:ext cx="29436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The 4 pillars of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3730157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E33F0-661F-F189-8446-6D12E4374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1021EAA7-DBFC-E85D-55E5-6BC67D536212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CA4EF7F1-7CE0-DDA8-3130-9481F8A5341B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E432330E-4255-CC17-8E38-AE7EB2E9E46D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294A82FA-1692-746E-19AD-128D532277E6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D46B62FA-A652-DB74-6F9B-DDCBDB8EA0AB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656A6E1-680D-93E8-3E52-293CD4E87833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32CFC1A5-1930-5B2A-A182-FB92A3FB2615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AD5B56F-1244-2D0C-9C72-F919C46F00F6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Rendering tools: R markdown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42D0B985-8F6B-0F3C-B7F1-979B98A636B8}"/>
              </a:ext>
            </a:extLst>
          </p:cNvPr>
          <p:cNvGrpSpPr/>
          <p:nvPr/>
        </p:nvGrpSpPr>
        <p:grpSpPr>
          <a:xfrm>
            <a:off x="275469" y="3169377"/>
            <a:ext cx="3745107" cy="3492500"/>
            <a:chOff x="275469" y="3169377"/>
            <a:chExt cx="3745107" cy="3492500"/>
          </a:xfrm>
        </p:grpSpPr>
        <p:grpSp>
          <p:nvGrpSpPr>
            <p:cNvPr id="19" name="Groupe 18">
              <a:extLst>
                <a:ext uri="{FF2B5EF4-FFF2-40B4-BE49-F238E27FC236}">
                  <a16:creationId xmlns:a16="http://schemas.microsoft.com/office/drawing/2014/main" id="{E770B73F-9382-907B-062D-19643DC9F075}"/>
                </a:ext>
              </a:extLst>
            </p:cNvPr>
            <p:cNvGrpSpPr/>
            <p:nvPr/>
          </p:nvGrpSpPr>
          <p:grpSpPr>
            <a:xfrm>
              <a:off x="275469" y="3169377"/>
              <a:ext cx="3745107" cy="3492500"/>
              <a:chOff x="4350885" y="842668"/>
              <a:chExt cx="3745107" cy="3492500"/>
            </a:xfrm>
          </p:grpSpPr>
          <p:pic>
            <p:nvPicPr>
              <p:cNvPr id="21" name="Image 20" descr="Une image contenant texte, capture d’écran, Dessin animé, Animation&#10;&#10;Le contenu généré par l’IA peut être incorrect.">
                <a:extLst>
                  <a:ext uri="{FF2B5EF4-FFF2-40B4-BE49-F238E27FC236}">
                    <a16:creationId xmlns:a16="http://schemas.microsoft.com/office/drawing/2014/main" id="{56225ECC-CAD2-21FD-0B91-FB307CEEE7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50097"/>
              <a:stretch>
                <a:fillRect/>
              </a:stretch>
            </p:blipFill>
            <p:spPr>
              <a:xfrm>
                <a:off x="4350885" y="842668"/>
                <a:ext cx="1742845" cy="3492500"/>
              </a:xfrm>
              <a:prstGeom prst="rect">
                <a:avLst/>
              </a:prstGeom>
            </p:spPr>
          </p:pic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60601EE8-95B5-8E1C-DD66-4E731305248D}"/>
                  </a:ext>
                </a:extLst>
              </p:cNvPr>
              <p:cNvSpPr txBox="1"/>
              <p:nvPr/>
            </p:nvSpPr>
            <p:spPr>
              <a:xfrm>
                <a:off x="6106256" y="1097017"/>
                <a:ext cx="197768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/>
                  <a:t>Using Base R for your analysis and copy pasting the results into word</a:t>
                </a:r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21B0F7D7-B985-561B-9B2A-50F9FE1BC232}"/>
                  </a:ext>
                </a:extLst>
              </p:cNvPr>
              <p:cNvSpPr txBox="1"/>
              <p:nvPr/>
            </p:nvSpPr>
            <p:spPr>
              <a:xfrm>
                <a:off x="6096665" y="3334891"/>
                <a:ext cx="197768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/>
                  <a:t>Coupling </a:t>
                </a:r>
                <a:r>
                  <a:rPr lang="en-GB" sz="1200" b="1" dirty="0" err="1"/>
                  <a:t>rmarkdown</a:t>
                </a:r>
                <a:r>
                  <a:rPr lang="en-GB" sz="1200" b="1" dirty="0"/>
                  <a:t>/quarto with automation tools like </a:t>
                </a:r>
                <a:r>
                  <a:rPr lang="en-GB" sz="1200" b="1" dirty="0" err="1"/>
                  <a:t>renv</a:t>
                </a:r>
                <a:r>
                  <a:rPr lang="en-GB" sz="1200" b="1" dirty="0"/>
                  <a:t> and targets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CAEA4CD-2113-A291-7C4B-56969872B572}"/>
                  </a:ext>
                </a:extLst>
              </p:cNvPr>
              <p:cNvSpPr/>
              <p:nvPr/>
            </p:nvSpPr>
            <p:spPr>
              <a:xfrm>
                <a:off x="6093730" y="867720"/>
                <a:ext cx="2002262" cy="114897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5369DAC-4767-A93D-7465-974A52906946}"/>
                  </a:ext>
                </a:extLst>
              </p:cNvPr>
              <p:cNvSpPr/>
              <p:nvPr/>
            </p:nvSpPr>
            <p:spPr>
              <a:xfrm>
                <a:off x="6093730" y="2014433"/>
                <a:ext cx="2002262" cy="114897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F0EF31C-7AAA-B7B9-8631-0BEDEFEA888C}"/>
                  </a:ext>
                </a:extLst>
              </p:cNvPr>
              <p:cNvSpPr/>
              <p:nvPr/>
            </p:nvSpPr>
            <p:spPr>
              <a:xfrm>
                <a:off x="6093730" y="3163403"/>
                <a:ext cx="2002262" cy="114897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DC1FD5CC-7E1A-0FDB-DE63-908B9334D927}"/>
                </a:ext>
              </a:extLst>
            </p:cNvPr>
            <p:cNvSpPr txBox="1"/>
            <p:nvPr/>
          </p:nvSpPr>
          <p:spPr>
            <a:xfrm>
              <a:off x="2042891" y="4439328"/>
              <a:ext cx="19776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/>
                <a:t>Using </a:t>
              </a:r>
              <a:r>
                <a:rPr lang="en-GB" sz="1200" b="1" dirty="0" err="1"/>
                <a:t>dplyr</a:t>
              </a:r>
              <a:r>
                <a:rPr lang="en-GB" sz="1200" b="1" dirty="0"/>
                <a:t>, ggplot2, specific packages and reporting analyses in </a:t>
              </a:r>
              <a:r>
                <a:rPr lang="en-GB" sz="1200" b="1" dirty="0" err="1"/>
                <a:t>rmarkdown</a:t>
              </a:r>
              <a:r>
                <a:rPr lang="en-GB" sz="1200" b="1" dirty="0"/>
                <a:t>/quarto docs.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1294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7A9A3-28F4-3D99-2678-4C9A672FC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8F515F2D-FFD7-F763-7493-6978B62F7314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11B50799-6563-0B54-0E38-D9EC0FC1769E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BC10A92B-A102-4F79-C065-85F2039C509B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932EAE2B-B62A-CC92-1629-AF2B60F9ED64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78AD1155-94CF-D1FC-57E5-C5E3D090AEB3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295F065-05A0-6EF9-1D32-A61F85AF9913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867C4CC-C1A4-DB5F-0040-9E9E8AAA25CC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39814C3-5444-0CFB-1A87-AFCC09331A39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Rendering tools: R markdown</a:t>
            </a:r>
          </a:p>
        </p:txBody>
      </p:sp>
      <p:pic>
        <p:nvPicPr>
          <p:cNvPr id="31" name="Image 30" descr="microsoft word icon logo symbol 27179344 PNG">
            <a:extLst>
              <a:ext uri="{FF2B5EF4-FFF2-40B4-BE49-F238E27FC236}">
                <a16:creationId xmlns:a16="http://schemas.microsoft.com/office/drawing/2014/main" id="{0115E9E6-440E-CBF8-7C66-F33A0C6C8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447" y="878978"/>
            <a:ext cx="1754222" cy="1754222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BA468FEF-DFF1-FA2F-546E-D806DBB16894}"/>
              </a:ext>
            </a:extLst>
          </p:cNvPr>
          <p:cNvSpPr txBox="1"/>
          <p:nvPr/>
        </p:nvSpPr>
        <p:spPr>
          <a:xfrm>
            <a:off x="5341447" y="2275912"/>
            <a:ext cx="2002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dirty="0">
                <a:solidFill>
                  <a:srgbClr val="000000"/>
                </a:solidFill>
                <a:effectLst/>
                <a:latin typeface="Helvetica" pitchFamily="2" charset="0"/>
              </a:rPr>
              <a:t>WYSIWYG</a:t>
            </a:r>
          </a:p>
        </p:txBody>
      </p:sp>
      <p:pic>
        <p:nvPicPr>
          <p:cNvPr id="39" name="Image 38" descr="Une image contenant texte, capture d’écran, Police, circuit&#10;&#10;Le contenu généré par l’IA peut être incorrect.">
            <a:extLst>
              <a:ext uri="{FF2B5EF4-FFF2-40B4-BE49-F238E27FC236}">
                <a16:creationId xmlns:a16="http://schemas.microsoft.com/office/drawing/2014/main" id="{68DD1006-B9AE-5715-C5CE-50201655C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773" y="2734107"/>
            <a:ext cx="3593375" cy="1229175"/>
          </a:xfrm>
          <a:prstGeom prst="rect">
            <a:avLst/>
          </a:prstGeom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1E7C4D80-9F2C-0A9B-A75D-6E5607AEADD6}"/>
              </a:ext>
            </a:extLst>
          </p:cNvPr>
          <p:cNvGrpSpPr/>
          <p:nvPr/>
        </p:nvGrpSpPr>
        <p:grpSpPr>
          <a:xfrm>
            <a:off x="275469" y="3169377"/>
            <a:ext cx="3745107" cy="3492500"/>
            <a:chOff x="275469" y="3169377"/>
            <a:chExt cx="3745107" cy="3492500"/>
          </a:xfrm>
        </p:grpSpPr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150EFA43-F016-4CFA-CBAC-8637BBB3FD86}"/>
                </a:ext>
              </a:extLst>
            </p:cNvPr>
            <p:cNvGrpSpPr/>
            <p:nvPr/>
          </p:nvGrpSpPr>
          <p:grpSpPr>
            <a:xfrm>
              <a:off x="275469" y="3169377"/>
              <a:ext cx="3745107" cy="3492500"/>
              <a:chOff x="4350885" y="842668"/>
              <a:chExt cx="3745107" cy="3492500"/>
            </a:xfrm>
          </p:grpSpPr>
          <p:pic>
            <p:nvPicPr>
              <p:cNvPr id="23" name="Image 22" descr="Une image contenant texte, capture d’écran, Dessin animé, Animation&#10;&#10;Le contenu généré par l’IA peut être incorrect.">
                <a:extLst>
                  <a:ext uri="{FF2B5EF4-FFF2-40B4-BE49-F238E27FC236}">
                    <a16:creationId xmlns:a16="http://schemas.microsoft.com/office/drawing/2014/main" id="{E7E90BB3-9205-4FE8-0300-687CC5FC9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50097"/>
              <a:stretch>
                <a:fillRect/>
              </a:stretch>
            </p:blipFill>
            <p:spPr>
              <a:xfrm>
                <a:off x="4350885" y="842668"/>
                <a:ext cx="1742845" cy="3492500"/>
              </a:xfrm>
              <a:prstGeom prst="rect">
                <a:avLst/>
              </a:prstGeom>
            </p:spPr>
          </p:pic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A8467B58-62B6-F578-1939-28A9F60F48E4}"/>
                  </a:ext>
                </a:extLst>
              </p:cNvPr>
              <p:cNvSpPr txBox="1"/>
              <p:nvPr/>
            </p:nvSpPr>
            <p:spPr>
              <a:xfrm>
                <a:off x="6106256" y="1097017"/>
                <a:ext cx="197768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/>
                  <a:t>Using Base R for your analysis and copy pasting the results into word</a:t>
                </a:r>
              </a:p>
            </p:txBody>
          </p:sp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B56BDA8E-6381-1527-703C-27681C2012C4}"/>
                  </a:ext>
                </a:extLst>
              </p:cNvPr>
              <p:cNvSpPr txBox="1"/>
              <p:nvPr/>
            </p:nvSpPr>
            <p:spPr>
              <a:xfrm>
                <a:off x="6096665" y="3334891"/>
                <a:ext cx="197768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/>
                  <a:t>Coupling </a:t>
                </a:r>
                <a:r>
                  <a:rPr lang="en-GB" sz="1200" b="1" dirty="0" err="1"/>
                  <a:t>rmarkdown</a:t>
                </a:r>
                <a:r>
                  <a:rPr lang="en-GB" sz="1200" b="1" dirty="0"/>
                  <a:t>/quarto with automation tools like </a:t>
                </a:r>
                <a:r>
                  <a:rPr lang="en-GB" sz="1200" b="1" dirty="0" err="1"/>
                  <a:t>renv</a:t>
                </a:r>
                <a:r>
                  <a:rPr lang="en-GB" sz="1200" b="1" dirty="0"/>
                  <a:t> and targets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7CFE832-929E-FA33-48AF-03A4B9701736}"/>
                  </a:ext>
                </a:extLst>
              </p:cNvPr>
              <p:cNvSpPr/>
              <p:nvPr/>
            </p:nvSpPr>
            <p:spPr>
              <a:xfrm>
                <a:off x="6093730" y="867720"/>
                <a:ext cx="2002262" cy="114897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6994D11-F694-B427-CE85-41BE55C0362A}"/>
                  </a:ext>
                </a:extLst>
              </p:cNvPr>
              <p:cNvSpPr/>
              <p:nvPr/>
            </p:nvSpPr>
            <p:spPr>
              <a:xfrm>
                <a:off x="6093730" y="2014433"/>
                <a:ext cx="2002262" cy="114897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A286C04-AE75-57D5-355D-6C98B3711F9E}"/>
                  </a:ext>
                </a:extLst>
              </p:cNvPr>
              <p:cNvSpPr/>
              <p:nvPr/>
            </p:nvSpPr>
            <p:spPr>
              <a:xfrm>
                <a:off x="6093730" y="3163403"/>
                <a:ext cx="2002262" cy="114897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B54491F3-30D5-ED80-DC94-71337469EC35}"/>
                </a:ext>
              </a:extLst>
            </p:cNvPr>
            <p:cNvSpPr txBox="1"/>
            <p:nvPr/>
          </p:nvSpPr>
          <p:spPr>
            <a:xfrm>
              <a:off x="2042891" y="4439328"/>
              <a:ext cx="19776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/>
                <a:t>Using </a:t>
              </a:r>
              <a:r>
                <a:rPr lang="en-GB" sz="1200" b="1" dirty="0" err="1"/>
                <a:t>dplyr</a:t>
              </a:r>
              <a:r>
                <a:rPr lang="en-GB" sz="1200" b="1" dirty="0"/>
                <a:t>, ggplot2, specific packages and reporting analyses in </a:t>
              </a:r>
              <a:r>
                <a:rPr lang="en-GB" sz="1200" b="1" dirty="0" err="1"/>
                <a:t>rmarkdown</a:t>
              </a:r>
              <a:r>
                <a:rPr lang="en-GB" sz="1200" b="1" dirty="0"/>
                <a:t>/quarto docs.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81478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C6432-6196-2CE2-1C18-C0359E7CF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80D12A70-6CA4-ECE6-3850-DA90E51527BF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BF050364-6D46-5BE0-F7DB-6D2A9E74A7EB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E16BF38E-A73E-A51A-5ECB-FC989C9469DA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DD75D74F-CC6C-606C-B618-E9CD0C878DDC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F8E93B55-7647-F302-248B-AA34A68A7162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7AF5795-1111-7608-EB42-C844FE4ADC26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0121DB7-B00E-2A34-A92F-DD66D84C8EB0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B29BAF6-9584-7902-007B-81965E566AF5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Rendering tools: R markdown</a:t>
            </a:r>
          </a:p>
        </p:txBody>
      </p:sp>
      <p:pic>
        <p:nvPicPr>
          <p:cNvPr id="31" name="Image 30" descr="microsoft word icon logo symbol 27179344 PNG">
            <a:extLst>
              <a:ext uri="{FF2B5EF4-FFF2-40B4-BE49-F238E27FC236}">
                <a16:creationId xmlns:a16="http://schemas.microsoft.com/office/drawing/2014/main" id="{40E36678-B998-4197-0665-4EB36246A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447" y="878978"/>
            <a:ext cx="1754222" cy="1754222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07541B7D-834C-E379-C6EB-FFB9C85781E8}"/>
              </a:ext>
            </a:extLst>
          </p:cNvPr>
          <p:cNvSpPr txBox="1"/>
          <p:nvPr/>
        </p:nvSpPr>
        <p:spPr>
          <a:xfrm>
            <a:off x="5341447" y="2275912"/>
            <a:ext cx="2002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dirty="0">
                <a:solidFill>
                  <a:srgbClr val="000000"/>
                </a:solidFill>
                <a:effectLst/>
                <a:latin typeface="Helvetica" pitchFamily="2" charset="0"/>
              </a:rPr>
              <a:t>WYSIWYG</a:t>
            </a:r>
          </a:p>
        </p:txBody>
      </p:sp>
      <p:pic>
        <p:nvPicPr>
          <p:cNvPr id="34" name="Image 33" descr="rmarkdown :: Cheatsheet">
            <a:extLst>
              <a:ext uri="{FF2B5EF4-FFF2-40B4-BE49-F238E27FC236}">
                <a16:creationId xmlns:a16="http://schemas.microsoft.com/office/drawing/2014/main" id="{5494B860-0CEC-5D95-414A-4DCC2FB17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0445" y="1009422"/>
            <a:ext cx="1093940" cy="1263757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64DE4089-CCC2-CCAF-1F23-07FEBD211C9F}"/>
              </a:ext>
            </a:extLst>
          </p:cNvPr>
          <p:cNvSpPr txBox="1"/>
          <p:nvPr/>
        </p:nvSpPr>
        <p:spPr>
          <a:xfrm>
            <a:off x="9123118" y="2275912"/>
            <a:ext cx="2002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dirty="0">
                <a:solidFill>
                  <a:srgbClr val="000000"/>
                </a:solidFill>
                <a:effectLst/>
                <a:latin typeface="Helvetica" pitchFamily="2" charset="0"/>
              </a:rPr>
              <a:t>WYSIWYM</a:t>
            </a:r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8F6483D6-3E5A-63E0-51BE-EFAD5094673C}"/>
              </a:ext>
            </a:extLst>
          </p:cNvPr>
          <p:cNvCxnSpPr>
            <a:cxnSpLocks/>
          </p:cNvCxnSpPr>
          <p:nvPr/>
        </p:nvCxnSpPr>
        <p:spPr>
          <a:xfrm>
            <a:off x="7189940" y="1756089"/>
            <a:ext cx="17287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9" name="Image 38" descr="Une image contenant texte, capture d’écran, Police, circuit&#10;&#10;Le contenu généré par l’IA peut être incorrect.">
            <a:extLst>
              <a:ext uri="{FF2B5EF4-FFF2-40B4-BE49-F238E27FC236}">
                <a16:creationId xmlns:a16="http://schemas.microsoft.com/office/drawing/2014/main" id="{585B1AEC-3DE7-E0D2-E96B-B12269127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773" y="2734107"/>
            <a:ext cx="3593375" cy="1229175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24FE0AC7-841F-42C4-E185-DA7D3E4ED590}"/>
              </a:ext>
            </a:extLst>
          </p:cNvPr>
          <p:cNvSpPr txBox="1"/>
          <p:nvPr/>
        </p:nvSpPr>
        <p:spPr>
          <a:xfrm>
            <a:off x="8540065" y="4070057"/>
            <a:ext cx="3242187" cy="584775"/>
          </a:xfrm>
          <a:prstGeom prst="rect">
            <a:avLst/>
          </a:prstGeom>
          <a:solidFill>
            <a:srgbClr val="7394D6">
              <a:alpha val="59616"/>
            </a:srgb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600" b="1" dirty="0">
                <a:solidFill>
                  <a:srgbClr val="000000"/>
                </a:solidFill>
                <a:effectLst/>
                <a:latin typeface="Helvetica" pitchFamily="2" charset="0"/>
              </a:rPr>
              <a:t>mark-up language</a:t>
            </a:r>
            <a:r>
              <a:rPr lang="en-GB" sz="1600" dirty="0">
                <a:solidFill>
                  <a:srgbClr val="000000"/>
                </a:solidFill>
                <a:effectLst/>
                <a:latin typeface="Helvetica" pitchFamily="2" charset="0"/>
              </a:rPr>
              <a:t> enabling to separate content and form.</a:t>
            </a:r>
          </a:p>
        </p:txBody>
      </p:sp>
      <p:pic>
        <p:nvPicPr>
          <p:cNvPr id="21" name="Image 20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22093C85-685E-5D8F-7206-88F01022B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067" y="2734107"/>
            <a:ext cx="3242186" cy="1132115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F0C4096-8B96-FADE-5996-AB2A08A4307E}"/>
              </a:ext>
            </a:extLst>
          </p:cNvPr>
          <p:cNvSpPr txBox="1"/>
          <p:nvPr/>
        </p:nvSpPr>
        <p:spPr>
          <a:xfrm>
            <a:off x="8540065" y="4753282"/>
            <a:ext cx="3242187" cy="584775"/>
          </a:xfrm>
          <a:prstGeom prst="rect">
            <a:avLst/>
          </a:prstGeom>
          <a:solidFill>
            <a:srgbClr val="7394D6">
              <a:alpha val="82000"/>
            </a:srgb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Helvetica" pitchFamily="2" charset="0"/>
              </a:rPr>
              <a:t>Integrate </a:t>
            </a:r>
            <a:r>
              <a:rPr lang="en-GB" sz="1600" b="1" dirty="0">
                <a:solidFill>
                  <a:srgbClr val="000000"/>
                </a:solidFill>
                <a:effectLst/>
                <a:latin typeface="Helvetica" pitchFamily="2" charset="0"/>
              </a:rPr>
              <a:t>active code </a:t>
            </a:r>
            <a:r>
              <a:rPr lang="en-GB" sz="1600" dirty="0">
                <a:solidFill>
                  <a:srgbClr val="000000"/>
                </a:solidFill>
                <a:effectLst/>
                <a:latin typeface="Helvetica" pitchFamily="2" charset="0"/>
              </a:rPr>
              <a:t>in the document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4126882-AE9C-77A6-B145-2CD220956D20}"/>
              </a:ext>
            </a:extLst>
          </p:cNvPr>
          <p:cNvSpPr txBox="1"/>
          <p:nvPr/>
        </p:nvSpPr>
        <p:spPr>
          <a:xfrm>
            <a:off x="8540065" y="5436507"/>
            <a:ext cx="3242187" cy="338554"/>
          </a:xfrm>
          <a:prstGeom prst="rect">
            <a:avLst/>
          </a:prstGeom>
          <a:solidFill>
            <a:srgbClr val="7394D6"/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600" dirty="0">
                <a:solidFill>
                  <a:srgbClr val="000000"/>
                </a:solidFill>
                <a:effectLst/>
                <a:latin typeface="Helvetica" pitchFamily="2" charset="0"/>
              </a:rPr>
              <a:t>Directly linked to your R scripts</a:t>
            </a:r>
          </a:p>
        </p:txBody>
      </p:sp>
      <p:pic>
        <p:nvPicPr>
          <p:cNvPr id="5" name="Image 4" descr="Publish and Share with Quarto :: Cheatsheet">
            <a:extLst>
              <a:ext uri="{FF2B5EF4-FFF2-40B4-BE49-F238E27FC236}">
                <a16:creationId xmlns:a16="http://schemas.microsoft.com/office/drawing/2014/main" id="{4241D076-87DC-EC24-8039-FFA824ED2F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499" y="1009422"/>
            <a:ext cx="1098919" cy="1263757"/>
          </a:xfrm>
          <a:prstGeom prst="rect">
            <a:avLst/>
          </a:prstGeom>
        </p:spPr>
      </p:pic>
      <p:grpSp>
        <p:nvGrpSpPr>
          <p:cNvPr id="24" name="Groupe 23">
            <a:extLst>
              <a:ext uri="{FF2B5EF4-FFF2-40B4-BE49-F238E27FC236}">
                <a16:creationId xmlns:a16="http://schemas.microsoft.com/office/drawing/2014/main" id="{054870F9-5B19-D776-EE85-C77DB2845A70}"/>
              </a:ext>
            </a:extLst>
          </p:cNvPr>
          <p:cNvGrpSpPr/>
          <p:nvPr/>
        </p:nvGrpSpPr>
        <p:grpSpPr>
          <a:xfrm>
            <a:off x="275469" y="3169377"/>
            <a:ext cx="3745107" cy="3492500"/>
            <a:chOff x="275469" y="3169377"/>
            <a:chExt cx="3745107" cy="3492500"/>
          </a:xfrm>
        </p:grpSpPr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8E376279-9169-274B-3563-945BD8C1436E}"/>
                </a:ext>
              </a:extLst>
            </p:cNvPr>
            <p:cNvGrpSpPr/>
            <p:nvPr/>
          </p:nvGrpSpPr>
          <p:grpSpPr>
            <a:xfrm>
              <a:off x="275469" y="3169377"/>
              <a:ext cx="3745107" cy="3492500"/>
              <a:chOff x="4350885" y="842668"/>
              <a:chExt cx="3745107" cy="3492500"/>
            </a:xfrm>
          </p:grpSpPr>
          <p:pic>
            <p:nvPicPr>
              <p:cNvPr id="27" name="Image 26" descr="Une image contenant texte, capture d’écran, Dessin animé, Animation&#10;&#10;Le contenu généré par l’IA peut être incorrect.">
                <a:extLst>
                  <a:ext uri="{FF2B5EF4-FFF2-40B4-BE49-F238E27FC236}">
                    <a16:creationId xmlns:a16="http://schemas.microsoft.com/office/drawing/2014/main" id="{B364C4D1-E21C-4D07-C1E4-2FB8279C08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r="50097"/>
              <a:stretch>
                <a:fillRect/>
              </a:stretch>
            </p:blipFill>
            <p:spPr>
              <a:xfrm>
                <a:off x="4350885" y="842668"/>
                <a:ext cx="1742845" cy="3492500"/>
              </a:xfrm>
              <a:prstGeom prst="rect">
                <a:avLst/>
              </a:prstGeom>
            </p:spPr>
          </p:pic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896697E1-8B64-2504-FBD0-EADB58670590}"/>
                  </a:ext>
                </a:extLst>
              </p:cNvPr>
              <p:cNvSpPr txBox="1"/>
              <p:nvPr/>
            </p:nvSpPr>
            <p:spPr>
              <a:xfrm>
                <a:off x="6106256" y="1097017"/>
                <a:ext cx="197768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/>
                  <a:t>Using Base R for your analysis and copy pasting the results into word</a:t>
                </a:r>
              </a:p>
            </p:txBody>
          </p:sp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EDD26F64-992C-1C1E-90A8-A962CBE9C721}"/>
                  </a:ext>
                </a:extLst>
              </p:cNvPr>
              <p:cNvSpPr txBox="1"/>
              <p:nvPr/>
            </p:nvSpPr>
            <p:spPr>
              <a:xfrm>
                <a:off x="6096665" y="3334891"/>
                <a:ext cx="197768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/>
                  <a:t>Coupling </a:t>
                </a:r>
                <a:r>
                  <a:rPr lang="en-GB" sz="1200" b="1" dirty="0" err="1"/>
                  <a:t>rmarkdown</a:t>
                </a:r>
                <a:r>
                  <a:rPr lang="en-GB" sz="1200" b="1" dirty="0"/>
                  <a:t>/quarto with automation tools like </a:t>
                </a:r>
                <a:r>
                  <a:rPr lang="en-GB" sz="1200" b="1" dirty="0" err="1"/>
                  <a:t>renv</a:t>
                </a:r>
                <a:r>
                  <a:rPr lang="en-GB" sz="1200" b="1" dirty="0"/>
                  <a:t> and targets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32EC80F-9D9C-6BD8-DE3B-727DDA5DB35B}"/>
                  </a:ext>
                </a:extLst>
              </p:cNvPr>
              <p:cNvSpPr/>
              <p:nvPr/>
            </p:nvSpPr>
            <p:spPr>
              <a:xfrm>
                <a:off x="6093730" y="867720"/>
                <a:ext cx="2002262" cy="114897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9FCD7BA-849B-90B2-DE0F-58659A9E3072}"/>
                  </a:ext>
                </a:extLst>
              </p:cNvPr>
              <p:cNvSpPr/>
              <p:nvPr/>
            </p:nvSpPr>
            <p:spPr>
              <a:xfrm>
                <a:off x="6093730" y="2014433"/>
                <a:ext cx="2002262" cy="114897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4605052-2E9B-5FAE-CFF4-AA0BA54DF706}"/>
                  </a:ext>
                </a:extLst>
              </p:cNvPr>
              <p:cNvSpPr/>
              <p:nvPr/>
            </p:nvSpPr>
            <p:spPr>
              <a:xfrm>
                <a:off x="6093730" y="3163403"/>
                <a:ext cx="2002262" cy="114897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293690A8-A563-C571-50AF-6025861FC17D}"/>
                </a:ext>
              </a:extLst>
            </p:cNvPr>
            <p:cNvSpPr txBox="1"/>
            <p:nvPr/>
          </p:nvSpPr>
          <p:spPr>
            <a:xfrm>
              <a:off x="2042891" y="4439328"/>
              <a:ext cx="19776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b="1" dirty="0"/>
                <a:t>Using </a:t>
              </a:r>
              <a:r>
                <a:rPr lang="en-GB" sz="1200" b="1" dirty="0" err="1"/>
                <a:t>dplyr</a:t>
              </a:r>
              <a:r>
                <a:rPr lang="en-GB" sz="1200" b="1" dirty="0"/>
                <a:t>, ggplot2, specific packages and reporting analyses in </a:t>
              </a:r>
              <a:r>
                <a:rPr lang="en-GB" sz="1200" b="1" dirty="0" err="1"/>
                <a:t>rmarkdown</a:t>
              </a:r>
              <a:r>
                <a:rPr lang="en-GB" sz="1200" b="1" dirty="0"/>
                <a:t>/quarto docs.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76817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D3623-25BB-542F-E0FD-641A0F1C1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F00918E9-5E21-CDD9-D7F4-8ED9D1B5794B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A07929F9-2583-3A26-7B28-521FDC3FCE4B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6CE07E0F-08F1-9FB7-63DD-0037EB0806D5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990CE975-BBB0-2B6C-E718-3778366633AC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BE6EBE10-188B-FC9B-C853-42E8585AFDAE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C02EB86-7ECB-35E4-E8EE-0CF71E4A3B20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0E114BE-68C6-C79C-0543-9CB6D8669330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54B957F-78E2-8CCC-805A-7200DBD30D94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Rendering tools: R markdown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2928F86E-9178-6B5C-93FA-0CA7BAD53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69" y="911616"/>
            <a:ext cx="68326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330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E3176-A85A-653F-61C4-1C643E09D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D16190B4-4D42-EFE4-E35F-E611227B5067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6B2792C6-1867-E041-FC3D-6B6A8CAA7892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99724D56-6F40-1C57-0A3D-0C1FB8396CD3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EAFB3D78-B315-3553-B4D0-F496A6157B5E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94D7FA0D-E9B0-8121-B928-509288623306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29997BE-34B1-474A-7D1E-AE8759D663E3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359C7AC3-7C9A-D930-7993-9CCBE5691A34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CF2DBD3-7B42-A44C-4049-8E8C46B6F72E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Rendering tools: R markdown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73AC755-6C7F-3623-E438-9601B0BCA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69" y="911616"/>
            <a:ext cx="6832600" cy="2032000"/>
          </a:xfrm>
          <a:prstGeom prst="rect">
            <a:avLst/>
          </a:prstGeom>
        </p:spPr>
      </p:pic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B5262B4-BC9C-79A4-464D-A1A506E21E7F}"/>
              </a:ext>
            </a:extLst>
          </p:cNvPr>
          <p:cNvSpPr/>
          <p:nvPr/>
        </p:nvSpPr>
        <p:spPr>
          <a:xfrm>
            <a:off x="7274859" y="2180864"/>
            <a:ext cx="1828800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49D8D183-78B7-A7B2-AB14-EFE67D5021A4}"/>
              </a:ext>
            </a:extLst>
          </p:cNvPr>
          <p:cNvSpPr/>
          <p:nvPr/>
        </p:nvSpPr>
        <p:spPr>
          <a:xfrm>
            <a:off x="9803674" y="2180864"/>
            <a:ext cx="1665515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5B526EA-B4B9-21AF-E502-901F95F590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318"/>
          <a:stretch>
            <a:fillRect/>
          </a:stretch>
        </p:blipFill>
        <p:spPr>
          <a:xfrm>
            <a:off x="257667" y="3057419"/>
            <a:ext cx="3335877" cy="17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7318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D1E90-BBE6-D6AC-6B84-9E26539E2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A3E1845B-B869-27F5-6299-93ABF5258F3A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DB52C845-E831-E55C-501A-0A29DA03506B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A2316E5A-AFE3-228D-E66A-C3BC298C56FD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08E8F26D-0DA0-72FA-E9EA-E093543E4A20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6F08562A-1A7C-6992-2285-7ABF1319944E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CE3D636-9398-40D9-A7A3-EB3F56F52F68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9C79814-F582-4604-65AA-0C081E1F74A0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5B5B120-56C7-4736-3D24-CFE8866529EC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Rendering tools: R markdown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D75A3DB3-AD1E-F9E1-332D-19E81170D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69" y="911616"/>
            <a:ext cx="6832600" cy="2032000"/>
          </a:xfrm>
          <a:prstGeom prst="rect">
            <a:avLst/>
          </a:prstGeom>
        </p:spPr>
      </p:pic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A31B01B3-EF71-4378-EB2E-A175B3956F9C}"/>
              </a:ext>
            </a:extLst>
          </p:cNvPr>
          <p:cNvSpPr/>
          <p:nvPr/>
        </p:nvSpPr>
        <p:spPr>
          <a:xfrm>
            <a:off x="7274859" y="2180864"/>
            <a:ext cx="1828800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5F1DB986-2FAC-BD1B-8521-6E88A6075833}"/>
              </a:ext>
            </a:extLst>
          </p:cNvPr>
          <p:cNvSpPr/>
          <p:nvPr/>
        </p:nvSpPr>
        <p:spPr>
          <a:xfrm>
            <a:off x="9803674" y="2180864"/>
            <a:ext cx="1665515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B7C7E75-1DA6-588A-DED2-A7DE231FEA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318"/>
          <a:stretch>
            <a:fillRect/>
          </a:stretch>
        </p:blipFill>
        <p:spPr>
          <a:xfrm>
            <a:off x="257667" y="3057419"/>
            <a:ext cx="3335877" cy="1713932"/>
          </a:xfrm>
          <a:prstGeom prst="rect">
            <a:avLst/>
          </a:prstGeom>
        </p:spPr>
      </p:pic>
      <p:pic>
        <p:nvPicPr>
          <p:cNvPr id="11" name="Image 10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A36A835B-81D3-8291-12DA-C361C27A6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269" y="2998146"/>
            <a:ext cx="8412926" cy="238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03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16031-A442-5861-E2E7-15C351150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4498DEF9-6992-6A50-2970-1C04D7436321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C0059D15-86AE-758E-4CD2-4C4692C772CB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DFD46C96-F3ED-F3EA-458E-470E4D56CE6C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A6ED8324-BB8C-570A-D561-84AC5B70C763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0C3A3B38-B1D5-7C40-C1BD-473B1F799AAA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6B1CBF53-F32C-5623-69A3-1A460320C99D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34C66DE4-9673-44F7-80EA-8337D5B5ABF3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74638F6-AA80-CA8E-F277-609942BB7E26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Rendering tools: R markdown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44F1B3D8-E07C-11A2-9219-E97022C24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69" y="911616"/>
            <a:ext cx="6832600" cy="2032000"/>
          </a:xfrm>
          <a:prstGeom prst="rect">
            <a:avLst/>
          </a:prstGeom>
        </p:spPr>
      </p:pic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B294F6F6-8570-CAE1-FCAA-0F58AF7C7536}"/>
              </a:ext>
            </a:extLst>
          </p:cNvPr>
          <p:cNvSpPr/>
          <p:nvPr/>
        </p:nvSpPr>
        <p:spPr>
          <a:xfrm>
            <a:off x="7274859" y="2180864"/>
            <a:ext cx="1828800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C6642789-B381-6134-CDF5-3ABF31DAD41A}"/>
              </a:ext>
            </a:extLst>
          </p:cNvPr>
          <p:cNvSpPr/>
          <p:nvPr/>
        </p:nvSpPr>
        <p:spPr>
          <a:xfrm>
            <a:off x="9803674" y="2180864"/>
            <a:ext cx="1665515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1D3D320-9A8C-4F48-79C8-BCE7F7999D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318"/>
          <a:stretch>
            <a:fillRect/>
          </a:stretch>
        </p:blipFill>
        <p:spPr>
          <a:xfrm>
            <a:off x="257667" y="3057419"/>
            <a:ext cx="3335877" cy="1713932"/>
          </a:xfrm>
          <a:prstGeom prst="rect">
            <a:avLst/>
          </a:prstGeom>
        </p:spPr>
      </p:pic>
      <p:pic>
        <p:nvPicPr>
          <p:cNvPr id="11" name="Image 10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3C83177C-B4DE-62F5-74DA-9540C1D28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269" y="2998146"/>
            <a:ext cx="8412926" cy="2383295"/>
          </a:xfrm>
          <a:prstGeom prst="rect">
            <a:avLst/>
          </a:prstGeom>
        </p:spPr>
      </p:pic>
      <p:pic>
        <p:nvPicPr>
          <p:cNvPr id="10" name="Image 9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43353644-498F-3EF7-3C78-247F5040A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4273" y="4434029"/>
            <a:ext cx="2998801" cy="226303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39BA850-61D2-3F5C-A21D-651E2C11758D}"/>
              </a:ext>
            </a:extLst>
          </p:cNvPr>
          <p:cNvSpPr txBox="1"/>
          <p:nvPr/>
        </p:nvSpPr>
        <p:spPr>
          <a:xfrm>
            <a:off x="888927" y="5915554"/>
            <a:ext cx="2704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R </a:t>
            </a:r>
            <a:r>
              <a:rPr lang="fr-FR" sz="2000" b="1" dirty="0" err="1"/>
              <a:t>markdown</a:t>
            </a:r>
            <a:endParaRPr lang="fr-FR" sz="2000" b="1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FDF051A-0D2D-C5AC-6FC7-854E42B6EDA0}"/>
              </a:ext>
            </a:extLst>
          </p:cNvPr>
          <p:cNvSpPr txBox="1"/>
          <p:nvPr/>
        </p:nvSpPr>
        <p:spPr>
          <a:xfrm>
            <a:off x="6313952" y="5891854"/>
            <a:ext cx="1370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Quarto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E36C3727-9036-871A-2492-5E3ECAB404A9}"/>
              </a:ext>
            </a:extLst>
          </p:cNvPr>
          <p:cNvCxnSpPr/>
          <p:nvPr/>
        </p:nvCxnSpPr>
        <p:spPr>
          <a:xfrm flipV="1">
            <a:off x="2251166" y="5075583"/>
            <a:ext cx="0" cy="6096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D17594DE-07F3-8F36-9392-DCC9E90A67AC}"/>
              </a:ext>
            </a:extLst>
          </p:cNvPr>
          <p:cNvCxnSpPr>
            <a:cxnSpLocks/>
          </p:cNvCxnSpPr>
          <p:nvPr/>
        </p:nvCxnSpPr>
        <p:spPr>
          <a:xfrm>
            <a:off x="7573187" y="6101084"/>
            <a:ext cx="56364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eur en angle 22">
            <a:extLst>
              <a:ext uri="{FF2B5EF4-FFF2-40B4-BE49-F238E27FC236}">
                <a16:creationId xmlns:a16="http://schemas.microsoft.com/office/drawing/2014/main" id="{A191D608-7EDE-FF35-8B7C-098BEDF6EF37}"/>
              </a:ext>
            </a:extLst>
          </p:cNvPr>
          <p:cNvCxnSpPr>
            <a:cxnSpLocks/>
          </p:cNvCxnSpPr>
          <p:nvPr/>
        </p:nvCxnSpPr>
        <p:spPr>
          <a:xfrm flipV="1">
            <a:off x="3372109" y="5520568"/>
            <a:ext cx="651991" cy="609600"/>
          </a:xfrm>
          <a:prstGeom prst="bentConnector3">
            <a:avLst>
              <a:gd name="adj1" fmla="val 100814"/>
            </a:avLst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1097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FF121-76F3-332A-4790-07A5200AA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26DC6D86-6E16-FF1C-3FAB-34E6B4C40EFB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704045DD-C1C6-8077-16B0-6DDAA94B837D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4D3FE894-251B-AFFE-9BC1-3D06A96C80AE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057CF662-5633-667D-79C3-81047A96B565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57AFFD6C-DED9-A1FB-EBBC-70C6491624FA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FEFA7E6C-AED1-6F61-2CEA-B179DA145A9F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8CFB54B-8EAB-3206-0102-36740D24C114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9E61EF2-C4E1-514A-5076-1B7E8093E267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Rendering tools: R markdown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0FA2E81-9A1A-5100-27A6-91B651398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69" y="911616"/>
            <a:ext cx="6832600" cy="2032000"/>
          </a:xfrm>
          <a:prstGeom prst="rect">
            <a:avLst/>
          </a:prstGeom>
        </p:spPr>
      </p:pic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C27D864C-90A7-F4F6-CE22-4C8DF4C954E3}"/>
              </a:ext>
            </a:extLst>
          </p:cNvPr>
          <p:cNvSpPr/>
          <p:nvPr/>
        </p:nvSpPr>
        <p:spPr>
          <a:xfrm>
            <a:off x="4758803" y="2180864"/>
            <a:ext cx="1828800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FC70C679-094C-E640-59C0-0054BC795D0F}"/>
              </a:ext>
            </a:extLst>
          </p:cNvPr>
          <p:cNvSpPr/>
          <p:nvPr/>
        </p:nvSpPr>
        <p:spPr>
          <a:xfrm>
            <a:off x="9803674" y="2180864"/>
            <a:ext cx="1665515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567A5B6F-8A81-809A-CCBD-DAE43ED3A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47" y="3099964"/>
            <a:ext cx="9052242" cy="367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2625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FEFBA-8F1D-E396-B61B-AF755FD95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CD12AE4A-D03B-0F4A-CA0C-E8FD62B2A4E3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014D5BF7-39A7-B373-BA38-8A5CFDA8480C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CCC30977-B90D-0C85-BA02-17B501373216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D8891DE1-BB0C-7A9F-34A1-2316BE7C81C1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82832625-2463-C705-97DB-737C91752EAF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8D07F01B-0A3E-836B-7E4F-C2626D41D5CC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85CF27D-F5ED-08AD-2622-D2FD8F5C16A8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231D556-53D1-D97C-AB4A-D926CA219D2B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Rendering tools: R markdown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44BFCF7-A13E-AE12-C25E-2B4E94E87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69" y="911616"/>
            <a:ext cx="6832600" cy="2032000"/>
          </a:xfrm>
          <a:prstGeom prst="rect">
            <a:avLst/>
          </a:prstGeom>
        </p:spPr>
      </p:pic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8F4C69F6-07F3-5618-53E8-DB56D0A2E8AD}"/>
              </a:ext>
            </a:extLst>
          </p:cNvPr>
          <p:cNvSpPr/>
          <p:nvPr/>
        </p:nvSpPr>
        <p:spPr>
          <a:xfrm>
            <a:off x="4758803" y="2180864"/>
            <a:ext cx="1828800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68865330-8F58-C209-7BEE-2E456B8D3AC2}"/>
              </a:ext>
            </a:extLst>
          </p:cNvPr>
          <p:cNvSpPr/>
          <p:nvPr/>
        </p:nvSpPr>
        <p:spPr>
          <a:xfrm>
            <a:off x="9803674" y="2180864"/>
            <a:ext cx="1665515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C3801A4E-64A0-6F84-E787-9EECE0190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47" y="3099964"/>
            <a:ext cx="9052242" cy="3670436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549F47F8-2E28-8DBB-FA69-BFADECDA50C7}"/>
              </a:ext>
            </a:extLst>
          </p:cNvPr>
          <p:cNvSpPr txBox="1"/>
          <p:nvPr/>
        </p:nvSpPr>
        <p:spPr>
          <a:xfrm>
            <a:off x="9386047" y="3187229"/>
            <a:ext cx="2580666" cy="3516219"/>
          </a:xfrm>
          <a:prstGeom prst="rect">
            <a:avLst/>
          </a:prstGeom>
          <a:solidFill>
            <a:srgbClr val="7BA1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Main marks-up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*</a:t>
            </a:r>
            <a:r>
              <a:rPr lang="fr-FR" sz="1600" dirty="0" err="1"/>
              <a:t>italic</a:t>
            </a:r>
            <a:r>
              <a:rPr lang="fr-FR" sz="1600" dirty="0"/>
              <a:t>*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**</a:t>
            </a:r>
            <a:r>
              <a:rPr lang="fr-FR" sz="1600" dirty="0" err="1"/>
              <a:t>bold</a:t>
            </a:r>
            <a:r>
              <a:rPr lang="fr-FR" sz="1600" dirty="0"/>
              <a:t>**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~</a:t>
            </a:r>
            <a:r>
              <a:rPr lang="fr-FR" sz="1600" dirty="0" err="1"/>
              <a:t>subscript</a:t>
            </a:r>
            <a:r>
              <a:rPr lang="fr-FR" sz="1600" dirty="0"/>
              <a:t>~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^</a:t>
            </a:r>
            <a:r>
              <a:rPr lang="fr-FR" sz="1600" dirty="0" err="1"/>
              <a:t>superscript</a:t>
            </a:r>
            <a:r>
              <a:rPr lang="fr-FR" sz="1600" dirty="0"/>
              <a:t>^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+ </a:t>
            </a:r>
            <a:r>
              <a:rPr lang="fr-FR" sz="1600" dirty="0" err="1"/>
              <a:t>dash</a:t>
            </a:r>
            <a:endParaRPr lang="fr-FR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[</a:t>
            </a:r>
            <a:r>
              <a:rPr lang="fr-FR" sz="1600" dirty="0" err="1"/>
              <a:t>link</a:t>
            </a:r>
            <a:r>
              <a:rPr lang="fr-FR" sz="1600" dirty="0"/>
              <a:t>](URL)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![image](</a:t>
            </a:r>
            <a:r>
              <a:rPr lang="fr-FR" sz="1600" dirty="0" err="1"/>
              <a:t>path</a:t>
            </a:r>
            <a:r>
              <a:rPr lang="fr-FR" sz="1600" dirty="0"/>
              <a:t>){size}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&lt;</a:t>
            </a:r>
            <a:r>
              <a:rPr lang="fr-FR" sz="1600" dirty="0" err="1"/>
              <a:t>br</a:t>
            </a:r>
            <a:r>
              <a:rPr lang="fr-FR" sz="1600" dirty="0"/>
              <a:t>&gt; - </a:t>
            </a:r>
            <a:r>
              <a:rPr lang="fr-FR" sz="1600" dirty="0" err="1"/>
              <a:t>blank</a:t>
            </a:r>
            <a:r>
              <a:rPr lang="fr-FR" sz="1600" dirty="0"/>
              <a:t> line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# First </a:t>
            </a:r>
            <a:r>
              <a:rPr lang="fr-FR" sz="1600" dirty="0" err="1"/>
              <a:t>title</a:t>
            </a:r>
            <a:endParaRPr lang="fr-FR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## Second </a:t>
            </a:r>
            <a:r>
              <a:rPr lang="fr-FR" sz="1600" dirty="0" err="1"/>
              <a:t>title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773931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30F7A-7D42-4104-2664-335E505A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5A07818D-793E-0508-0237-CC9FD7C19812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773DBA5B-8778-0AF3-0338-7FEF1801725C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1CBCD93A-5D5E-5E5B-6607-FF1CFF20CCC0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0C1490FE-8235-0C7F-CE22-AF2AC9BB833C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9D6E3BE5-DFE7-0BC4-6B0D-95ADFC12D2A9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C83F656-D7B7-9494-57E2-8967247502D4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8AF56A6-5DDA-FE7C-16D3-D2CB5D2854FD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02A4558-0D31-D7EF-5F3D-0155E24965EF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Rendering tools: R markdown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737C709F-5E1A-80EA-2F98-3E9252971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69" y="911616"/>
            <a:ext cx="6832600" cy="2032000"/>
          </a:xfrm>
          <a:prstGeom prst="rect">
            <a:avLst/>
          </a:prstGeom>
        </p:spPr>
      </p:pic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1F975097-060B-E38D-90DE-F97701F68984}"/>
              </a:ext>
            </a:extLst>
          </p:cNvPr>
          <p:cNvSpPr/>
          <p:nvPr/>
        </p:nvSpPr>
        <p:spPr>
          <a:xfrm>
            <a:off x="4758803" y="2180864"/>
            <a:ext cx="1828800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071B63E4-D817-6AAD-BF05-DBA1E326F9EA}"/>
              </a:ext>
            </a:extLst>
          </p:cNvPr>
          <p:cNvSpPr/>
          <p:nvPr/>
        </p:nvSpPr>
        <p:spPr>
          <a:xfrm>
            <a:off x="7285760" y="2180864"/>
            <a:ext cx="1828800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4" name="Image 43" descr="Une image contenant Police, capture d’écran, horloge, texte&#10;&#10;Le contenu généré par l’IA peut être incorrect.">
            <a:extLst>
              <a:ext uri="{FF2B5EF4-FFF2-40B4-BE49-F238E27FC236}">
                <a16:creationId xmlns:a16="http://schemas.microsoft.com/office/drawing/2014/main" id="{03845CD4-324C-0022-BE90-0ABB89FA1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035" y="3297136"/>
            <a:ext cx="1320800" cy="685800"/>
          </a:xfrm>
          <a:prstGeom prst="rect">
            <a:avLst/>
          </a:prstGeom>
        </p:spPr>
      </p:pic>
      <p:sp>
        <p:nvSpPr>
          <p:cNvPr id="45" name="ZoneTexte 44">
            <a:extLst>
              <a:ext uri="{FF2B5EF4-FFF2-40B4-BE49-F238E27FC236}">
                <a16:creationId xmlns:a16="http://schemas.microsoft.com/office/drawing/2014/main" id="{7A12EDB3-9FAE-B3D1-EDE5-8EB61BED2E8D}"/>
              </a:ext>
            </a:extLst>
          </p:cNvPr>
          <p:cNvSpPr txBox="1"/>
          <p:nvPr/>
        </p:nvSpPr>
        <p:spPr>
          <a:xfrm>
            <a:off x="2065869" y="3982935"/>
            <a:ext cx="7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basic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864FC175-AEFC-943C-B53E-DEF516D91668}"/>
              </a:ext>
            </a:extLst>
          </p:cNvPr>
          <p:cNvSpPr txBox="1"/>
          <p:nvPr/>
        </p:nvSpPr>
        <p:spPr>
          <a:xfrm>
            <a:off x="-405144" y="3439981"/>
            <a:ext cx="2704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R </a:t>
            </a:r>
            <a:r>
              <a:rPr lang="fr-FR" sz="2000" b="1" dirty="0" err="1"/>
              <a:t>markdown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7808688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21C07-137D-ABEA-10D3-5C3883ABF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94459F57-D779-8CBC-D8EE-0F9BB477E8BB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39017726-D0E6-CFE6-56B7-B055661DB88B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E97EAC65-AF0D-C9CF-C231-A7B6F88C54FD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64FBA1A1-D3C7-148E-A284-9F4A22C0C414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619DB100-6F39-E1FE-6AB3-AE6D4E67AC28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2949194-524B-E992-E44F-91510D12DB78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AD5C79DC-6D69-8F8E-157D-FF9E5CB526A9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9A9BAEC-DA15-C985-2884-0DD7658DB2B2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Rendering tools: R markdown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B594314-AA3D-8B9F-0F39-C3CFE3835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69" y="911616"/>
            <a:ext cx="6832600" cy="2032000"/>
          </a:xfrm>
          <a:prstGeom prst="rect">
            <a:avLst/>
          </a:prstGeom>
        </p:spPr>
      </p:pic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9C194E69-7C5D-9622-D717-2722D391850B}"/>
              </a:ext>
            </a:extLst>
          </p:cNvPr>
          <p:cNvSpPr/>
          <p:nvPr/>
        </p:nvSpPr>
        <p:spPr>
          <a:xfrm>
            <a:off x="4758803" y="2180864"/>
            <a:ext cx="1828800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2A67ABF0-18E0-6683-4800-4F5C6D202B83}"/>
              </a:ext>
            </a:extLst>
          </p:cNvPr>
          <p:cNvSpPr/>
          <p:nvPr/>
        </p:nvSpPr>
        <p:spPr>
          <a:xfrm>
            <a:off x="7285760" y="2180864"/>
            <a:ext cx="1828800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4" name="Image 33" descr="Une image contenant Police, capture d’écran, horloge, texte&#10;&#10;Le contenu généré par l’IA peut être incorrect.">
            <a:extLst>
              <a:ext uri="{FF2B5EF4-FFF2-40B4-BE49-F238E27FC236}">
                <a16:creationId xmlns:a16="http://schemas.microsoft.com/office/drawing/2014/main" id="{C74FA49F-0DA0-E20A-0E54-38BEA3E8D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035" y="3297136"/>
            <a:ext cx="1320800" cy="685800"/>
          </a:xfrm>
          <a:prstGeom prst="rect">
            <a:avLst/>
          </a:prstGeom>
        </p:spPr>
      </p:pic>
      <p:pic>
        <p:nvPicPr>
          <p:cNvPr id="36" name="Image 35" descr="Une image contenant texte, Police, écriture manuscri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A7FF32B9-3B9C-9C32-9291-B4A45783F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839" y="3291760"/>
            <a:ext cx="1867386" cy="691175"/>
          </a:xfrm>
          <a:prstGeom prst="rect">
            <a:avLst/>
          </a:prstGeom>
        </p:spPr>
      </p:pic>
      <p:grpSp>
        <p:nvGrpSpPr>
          <p:cNvPr id="38" name="Groupe 37">
            <a:extLst>
              <a:ext uri="{FF2B5EF4-FFF2-40B4-BE49-F238E27FC236}">
                <a16:creationId xmlns:a16="http://schemas.microsoft.com/office/drawing/2014/main" id="{9A92846A-3D64-2724-A690-168DB9B053B4}"/>
              </a:ext>
            </a:extLst>
          </p:cNvPr>
          <p:cNvGrpSpPr/>
          <p:nvPr/>
        </p:nvGrpSpPr>
        <p:grpSpPr>
          <a:xfrm>
            <a:off x="3056898" y="3363343"/>
            <a:ext cx="781878" cy="654025"/>
            <a:chOff x="1864200" y="3294793"/>
            <a:chExt cx="781878" cy="654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ZoneTexte 38">
                  <a:extLst>
                    <a:ext uri="{FF2B5EF4-FFF2-40B4-BE49-F238E27FC236}">
                      <a16:creationId xmlns:a16="http://schemas.microsoft.com/office/drawing/2014/main" id="{C8211C2E-9456-96F6-3017-7D4B0D719AF7}"/>
                    </a:ext>
                  </a:extLst>
                </p:cNvPr>
                <p:cNvSpPr txBox="1"/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3200" i="1" smtClean="0">
                            <a:latin typeface="Cambria Math" panose="02040503050406030204" pitchFamily="18" charset="0"/>
                          </a:rPr>
                          <m:t>🟰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39" name="ZoneTexte 38">
                  <a:extLst>
                    <a:ext uri="{FF2B5EF4-FFF2-40B4-BE49-F238E27FC236}">
                      <a16:creationId xmlns:a16="http://schemas.microsoft.com/office/drawing/2014/main" id="{C8211C2E-9456-96F6-3017-7D4B0D719A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blipFill>
                  <a:blip r:embed="rId5"/>
                  <a:stretch>
                    <a:fillRect l="-1587" t="-1887" r="-1587" b="-566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necteur droit 43">
              <a:extLst>
                <a:ext uri="{FF2B5EF4-FFF2-40B4-BE49-F238E27FC236}">
                  <a16:creationId xmlns:a16="http://schemas.microsoft.com/office/drawing/2014/main" id="{7AEBA800-9C4E-0054-9232-AE5742275457}"/>
                </a:ext>
              </a:extLst>
            </p:cNvPr>
            <p:cNvCxnSpPr/>
            <p:nvPr/>
          </p:nvCxnSpPr>
          <p:spPr>
            <a:xfrm flipV="1">
              <a:off x="2121519" y="3457799"/>
              <a:ext cx="250620" cy="25676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45" name="Image 44" descr="Une image contenant Police, écriture manuscrite, texte, tableau&#10;&#10;Le contenu généré par l’IA peut être incorrect.">
            <a:extLst>
              <a:ext uri="{FF2B5EF4-FFF2-40B4-BE49-F238E27FC236}">
                <a16:creationId xmlns:a16="http://schemas.microsoft.com/office/drawing/2014/main" id="{0A90DD22-2310-D10B-B6CC-9685ADCBC2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7229" y="3297135"/>
            <a:ext cx="1955800" cy="685800"/>
          </a:xfrm>
          <a:prstGeom prst="rect">
            <a:avLst/>
          </a:prstGeom>
        </p:spPr>
      </p:pic>
      <p:grpSp>
        <p:nvGrpSpPr>
          <p:cNvPr id="46" name="Groupe 45">
            <a:extLst>
              <a:ext uri="{FF2B5EF4-FFF2-40B4-BE49-F238E27FC236}">
                <a16:creationId xmlns:a16="http://schemas.microsoft.com/office/drawing/2014/main" id="{697776E6-A2F5-F4EC-17F9-080C63FE60BB}"/>
              </a:ext>
            </a:extLst>
          </p:cNvPr>
          <p:cNvGrpSpPr/>
          <p:nvPr/>
        </p:nvGrpSpPr>
        <p:grpSpPr>
          <a:xfrm>
            <a:off x="5608619" y="3363343"/>
            <a:ext cx="781878" cy="654025"/>
            <a:chOff x="1864200" y="3294793"/>
            <a:chExt cx="781878" cy="654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ZoneTexte 46">
                  <a:extLst>
                    <a:ext uri="{FF2B5EF4-FFF2-40B4-BE49-F238E27FC236}">
                      <a16:creationId xmlns:a16="http://schemas.microsoft.com/office/drawing/2014/main" id="{C1613D84-F02E-5644-0935-CE0D28076C63}"/>
                    </a:ext>
                  </a:extLst>
                </p:cNvPr>
                <p:cNvSpPr txBox="1"/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3200" i="1" smtClean="0">
                            <a:latin typeface="Cambria Math" panose="02040503050406030204" pitchFamily="18" charset="0"/>
                          </a:rPr>
                          <m:t>🟰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47" name="ZoneTexte 46">
                  <a:extLst>
                    <a:ext uri="{FF2B5EF4-FFF2-40B4-BE49-F238E27FC236}">
                      <a16:creationId xmlns:a16="http://schemas.microsoft.com/office/drawing/2014/main" id="{C1613D84-F02E-5644-0935-CE0D28076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blipFill>
                  <a:blip r:embed="rId7"/>
                  <a:stretch>
                    <a:fillRect l="-1587" t="-1887" r="-1587" b="-566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id="{7FA7BE4A-1A42-491A-D4DB-CF316E8B1C64}"/>
                </a:ext>
              </a:extLst>
            </p:cNvPr>
            <p:cNvCxnSpPr/>
            <p:nvPr/>
          </p:nvCxnSpPr>
          <p:spPr>
            <a:xfrm flipV="1">
              <a:off x="2121519" y="3457799"/>
              <a:ext cx="250620" cy="25676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ZoneTexte 48">
            <a:extLst>
              <a:ext uri="{FF2B5EF4-FFF2-40B4-BE49-F238E27FC236}">
                <a16:creationId xmlns:a16="http://schemas.microsoft.com/office/drawing/2014/main" id="{EF7C632C-87BA-035C-4DB8-D4DA9B84F210}"/>
              </a:ext>
            </a:extLst>
          </p:cNvPr>
          <p:cNvSpPr txBox="1"/>
          <p:nvPr/>
        </p:nvSpPr>
        <p:spPr>
          <a:xfrm>
            <a:off x="2065869" y="3982935"/>
            <a:ext cx="7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basic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BF7C9D1A-6E9D-FA3F-F86D-C318369D6AF6}"/>
              </a:ext>
            </a:extLst>
          </p:cNvPr>
          <p:cNvSpPr txBox="1"/>
          <p:nvPr/>
        </p:nvSpPr>
        <p:spPr>
          <a:xfrm>
            <a:off x="4093618" y="3982935"/>
            <a:ext cx="126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 </a:t>
            </a:r>
            <a:r>
              <a:rPr lang="fr-FR" dirty="0" err="1"/>
              <a:t>only</a:t>
            </a:r>
            <a:endParaRPr lang="fr-FR" dirty="0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9D8DE4E5-1841-5A66-E605-F3A8A3DCB7EA}"/>
              </a:ext>
            </a:extLst>
          </p:cNvPr>
          <p:cNvSpPr txBox="1"/>
          <p:nvPr/>
        </p:nvSpPr>
        <p:spPr>
          <a:xfrm>
            <a:off x="6646646" y="3982935"/>
            <a:ext cx="126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result</a:t>
            </a:r>
            <a:r>
              <a:rPr lang="fr-FR" dirty="0"/>
              <a:t> </a:t>
            </a:r>
            <a:r>
              <a:rPr lang="fr-FR" dirty="0" err="1"/>
              <a:t>only</a:t>
            </a:r>
            <a:endParaRPr lang="fr-FR" dirty="0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8F0B2E75-78ED-88C8-7F06-97342A614042}"/>
              </a:ext>
            </a:extLst>
          </p:cNvPr>
          <p:cNvSpPr txBox="1"/>
          <p:nvPr/>
        </p:nvSpPr>
        <p:spPr>
          <a:xfrm>
            <a:off x="-405144" y="3439981"/>
            <a:ext cx="2704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R </a:t>
            </a:r>
            <a:r>
              <a:rPr lang="fr-FR" sz="2000" b="1" dirty="0" err="1"/>
              <a:t>markdown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15950366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6CD99-0792-EBFF-CE87-D6FFAB4D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E0F3A9AF-36FC-33F3-A6C4-34B21906134F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0094928E-69F4-93DE-F3E5-FDE8945B693F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8FDF479C-5216-B605-5710-F6A37AB9794A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272F9F37-FEB6-0B88-8411-111C4E95EF1C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14B070E1-9BF3-A86B-AD09-CDEA6D956B8A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FA66C621-0C1B-C749-22CB-A8EB3B34C706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47A9F3C-B604-C6DF-3E2A-043AF5F21607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D17DE0C-B678-CFEC-6977-DEF578A4D318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Rendering tools: R markdown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113EF20B-C901-2C66-B3EA-60E0B3D3B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69" y="911616"/>
            <a:ext cx="6832600" cy="2032000"/>
          </a:xfrm>
          <a:prstGeom prst="rect">
            <a:avLst/>
          </a:prstGeom>
        </p:spPr>
      </p:pic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0025F03E-D9BB-C861-7BCC-34658ACF012B}"/>
              </a:ext>
            </a:extLst>
          </p:cNvPr>
          <p:cNvSpPr/>
          <p:nvPr/>
        </p:nvSpPr>
        <p:spPr>
          <a:xfrm>
            <a:off x="4758803" y="2180864"/>
            <a:ext cx="1828800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BF45D66C-ECBA-E302-9B3C-B4656383C8F7}"/>
              </a:ext>
            </a:extLst>
          </p:cNvPr>
          <p:cNvSpPr/>
          <p:nvPr/>
        </p:nvSpPr>
        <p:spPr>
          <a:xfrm>
            <a:off x="7285760" y="2180864"/>
            <a:ext cx="1828800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4" name="Image 33" descr="Une image contenant Police, capture d’écran, horloge, texte&#10;&#10;Le contenu généré par l’IA peut être incorrect.">
            <a:extLst>
              <a:ext uri="{FF2B5EF4-FFF2-40B4-BE49-F238E27FC236}">
                <a16:creationId xmlns:a16="http://schemas.microsoft.com/office/drawing/2014/main" id="{8361CFC3-1D7F-431F-E7D1-C48752321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035" y="3297136"/>
            <a:ext cx="1320800" cy="685800"/>
          </a:xfrm>
          <a:prstGeom prst="rect">
            <a:avLst/>
          </a:prstGeom>
        </p:spPr>
      </p:pic>
      <p:pic>
        <p:nvPicPr>
          <p:cNvPr id="36" name="Image 35" descr="Une image contenant texte, Police, écriture manuscri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495E5D0-BF67-6E3F-41BE-9AF83CB4A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839" y="3291760"/>
            <a:ext cx="1867386" cy="691175"/>
          </a:xfrm>
          <a:prstGeom prst="rect">
            <a:avLst/>
          </a:prstGeom>
        </p:spPr>
      </p:pic>
      <p:grpSp>
        <p:nvGrpSpPr>
          <p:cNvPr id="38" name="Groupe 37">
            <a:extLst>
              <a:ext uri="{FF2B5EF4-FFF2-40B4-BE49-F238E27FC236}">
                <a16:creationId xmlns:a16="http://schemas.microsoft.com/office/drawing/2014/main" id="{43785B34-5370-7766-1E68-192AD186ABD6}"/>
              </a:ext>
            </a:extLst>
          </p:cNvPr>
          <p:cNvGrpSpPr/>
          <p:nvPr/>
        </p:nvGrpSpPr>
        <p:grpSpPr>
          <a:xfrm>
            <a:off x="3056898" y="3363343"/>
            <a:ext cx="781878" cy="654025"/>
            <a:chOff x="1864200" y="3294793"/>
            <a:chExt cx="781878" cy="654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ZoneTexte 38">
                  <a:extLst>
                    <a:ext uri="{FF2B5EF4-FFF2-40B4-BE49-F238E27FC236}">
                      <a16:creationId xmlns:a16="http://schemas.microsoft.com/office/drawing/2014/main" id="{5684CD0E-0B94-A2DC-C51B-F44B3B7EA216}"/>
                    </a:ext>
                  </a:extLst>
                </p:cNvPr>
                <p:cNvSpPr txBox="1"/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3200" i="1" smtClean="0">
                            <a:latin typeface="Cambria Math" panose="02040503050406030204" pitchFamily="18" charset="0"/>
                          </a:rPr>
                          <m:t>🟰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39" name="ZoneTexte 38">
                  <a:extLst>
                    <a:ext uri="{FF2B5EF4-FFF2-40B4-BE49-F238E27FC236}">
                      <a16:creationId xmlns:a16="http://schemas.microsoft.com/office/drawing/2014/main" id="{5684CD0E-0B94-A2DC-C51B-F44B3B7EA2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blipFill>
                  <a:blip r:embed="rId5"/>
                  <a:stretch>
                    <a:fillRect l="-1587" t="-1887" r="-1587" b="-566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necteur droit 43">
              <a:extLst>
                <a:ext uri="{FF2B5EF4-FFF2-40B4-BE49-F238E27FC236}">
                  <a16:creationId xmlns:a16="http://schemas.microsoft.com/office/drawing/2014/main" id="{F88C1810-861E-2FC4-CC61-DBADEC75802C}"/>
                </a:ext>
              </a:extLst>
            </p:cNvPr>
            <p:cNvCxnSpPr/>
            <p:nvPr/>
          </p:nvCxnSpPr>
          <p:spPr>
            <a:xfrm flipV="1">
              <a:off x="2121519" y="3457799"/>
              <a:ext cx="250620" cy="25676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45" name="Image 44" descr="Une image contenant Police, écriture manuscrite, texte, tableau&#10;&#10;Le contenu généré par l’IA peut être incorrect.">
            <a:extLst>
              <a:ext uri="{FF2B5EF4-FFF2-40B4-BE49-F238E27FC236}">
                <a16:creationId xmlns:a16="http://schemas.microsoft.com/office/drawing/2014/main" id="{B735A82D-EF31-6B66-6C69-1D632A9CA7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7229" y="3297135"/>
            <a:ext cx="1955800" cy="685800"/>
          </a:xfrm>
          <a:prstGeom prst="rect">
            <a:avLst/>
          </a:prstGeom>
        </p:spPr>
      </p:pic>
      <p:grpSp>
        <p:nvGrpSpPr>
          <p:cNvPr id="46" name="Groupe 45">
            <a:extLst>
              <a:ext uri="{FF2B5EF4-FFF2-40B4-BE49-F238E27FC236}">
                <a16:creationId xmlns:a16="http://schemas.microsoft.com/office/drawing/2014/main" id="{25334ABE-5957-B3C4-E746-A73924C72765}"/>
              </a:ext>
            </a:extLst>
          </p:cNvPr>
          <p:cNvGrpSpPr/>
          <p:nvPr/>
        </p:nvGrpSpPr>
        <p:grpSpPr>
          <a:xfrm>
            <a:off x="5608619" y="3363343"/>
            <a:ext cx="781878" cy="654025"/>
            <a:chOff x="1864200" y="3294793"/>
            <a:chExt cx="781878" cy="654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ZoneTexte 46">
                  <a:extLst>
                    <a:ext uri="{FF2B5EF4-FFF2-40B4-BE49-F238E27FC236}">
                      <a16:creationId xmlns:a16="http://schemas.microsoft.com/office/drawing/2014/main" id="{792EFECA-683C-3A77-7E72-AEDA5C79AADB}"/>
                    </a:ext>
                  </a:extLst>
                </p:cNvPr>
                <p:cNvSpPr txBox="1"/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3200" i="1" smtClean="0">
                            <a:latin typeface="Cambria Math" panose="02040503050406030204" pitchFamily="18" charset="0"/>
                          </a:rPr>
                          <m:t>🟰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47" name="ZoneTexte 46">
                  <a:extLst>
                    <a:ext uri="{FF2B5EF4-FFF2-40B4-BE49-F238E27FC236}">
                      <a16:creationId xmlns:a16="http://schemas.microsoft.com/office/drawing/2014/main" id="{792EFECA-683C-3A77-7E72-AEDA5C79AA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blipFill>
                  <a:blip r:embed="rId7"/>
                  <a:stretch>
                    <a:fillRect l="-1587" t="-1887" r="-1587" b="-566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id="{B0F5374A-4C0B-3AC3-5D2A-C74A5C816DC5}"/>
                </a:ext>
              </a:extLst>
            </p:cNvPr>
            <p:cNvCxnSpPr/>
            <p:nvPr/>
          </p:nvCxnSpPr>
          <p:spPr>
            <a:xfrm flipV="1">
              <a:off x="2121519" y="3457799"/>
              <a:ext cx="250620" cy="25676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ZoneTexte 48">
            <a:extLst>
              <a:ext uri="{FF2B5EF4-FFF2-40B4-BE49-F238E27FC236}">
                <a16:creationId xmlns:a16="http://schemas.microsoft.com/office/drawing/2014/main" id="{6E21770D-141C-22C8-C4ED-40C8B9F2414E}"/>
              </a:ext>
            </a:extLst>
          </p:cNvPr>
          <p:cNvSpPr txBox="1"/>
          <p:nvPr/>
        </p:nvSpPr>
        <p:spPr>
          <a:xfrm>
            <a:off x="2065869" y="3982935"/>
            <a:ext cx="7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basic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87803DE0-FF55-CFFC-6A7A-01EA13D2DB8F}"/>
              </a:ext>
            </a:extLst>
          </p:cNvPr>
          <p:cNvSpPr txBox="1"/>
          <p:nvPr/>
        </p:nvSpPr>
        <p:spPr>
          <a:xfrm>
            <a:off x="4093618" y="3982935"/>
            <a:ext cx="126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 </a:t>
            </a:r>
            <a:r>
              <a:rPr lang="fr-FR" dirty="0" err="1"/>
              <a:t>only</a:t>
            </a:r>
            <a:endParaRPr lang="fr-FR" dirty="0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AC2913F9-DC40-EAF4-9D1F-0484FF50CC85}"/>
              </a:ext>
            </a:extLst>
          </p:cNvPr>
          <p:cNvSpPr txBox="1"/>
          <p:nvPr/>
        </p:nvSpPr>
        <p:spPr>
          <a:xfrm>
            <a:off x="6646646" y="3982935"/>
            <a:ext cx="126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result</a:t>
            </a:r>
            <a:r>
              <a:rPr lang="fr-FR" dirty="0"/>
              <a:t> </a:t>
            </a:r>
            <a:r>
              <a:rPr lang="fr-FR" dirty="0" err="1"/>
              <a:t>only</a:t>
            </a:r>
            <a:endParaRPr lang="fr-FR" dirty="0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F823F29A-A1A2-EB4F-92A9-779692FC4CC7}"/>
              </a:ext>
            </a:extLst>
          </p:cNvPr>
          <p:cNvSpPr txBox="1"/>
          <p:nvPr/>
        </p:nvSpPr>
        <p:spPr>
          <a:xfrm>
            <a:off x="-405144" y="3439981"/>
            <a:ext cx="2704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R </a:t>
            </a:r>
            <a:r>
              <a:rPr lang="fr-FR" sz="2000" b="1" dirty="0" err="1"/>
              <a:t>markdown</a:t>
            </a:r>
            <a:endParaRPr lang="fr-FR" sz="2000" b="1" dirty="0"/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4E28B220-D1EA-ECF5-F415-993C1D02965D}"/>
              </a:ext>
            </a:extLst>
          </p:cNvPr>
          <p:cNvSpPr txBox="1"/>
          <p:nvPr/>
        </p:nvSpPr>
        <p:spPr>
          <a:xfrm>
            <a:off x="-405144" y="4858709"/>
            <a:ext cx="2704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Quarto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47621A58-F14B-772D-5367-BBA23095066A}"/>
              </a:ext>
            </a:extLst>
          </p:cNvPr>
          <p:cNvSpPr txBox="1"/>
          <p:nvPr/>
        </p:nvSpPr>
        <p:spPr>
          <a:xfrm>
            <a:off x="2052617" y="5531854"/>
            <a:ext cx="7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basic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A2521CC8-36EF-42F1-15EB-6615D165E171}"/>
              </a:ext>
            </a:extLst>
          </p:cNvPr>
          <p:cNvSpPr txBox="1"/>
          <p:nvPr/>
        </p:nvSpPr>
        <p:spPr>
          <a:xfrm>
            <a:off x="4080366" y="5531854"/>
            <a:ext cx="126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 </a:t>
            </a:r>
            <a:r>
              <a:rPr lang="fr-FR" dirty="0" err="1"/>
              <a:t>only</a:t>
            </a:r>
            <a:endParaRPr lang="fr-FR" dirty="0"/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D02D6337-9F7B-8053-0CF4-6FE670C4F1A8}"/>
              </a:ext>
            </a:extLst>
          </p:cNvPr>
          <p:cNvSpPr txBox="1"/>
          <p:nvPr/>
        </p:nvSpPr>
        <p:spPr>
          <a:xfrm>
            <a:off x="6633394" y="5531854"/>
            <a:ext cx="126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result</a:t>
            </a:r>
            <a:r>
              <a:rPr lang="fr-FR" dirty="0"/>
              <a:t> </a:t>
            </a:r>
            <a:r>
              <a:rPr lang="fr-FR" dirty="0" err="1"/>
              <a:t>only</a:t>
            </a:r>
            <a:endParaRPr lang="fr-FR" dirty="0"/>
          </a:p>
        </p:txBody>
      </p:sp>
      <p:pic>
        <p:nvPicPr>
          <p:cNvPr id="57" name="Image 56" descr="Une image contenant Police, capture d’écran, horloge, texte&#10;&#10;Le contenu généré par l’IA peut être incorrect.">
            <a:extLst>
              <a:ext uri="{FF2B5EF4-FFF2-40B4-BE49-F238E27FC236}">
                <a16:creationId xmlns:a16="http://schemas.microsoft.com/office/drawing/2014/main" id="{8CC2FA35-C7EE-0E8F-033D-1B3413C75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327" y="4746237"/>
            <a:ext cx="1320800" cy="685800"/>
          </a:xfrm>
          <a:prstGeom prst="rect">
            <a:avLst/>
          </a:prstGeom>
        </p:spPr>
      </p:pic>
      <p:grpSp>
        <p:nvGrpSpPr>
          <p:cNvPr id="58" name="Groupe 57">
            <a:extLst>
              <a:ext uri="{FF2B5EF4-FFF2-40B4-BE49-F238E27FC236}">
                <a16:creationId xmlns:a16="http://schemas.microsoft.com/office/drawing/2014/main" id="{3499B1CB-BC8F-B640-C3E6-B3E88E4468F4}"/>
              </a:ext>
            </a:extLst>
          </p:cNvPr>
          <p:cNvGrpSpPr/>
          <p:nvPr/>
        </p:nvGrpSpPr>
        <p:grpSpPr>
          <a:xfrm>
            <a:off x="3046190" y="4812444"/>
            <a:ext cx="781878" cy="654025"/>
            <a:chOff x="1864200" y="3294793"/>
            <a:chExt cx="781878" cy="654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DD23547E-248C-D6F3-4BE5-409C86AAC04B}"/>
                    </a:ext>
                  </a:extLst>
                </p:cNvPr>
                <p:cNvSpPr txBox="1"/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3200" i="1" smtClean="0">
                            <a:latin typeface="Cambria Math" panose="02040503050406030204" pitchFamily="18" charset="0"/>
                          </a:rPr>
                          <m:t>🟰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DD23547E-248C-D6F3-4BE5-409C86AAC0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blipFill>
                  <a:blip r:embed="rId8"/>
                  <a:stretch>
                    <a:fillRect l="-3226" t="-1887" r="-1613" b="-566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9F3EDD37-2678-46BA-B748-CA73E0DF2F87}"/>
                </a:ext>
              </a:extLst>
            </p:cNvPr>
            <p:cNvCxnSpPr/>
            <p:nvPr/>
          </p:nvCxnSpPr>
          <p:spPr>
            <a:xfrm flipV="1">
              <a:off x="2121519" y="3457799"/>
              <a:ext cx="250620" cy="25676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1" name="Image 60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8E8BFA05-58B0-160F-99DA-FE8F6192AA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1839" y="4614693"/>
            <a:ext cx="1752600" cy="927100"/>
          </a:xfrm>
          <a:prstGeom prst="rect">
            <a:avLst/>
          </a:prstGeom>
        </p:spPr>
      </p:pic>
      <p:pic>
        <p:nvPicPr>
          <p:cNvPr id="62" name="Image 61" descr="Une image contenant Police, text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E2EA0A8A-D9F4-6A91-8E5D-AA49A4FB34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530" y="4621718"/>
            <a:ext cx="1752600" cy="927100"/>
          </a:xfrm>
          <a:prstGeom prst="rect">
            <a:avLst/>
          </a:prstGeom>
        </p:spPr>
      </p:pic>
      <p:grpSp>
        <p:nvGrpSpPr>
          <p:cNvPr id="63" name="Groupe 62">
            <a:extLst>
              <a:ext uri="{FF2B5EF4-FFF2-40B4-BE49-F238E27FC236}">
                <a16:creationId xmlns:a16="http://schemas.microsoft.com/office/drawing/2014/main" id="{22A2F3E6-C738-0AEC-7F77-B31AA2DBB408}"/>
              </a:ext>
            </a:extLst>
          </p:cNvPr>
          <p:cNvGrpSpPr/>
          <p:nvPr/>
        </p:nvGrpSpPr>
        <p:grpSpPr>
          <a:xfrm>
            <a:off x="5600309" y="4812444"/>
            <a:ext cx="781878" cy="654025"/>
            <a:chOff x="1864200" y="3294793"/>
            <a:chExt cx="781878" cy="654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ZoneTexte 63">
                  <a:extLst>
                    <a:ext uri="{FF2B5EF4-FFF2-40B4-BE49-F238E27FC236}">
                      <a16:creationId xmlns:a16="http://schemas.microsoft.com/office/drawing/2014/main" id="{9E01D738-CEB9-B384-F2BA-8627023F8256}"/>
                    </a:ext>
                  </a:extLst>
                </p:cNvPr>
                <p:cNvSpPr txBox="1"/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3200" i="1" smtClean="0">
                            <a:latin typeface="Cambria Math" panose="02040503050406030204" pitchFamily="18" charset="0"/>
                          </a:rPr>
                          <m:t>🟰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64" name="ZoneTexte 63">
                  <a:extLst>
                    <a:ext uri="{FF2B5EF4-FFF2-40B4-BE49-F238E27FC236}">
                      <a16:creationId xmlns:a16="http://schemas.microsoft.com/office/drawing/2014/main" id="{9E01D738-CEB9-B384-F2BA-8627023F82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blipFill>
                  <a:blip r:embed="rId11"/>
                  <a:stretch>
                    <a:fillRect l="-3226" t="-1887" r="-3226" b="-566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Connecteur droit 64">
              <a:extLst>
                <a:ext uri="{FF2B5EF4-FFF2-40B4-BE49-F238E27FC236}">
                  <a16:creationId xmlns:a16="http://schemas.microsoft.com/office/drawing/2014/main" id="{2095AB63-8156-3C1A-79BB-BA3E314FC346}"/>
                </a:ext>
              </a:extLst>
            </p:cNvPr>
            <p:cNvCxnSpPr/>
            <p:nvPr/>
          </p:nvCxnSpPr>
          <p:spPr>
            <a:xfrm flipV="1">
              <a:off x="2121519" y="3457799"/>
              <a:ext cx="250620" cy="25676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56843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B70D0-2BF1-513F-C3FB-51C63309C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3D477DE5-3219-E9A4-76AE-0C386A3715F1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6F434DC2-4852-F5C3-54AC-AEE333F5A878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0A33054F-8C2F-7F43-0E6F-BCA251609DCE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8D6BE3C7-BC06-1D44-9430-3A29B42B1D7B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A8B46DD9-DE35-D7C0-C4CF-861C3A08300F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6C5EA97-1E39-B918-9743-2E5F4E22847F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9B78CDD-0059-BADB-1CAD-D5329D5A39D8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A1B856B-4B8A-66D7-6EB8-B9B3E17AC94C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Rendering tools: R markdown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FE37C9FA-6ED6-ACBA-7A26-419371DD5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69" y="911616"/>
            <a:ext cx="6832600" cy="2032000"/>
          </a:xfrm>
          <a:prstGeom prst="rect">
            <a:avLst/>
          </a:prstGeom>
        </p:spPr>
      </p:pic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EF2AC56E-BC7E-877E-0B4A-0D688B5D21E0}"/>
              </a:ext>
            </a:extLst>
          </p:cNvPr>
          <p:cNvSpPr/>
          <p:nvPr/>
        </p:nvSpPr>
        <p:spPr>
          <a:xfrm>
            <a:off x="4758803" y="2180864"/>
            <a:ext cx="1828800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24355429-D3C2-97EA-77CE-C86C2BF3E92A}"/>
              </a:ext>
            </a:extLst>
          </p:cNvPr>
          <p:cNvSpPr/>
          <p:nvPr/>
        </p:nvSpPr>
        <p:spPr>
          <a:xfrm>
            <a:off x="7285760" y="2180864"/>
            <a:ext cx="1828800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Police, capture d’écran, horloge, texte&#10;&#10;Le contenu généré par l’IA peut être incorrect.">
            <a:extLst>
              <a:ext uri="{FF2B5EF4-FFF2-40B4-BE49-F238E27FC236}">
                <a16:creationId xmlns:a16="http://schemas.microsoft.com/office/drawing/2014/main" id="{3E857BE9-B354-0F0D-70F5-1BC2736CB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035" y="3297136"/>
            <a:ext cx="1320800" cy="685800"/>
          </a:xfrm>
          <a:prstGeom prst="rect">
            <a:avLst/>
          </a:prstGeom>
        </p:spPr>
      </p:pic>
      <p:pic>
        <p:nvPicPr>
          <p:cNvPr id="11" name="Image 10" descr="Une image contenant texte, Police, écriture manuscri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26E8B3E-B100-A627-AC86-4ECD740BC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839" y="3291760"/>
            <a:ext cx="1867386" cy="691175"/>
          </a:xfrm>
          <a:prstGeom prst="rect">
            <a:avLst/>
          </a:prstGeom>
        </p:spPr>
      </p:pic>
      <p:grpSp>
        <p:nvGrpSpPr>
          <p:cNvPr id="22" name="Groupe 21">
            <a:extLst>
              <a:ext uri="{FF2B5EF4-FFF2-40B4-BE49-F238E27FC236}">
                <a16:creationId xmlns:a16="http://schemas.microsoft.com/office/drawing/2014/main" id="{CBDDC163-5DAE-6DF6-1B14-9DEEC71BCE2D}"/>
              </a:ext>
            </a:extLst>
          </p:cNvPr>
          <p:cNvGrpSpPr/>
          <p:nvPr/>
        </p:nvGrpSpPr>
        <p:grpSpPr>
          <a:xfrm>
            <a:off x="3056898" y="3363343"/>
            <a:ext cx="781878" cy="654025"/>
            <a:chOff x="1864200" y="3294793"/>
            <a:chExt cx="781878" cy="654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82BE9536-6082-6735-83E2-E1F5132FBCFA}"/>
                    </a:ext>
                  </a:extLst>
                </p:cNvPr>
                <p:cNvSpPr txBox="1"/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3200" i="1" smtClean="0">
                            <a:latin typeface="Cambria Math" panose="02040503050406030204" pitchFamily="18" charset="0"/>
                          </a:rPr>
                          <m:t>🟰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82BE9536-6082-6735-83E2-E1F5132FBC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blipFill>
                  <a:blip r:embed="rId5"/>
                  <a:stretch>
                    <a:fillRect l="-1587" t="-1887" r="-1587" b="-566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0039C190-7FE3-6174-3E6A-E70E50172621}"/>
                </a:ext>
              </a:extLst>
            </p:cNvPr>
            <p:cNvCxnSpPr/>
            <p:nvPr/>
          </p:nvCxnSpPr>
          <p:spPr>
            <a:xfrm flipV="1">
              <a:off x="2121519" y="3457799"/>
              <a:ext cx="250620" cy="25676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4" name="Image 23" descr="Une image contenant Police, écriture manuscrite, texte, tableau&#10;&#10;Le contenu généré par l’IA peut être incorrect.">
            <a:extLst>
              <a:ext uri="{FF2B5EF4-FFF2-40B4-BE49-F238E27FC236}">
                <a16:creationId xmlns:a16="http://schemas.microsoft.com/office/drawing/2014/main" id="{71E2B8D2-329D-D7CA-D24D-9C5B1B1C21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7229" y="3297135"/>
            <a:ext cx="1955800" cy="685800"/>
          </a:xfrm>
          <a:prstGeom prst="rect">
            <a:avLst/>
          </a:prstGeom>
        </p:spPr>
      </p:pic>
      <p:grpSp>
        <p:nvGrpSpPr>
          <p:cNvPr id="25" name="Groupe 24">
            <a:extLst>
              <a:ext uri="{FF2B5EF4-FFF2-40B4-BE49-F238E27FC236}">
                <a16:creationId xmlns:a16="http://schemas.microsoft.com/office/drawing/2014/main" id="{A9C17284-1704-80D7-0F13-92CD76EB0BB2}"/>
              </a:ext>
            </a:extLst>
          </p:cNvPr>
          <p:cNvGrpSpPr/>
          <p:nvPr/>
        </p:nvGrpSpPr>
        <p:grpSpPr>
          <a:xfrm>
            <a:off x="5608619" y="3363343"/>
            <a:ext cx="781878" cy="654025"/>
            <a:chOff x="1864200" y="3294793"/>
            <a:chExt cx="781878" cy="654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id="{7724C7BB-4607-302A-DDE5-2A5B73B92821}"/>
                    </a:ext>
                  </a:extLst>
                </p:cNvPr>
                <p:cNvSpPr txBox="1"/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3200" i="1" smtClean="0">
                            <a:latin typeface="Cambria Math" panose="02040503050406030204" pitchFamily="18" charset="0"/>
                          </a:rPr>
                          <m:t>🟰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id="{7724C7BB-4607-302A-DDE5-2A5B73B928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blipFill>
                  <a:blip r:embed="rId7"/>
                  <a:stretch>
                    <a:fillRect l="-1587" t="-1887" r="-1587" b="-566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65219446-C77D-6DA3-9133-EB88E792CF90}"/>
                </a:ext>
              </a:extLst>
            </p:cNvPr>
            <p:cNvCxnSpPr/>
            <p:nvPr/>
          </p:nvCxnSpPr>
          <p:spPr>
            <a:xfrm flipV="1">
              <a:off x="2121519" y="3457799"/>
              <a:ext cx="250620" cy="25676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ZoneTexte 29">
            <a:extLst>
              <a:ext uri="{FF2B5EF4-FFF2-40B4-BE49-F238E27FC236}">
                <a16:creationId xmlns:a16="http://schemas.microsoft.com/office/drawing/2014/main" id="{7D9DEB25-5480-A0D2-6CD4-D3DF6D83CF86}"/>
              </a:ext>
            </a:extLst>
          </p:cNvPr>
          <p:cNvSpPr txBox="1"/>
          <p:nvPr/>
        </p:nvSpPr>
        <p:spPr>
          <a:xfrm>
            <a:off x="2065869" y="3982935"/>
            <a:ext cx="7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basic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9D647716-2A19-C95A-5023-440A89A173B0}"/>
              </a:ext>
            </a:extLst>
          </p:cNvPr>
          <p:cNvSpPr txBox="1"/>
          <p:nvPr/>
        </p:nvSpPr>
        <p:spPr>
          <a:xfrm>
            <a:off x="4093618" y="3982935"/>
            <a:ext cx="126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 </a:t>
            </a:r>
            <a:r>
              <a:rPr lang="fr-FR" dirty="0" err="1"/>
              <a:t>only</a:t>
            </a:r>
            <a:endParaRPr lang="fr-FR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44254DF-137C-219B-3106-5205EEFDDA41}"/>
              </a:ext>
            </a:extLst>
          </p:cNvPr>
          <p:cNvSpPr txBox="1"/>
          <p:nvPr/>
        </p:nvSpPr>
        <p:spPr>
          <a:xfrm>
            <a:off x="6646646" y="3982935"/>
            <a:ext cx="126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result</a:t>
            </a:r>
            <a:r>
              <a:rPr lang="fr-FR" dirty="0"/>
              <a:t> </a:t>
            </a:r>
            <a:r>
              <a:rPr lang="fr-FR" dirty="0" err="1"/>
              <a:t>only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83C6CDC-37D2-564F-7018-D889E3C7820B}"/>
              </a:ext>
            </a:extLst>
          </p:cNvPr>
          <p:cNvSpPr txBox="1"/>
          <p:nvPr/>
        </p:nvSpPr>
        <p:spPr>
          <a:xfrm>
            <a:off x="-405144" y="3439981"/>
            <a:ext cx="2704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R </a:t>
            </a:r>
            <a:r>
              <a:rPr lang="fr-FR" sz="2000" b="1" dirty="0" err="1"/>
              <a:t>markdown</a:t>
            </a:r>
            <a:endParaRPr lang="fr-FR" sz="2000" b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68A70C6-481A-367F-CDED-4180C142B217}"/>
              </a:ext>
            </a:extLst>
          </p:cNvPr>
          <p:cNvSpPr txBox="1"/>
          <p:nvPr/>
        </p:nvSpPr>
        <p:spPr>
          <a:xfrm>
            <a:off x="-405144" y="4858709"/>
            <a:ext cx="2704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Quarto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3D77C39-236C-C5B2-F691-393E47D9A283}"/>
              </a:ext>
            </a:extLst>
          </p:cNvPr>
          <p:cNvSpPr txBox="1"/>
          <p:nvPr/>
        </p:nvSpPr>
        <p:spPr>
          <a:xfrm>
            <a:off x="2052617" y="5531854"/>
            <a:ext cx="7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basic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E43D5B7-A25E-74DC-5197-BD343980D587}"/>
              </a:ext>
            </a:extLst>
          </p:cNvPr>
          <p:cNvSpPr txBox="1"/>
          <p:nvPr/>
        </p:nvSpPr>
        <p:spPr>
          <a:xfrm>
            <a:off x="4080366" y="5531854"/>
            <a:ext cx="126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 </a:t>
            </a:r>
            <a:r>
              <a:rPr lang="fr-FR" dirty="0" err="1"/>
              <a:t>only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54A130F-9FED-8E3D-015F-11C07A1327A3}"/>
              </a:ext>
            </a:extLst>
          </p:cNvPr>
          <p:cNvSpPr txBox="1"/>
          <p:nvPr/>
        </p:nvSpPr>
        <p:spPr>
          <a:xfrm>
            <a:off x="6633394" y="5531854"/>
            <a:ext cx="126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result</a:t>
            </a:r>
            <a:r>
              <a:rPr lang="fr-FR" dirty="0"/>
              <a:t> </a:t>
            </a:r>
            <a:r>
              <a:rPr lang="fr-FR" dirty="0" err="1"/>
              <a:t>only</a:t>
            </a:r>
            <a:endParaRPr lang="fr-FR" dirty="0"/>
          </a:p>
        </p:txBody>
      </p:sp>
      <p:pic>
        <p:nvPicPr>
          <p:cNvPr id="18" name="Image 17" descr="Une image contenant Police, capture d’écran, horloge, texte&#10;&#10;Le contenu généré par l’IA peut être incorrect.">
            <a:extLst>
              <a:ext uri="{FF2B5EF4-FFF2-40B4-BE49-F238E27FC236}">
                <a16:creationId xmlns:a16="http://schemas.microsoft.com/office/drawing/2014/main" id="{B56602A2-4763-E061-BEC3-4BEF2930B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327" y="4746237"/>
            <a:ext cx="1320800" cy="685800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38EC3041-6671-C1F4-2CB1-C2C46C4B5055}"/>
              </a:ext>
            </a:extLst>
          </p:cNvPr>
          <p:cNvGrpSpPr/>
          <p:nvPr/>
        </p:nvGrpSpPr>
        <p:grpSpPr>
          <a:xfrm>
            <a:off x="3046190" y="4812444"/>
            <a:ext cx="781878" cy="654025"/>
            <a:chOff x="1864200" y="3294793"/>
            <a:chExt cx="781878" cy="654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2DE80F50-3D06-3589-64C1-6FFEE6CA38A8}"/>
                    </a:ext>
                  </a:extLst>
                </p:cNvPr>
                <p:cNvSpPr txBox="1"/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3200" i="1" smtClean="0">
                            <a:latin typeface="Cambria Math" panose="02040503050406030204" pitchFamily="18" charset="0"/>
                          </a:rPr>
                          <m:t>🟰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2DE80F50-3D06-3589-64C1-6FFEE6CA38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blipFill>
                  <a:blip r:embed="rId8"/>
                  <a:stretch>
                    <a:fillRect l="-3226" t="-1887" r="-1613" b="-566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8D1491BC-60A2-C998-3F3C-A2332BA1DAAD}"/>
                </a:ext>
              </a:extLst>
            </p:cNvPr>
            <p:cNvCxnSpPr/>
            <p:nvPr/>
          </p:nvCxnSpPr>
          <p:spPr>
            <a:xfrm flipV="1">
              <a:off x="2121519" y="3457799"/>
              <a:ext cx="250620" cy="25676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5" name="Image 34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1E61942B-1988-282F-F963-8ABE865022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1839" y="4614693"/>
            <a:ext cx="1752600" cy="927100"/>
          </a:xfrm>
          <a:prstGeom prst="rect">
            <a:avLst/>
          </a:prstGeom>
        </p:spPr>
      </p:pic>
      <p:pic>
        <p:nvPicPr>
          <p:cNvPr id="37" name="Image 36" descr="Une image contenant Police, text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F146D308-8480-604D-0A11-D789E70A07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530" y="4621718"/>
            <a:ext cx="1752600" cy="927100"/>
          </a:xfrm>
          <a:prstGeom prst="rect">
            <a:avLst/>
          </a:prstGeom>
        </p:spPr>
      </p:pic>
      <p:grpSp>
        <p:nvGrpSpPr>
          <p:cNvPr id="40" name="Groupe 39">
            <a:extLst>
              <a:ext uri="{FF2B5EF4-FFF2-40B4-BE49-F238E27FC236}">
                <a16:creationId xmlns:a16="http://schemas.microsoft.com/office/drawing/2014/main" id="{F7A6E720-7E55-3626-C71B-C422016A502C}"/>
              </a:ext>
            </a:extLst>
          </p:cNvPr>
          <p:cNvGrpSpPr/>
          <p:nvPr/>
        </p:nvGrpSpPr>
        <p:grpSpPr>
          <a:xfrm>
            <a:off x="5600309" y="4812444"/>
            <a:ext cx="781878" cy="654025"/>
            <a:chOff x="1864200" y="3294793"/>
            <a:chExt cx="781878" cy="654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ZoneTexte 40">
                  <a:extLst>
                    <a:ext uri="{FF2B5EF4-FFF2-40B4-BE49-F238E27FC236}">
                      <a16:creationId xmlns:a16="http://schemas.microsoft.com/office/drawing/2014/main" id="{8CDE0D02-0E05-6978-F799-3B220D119CE0}"/>
                    </a:ext>
                  </a:extLst>
                </p:cNvPr>
                <p:cNvSpPr txBox="1"/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3200" i="1" smtClean="0">
                            <a:latin typeface="Cambria Math" panose="02040503050406030204" pitchFamily="18" charset="0"/>
                          </a:rPr>
                          <m:t>🟰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41" name="ZoneTexte 40">
                  <a:extLst>
                    <a:ext uri="{FF2B5EF4-FFF2-40B4-BE49-F238E27FC236}">
                      <a16:creationId xmlns:a16="http://schemas.microsoft.com/office/drawing/2014/main" id="{8CDE0D02-0E05-6978-F799-3B220D119C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blipFill>
                  <a:blip r:embed="rId11"/>
                  <a:stretch>
                    <a:fillRect l="-3226" t="-1887" r="-3226" b="-566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Connecteur droit 41">
              <a:extLst>
                <a:ext uri="{FF2B5EF4-FFF2-40B4-BE49-F238E27FC236}">
                  <a16:creationId xmlns:a16="http://schemas.microsoft.com/office/drawing/2014/main" id="{1AC09104-8424-7B8E-4ED5-2DD34B1652F8}"/>
                </a:ext>
              </a:extLst>
            </p:cNvPr>
            <p:cNvCxnSpPr/>
            <p:nvPr/>
          </p:nvCxnSpPr>
          <p:spPr>
            <a:xfrm flipV="1">
              <a:off x="2121519" y="3457799"/>
              <a:ext cx="250620" cy="25676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3" name="ZoneTexte 42">
            <a:extLst>
              <a:ext uri="{FF2B5EF4-FFF2-40B4-BE49-F238E27FC236}">
                <a16:creationId xmlns:a16="http://schemas.microsoft.com/office/drawing/2014/main" id="{722F6CD9-73A2-1993-D8F8-3A6792A6228D}"/>
              </a:ext>
            </a:extLst>
          </p:cNvPr>
          <p:cNvSpPr txBox="1"/>
          <p:nvPr/>
        </p:nvSpPr>
        <p:spPr>
          <a:xfrm>
            <a:off x="8862302" y="3148050"/>
            <a:ext cx="2527658" cy="3516219"/>
          </a:xfrm>
          <a:prstGeom prst="rect">
            <a:avLst/>
          </a:prstGeom>
          <a:solidFill>
            <a:srgbClr val="7BA1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Main </a:t>
            </a:r>
            <a:r>
              <a:rPr lang="fr-FR" sz="1600" b="1" dirty="0" err="1"/>
              <a:t>chunk</a:t>
            </a:r>
            <a:r>
              <a:rPr lang="fr-FR" sz="1600" b="1" dirty="0"/>
              <a:t> options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 err="1"/>
              <a:t>eval</a:t>
            </a:r>
            <a:endParaRPr lang="fr-FR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 err="1"/>
              <a:t>echo</a:t>
            </a:r>
            <a:endParaRPr lang="fr-FR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warning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 err="1"/>
              <a:t>error</a:t>
            </a:r>
            <a:endParaRPr lang="fr-FR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 err="1"/>
              <a:t>Include</a:t>
            </a:r>
            <a:endParaRPr lang="fr-FR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renderings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label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 err="1"/>
              <a:t>fig</a:t>
            </a:r>
            <a:r>
              <a:rPr lang="fr-FR" sz="1600" dirty="0"/>
              <a:t>-cap/</a:t>
            </a:r>
            <a:r>
              <a:rPr lang="fr-FR" sz="1600" dirty="0" err="1"/>
              <a:t>tbl</a:t>
            </a:r>
            <a:r>
              <a:rPr lang="fr-FR" sz="1600" dirty="0"/>
              <a:t>-cap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 err="1"/>
              <a:t>Fig-width</a:t>
            </a:r>
            <a:r>
              <a:rPr lang="fr-FR" sz="1600" dirty="0"/>
              <a:t>/</a:t>
            </a:r>
            <a:r>
              <a:rPr lang="fr-FR" sz="1600" dirty="0" err="1"/>
              <a:t>height</a:t>
            </a:r>
            <a:r>
              <a:rPr lang="fr-FR" sz="1600" dirty="0"/>
              <a:t>/</a:t>
            </a:r>
            <a:r>
              <a:rPr lang="fr-FR" sz="1600" dirty="0" err="1"/>
              <a:t>align</a:t>
            </a:r>
            <a:endParaRPr lang="fr-FR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223925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4F723-E5F2-3485-A894-C38F70C92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6B34821F-AC54-1D97-31DF-711EDA145406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26258C22-318A-DEE6-9DD2-D409E15BED54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32C1F156-ABCC-147D-262F-0EFA39124CAC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47B2849F-8CD2-3C26-82CB-44607E15A5B0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08C718B4-A105-E39A-5599-5C768AE6CC36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6B8337C-072E-4D0A-1DE5-BC254CFE3D8A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A721B2FD-5926-9AA6-CAC0-75C72FE7AD77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A37270C-1366-74A6-43A2-B62E53914906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Rendering tools: R markdown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4DC1D20-79D8-63DD-FFA3-B4FA071DE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69" y="911616"/>
            <a:ext cx="6832600" cy="2032000"/>
          </a:xfrm>
          <a:prstGeom prst="rect">
            <a:avLst/>
          </a:prstGeom>
        </p:spPr>
      </p:pic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0388AA28-98C5-4A88-B761-46873127A4E0}"/>
              </a:ext>
            </a:extLst>
          </p:cNvPr>
          <p:cNvSpPr/>
          <p:nvPr/>
        </p:nvSpPr>
        <p:spPr>
          <a:xfrm>
            <a:off x="4758803" y="2180864"/>
            <a:ext cx="1828800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A0EB5D9D-B688-0709-4594-154616DA8F48}"/>
              </a:ext>
            </a:extLst>
          </p:cNvPr>
          <p:cNvSpPr/>
          <p:nvPr/>
        </p:nvSpPr>
        <p:spPr>
          <a:xfrm>
            <a:off x="7285760" y="2180864"/>
            <a:ext cx="1828800" cy="618674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Police, capture d’écran, horloge, texte&#10;&#10;Le contenu généré par l’IA peut être incorrect.">
            <a:extLst>
              <a:ext uri="{FF2B5EF4-FFF2-40B4-BE49-F238E27FC236}">
                <a16:creationId xmlns:a16="http://schemas.microsoft.com/office/drawing/2014/main" id="{7A3CBD91-66AF-A602-2FFB-CE4AA411F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035" y="3297136"/>
            <a:ext cx="1320800" cy="685800"/>
          </a:xfrm>
          <a:prstGeom prst="rect">
            <a:avLst/>
          </a:prstGeom>
        </p:spPr>
      </p:pic>
      <p:pic>
        <p:nvPicPr>
          <p:cNvPr id="11" name="Image 10" descr="Une image contenant texte, Police, écriture manuscri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869DBC0-7AA3-670F-F950-DC46D2D03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839" y="3291760"/>
            <a:ext cx="1867386" cy="691175"/>
          </a:xfrm>
          <a:prstGeom prst="rect">
            <a:avLst/>
          </a:prstGeom>
        </p:spPr>
      </p:pic>
      <p:grpSp>
        <p:nvGrpSpPr>
          <p:cNvPr id="22" name="Groupe 21">
            <a:extLst>
              <a:ext uri="{FF2B5EF4-FFF2-40B4-BE49-F238E27FC236}">
                <a16:creationId xmlns:a16="http://schemas.microsoft.com/office/drawing/2014/main" id="{E272A7D1-D30B-AEB1-338D-0F928CB12772}"/>
              </a:ext>
            </a:extLst>
          </p:cNvPr>
          <p:cNvGrpSpPr/>
          <p:nvPr/>
        </p:nvGrpSpPr>
        <p:grpSpPr>
          <a:xfrm>
            <a:off x="3056898" y="3363343"/>
            <a:ext cx="781878" cy="654025"/>
            <a:chOff x="1864200" y="3294793"/>
            <a:chExt cx="781878" cy="654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426E667E-CE0B-65BF-54BC-A17332EAB79E}"/>
                    </a:ext>
                  </a:extLst>
                </p:cNvPr>
                <p:cNvSpPr txBox="1"/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3200" i="1" smtClean="0">
                            <a:latin typeface="Cambria Math" panose="02040503050406030204" pitchFamily="18" charset="0"/>
                          </a:rPr>
                          <m:t>🟰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426E667E-CE0B-65BF-54BC-A17332EAB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blipFill>
                  <a:blip r:embed="rId5"/>
                  <a:stretch>
                    <a:fillRect l="-1587" t="-1887" r="-1587" b="-566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397713BF-84B7-8131-9F54-92FECAD08161}"/>
                </a:ext>
              </a:extLst>
            </p:cNvPr>
            <p:cNvCxnSpPr/>
            <p:nvPr/>
          </p:nvCxnSpPr>
          <p:spPr>
            <a:xfrm flipV="1">
              <a:off x="2121519" y="3457799"/>
              <a:ext cx="250620" cy="25676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4" name="Image 23" descr="Une image contenant Police, écriture manuscrite, texte, tableau&#10;&#10;Le contenu généré par l’IA peut être incorrect.">
            <a:extLst>
              <a:ext uri="{FF2B5EF4-FFF2-40B4-BE49-F238E27FC236}">
                <a16:creationId xmlns:a16="http://schemas.microsoft.com/office/drawing/2014/main" id="{F09991BA-3D1B-8941-BD4D-54F8A5E093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7229" y="3297135"/>
            <a:ext cx="1955800" cy="685800"/>
          </a:xfrm>
          <a:prstGeom prst="rect">
            <a:avLst/>
          </a:prstGeom>
        </p:spPr>
      </p:pic>
      <p:grpSp>
        <p:nvGrpSpPr>
          <p:cNvPr id="25" name="Groupe 24">
            <a:extLst>
              <a:ext uri="{FF2B5EF4-FFF2-40B4-BE49-F238E27FC236}">
                <a16:creationId xmlns:a16="http://schemas.microsoft.com/office/drawing/2014/main" id="{6DC4F0C5-CF4E-CA04-9842-5BF0F1E7E3B9}"/>
              </a:ext>
            </a:extLst>
          </p:cNvPr>
          <p:cNvGrpSpPr/>
          <p:nvPr/>
        </p:nvGrpSpPr>
        <p:grpSpPr>
          <a:xfrm>
            <a:off x="5608619" y="3363343"/>
            <a:ext cx="781878" cy="654025"/>
            <a:chOff x="1864200" y="3294793"/>
            <a:chExt cx="781878" cy="654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id="{9A68A8C7-3695-E15B-AE11-69636EFBE877}"/>
                    </a:ext>
                  </a:extLst>
                </p:cNvPr>
                <p:cNvSpPr txBox="1"/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3200" i="1" smtClean="0">
                            <a:latin typeface="Cambria Math" panose="02040503050406030204" pitchFamily="18" charset="0"/>
                          </a:rPr>
                          <m:t>🟰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id="{9A68A8C7-3695-E15B-AE11-69636EFBE8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blipFill>
                  <a:blip r:embed="rId7"/>
                  <a:stretch>
                    <a:fillRect l="-1587" t="-1887" r="-1587" b="-566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57DF50C7-9469-A180-5136-C917EBF53315}"/>
                </a:ext>
              </a:extLst>
            </p:cNvPr>
            <p:cNvCxnSpPr/>
            <p:nvPr/>
          </p:nvCxnSpPr>
          <p:spPr>
            <a:xfrm flipV="1">
              <a:off x="2121519" y="3457799"/>
              <a:ext cx="250620" cy="25676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ZoneTexte 29">
            <a:extLst>
              <a:ext uri="{FF2B5EF4-FFF2-40B4-BE49-F238E27FC236}">
                <a16:creationId xmlns:a16="http://schemas.microsoft.com/office/drawing/2014/main" id="{19C3D548-3022-3306-CC80-E4A0E644C82E}"/>
              </a:ext>
            </a:extLst>
          </p:cNvPr>
          <p:cNvSpPr txBox="1"/>
          <p:nvPr/>
        </p:nvSpPr>
        <p:spPr>
          <a:xfrm>
            <a:off x="2065869" y="3982935"/>
            <a:ext cx="7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basic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622321B-55CC-3A09-1039-76EF7E84ABEB}"/>
              </a:ext>
            </a:extLst>
          </p:cNvPr>
          <p:cNvSpPr txBox="1"/>
          <p:nvPr/>
        </p:nvSpPr>
        <p:spPr>
          <a:xfrm>
            <a:off x="4093618" y="3982935"/>
            <a:ext cx="126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 </a:t>
            </a:r>
            <a:r>
              <a:rPr lang="fr-FR" dirty="0" err="1"/>
              <a:t>only</a:t>
            </a:r>
            <a:endParaRPr lang="fr-FR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83A63B3E-D058-2837-EBD2-94B0DB068F18}"/>
              </a:ext>
            </a:extLst>
          </p:cNvPr>
          <p:cNvSpPr txBox="1"/>
          <p:nvPr/>
        </p:nvSpPr>
        <p:spPr>
          <a:xfrm>
            <a:off x="6646646" y="3982935"/>
            <a:ext cx="126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result</a:t>
            </a:r>
            <a:r>
              <a:rPr lang="fr-FR" dirty="0"/>
              <a:t> </a:t>
            </a:r>
            <a:r>
              <a:rPr lang="fr-FR" dirty="0" err="1"/>
              <a:t>only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A569833-EF92-6D76-57AD-C9D934409F64}"/>
              </a:ext>
            </a:extLst>
          </p:cNvPr>
          <p:cNvSpPr txBox="1"/>
          <p:nvPr/>
        </p:nvSpPr>
        <p:spPr>
          <a:xfrm>
            <a:off x="-405144" y="3439981"/>
            <a:ext cx="2704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R </a:t>
            </a:r>
            <a:r>
              <a:rPr lang="fr-FR" sz="2000" b="1" dirty="0" err="1"/>
              <a:t>markdown</a:t>
            </a:r>
            <a:endParaRPr lang="fr-FR" sz="2000" b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6194972-29AC-EFD7-F81F-202D9CAC2FEE}"/>
              </a:ext>
            </a:extLst>
          </p:cNvPr>
          <p:cNvSpPr txBox="1"/>
          <p:nvPr/>
        </p:nvSpPr>
        <p:spPr>
          <a:xfrm>
            <a:off x="-405144" y="4858709"/>
            <a:ext cx="2704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Quarto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679FAEA-E92F-FE46-73A8-B72EC9C69690}"/>
              </a:ext>
            </a:extLst>
          </p:cNvPr>
          <p:cNvSpPr txBox="1"/>
          <p:nvPr/>
        </p:nvSpPr>
        <p:spPr>
          <a:xfrm>
            <a:off x="2052617" y="5531854"/>
            <a:ext cx="79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basic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1702169-ABB8-F446-79B2-ABF4D5F6E77B}"/>
              </a:ext>
            </a:extLst>
          </p:cNvPr>
          <p:cNvSpPr txBox="1"/>
          <p:nvPr/>
        </p:nvSpPr>
        <p:spPr>
          <a:xfrm>
            <a:off x="4080366" y="5531854"/>
            <a:ext cx="126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code </a:t>
            </a:r>
            <a:r>
              <a:rPr lang="fr-FR" dirty="0" err="1"/>
              <a:t>only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3828CB3-4905-2662-29A8-FBB46BE6DC37}"/>
              </a:ext>
            </a:extLst>
          </p:cNvPr>
          <p:cNvSpPr txBox="1"/>
          <p:nvPr/>
        </p:nvSpPr>
        <p:spPr>
          <a:xfrm>
            <a:off x="6633394" y="5531854"/>
            <a:ext cx="126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result</a:t>
            </a:r>
            <a:r>
              <a:rPr lang="fr-FR" dirty="0"/>
              <a:t> </a:t>
            </a:r>
            <a:r>
              <a:rPr lang="fr-FR" dirty="0" err="1"/>
              <a:t>only</a:t>
            </a:r>
            <a:endParaRPr lang="fr-FR" dirty="0"/>
          </a:p>
        </p:txBody>
      </p:sp>
      <p:pic>
        <p:nvPicPr>
          <p:cNvPr id="18" name="Image 17" descr="Une image contenant Police, capture d’écran, horloge, texte&#10;&#10;Le contenu généré par l’IA peut être incorrect.">
            <a:extLst>
              <a:ext uri="{FF2B5EF4-FFF2-40B4-BE49-F238E27FC236}">
                <a16:creationId xmlns:a16="http://schemas.microsoft.com/office/drawing/2014/main" id="{9CF3F4E6-7CC5-C24D-3B95-7159DE4EC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327" y="4746237"/>
            <a:ext cx="1320800" cy="685800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25CF0E05-E72A-6731-D91D-01F70150640A}"/>
              </a:ext>
            </a:extLst>
          </p:cNvPr>
          <p:cNvGrpSpPr/>
          <p:nvPr/>
        </p:nvGrpSpPr>
        <p:grpSpPr>
          <a:xfrm>
            <a:off x="3046190" y="4812444"/>
            <a:ext cx="781878" cy="654025"/>
            <a:chOff x="1864200" y="3294793"/>
            <a:chExt cx="781878" cy="654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B2CEB07A-B4DF-4D86-C1E2-FF642C2DF07A}"/>
                    </a:ext>
                  </a:extLst>
                </p:cNvPr>
                <p:cNvSpPr txBox="1"/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3200" i="1" smtClean="0">
                            <a:latin typeface="Cambria Math" panose="02040503050406030204" pitchFamily="18" charset="0"/>
                          </a:rPr>
                          <m:t>🟰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B2CEB07A-B4DF-4D86-C1E2-FF642C2DF0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blipFill>
                  <a:blip r:embed="rId8"/>
                  <a:stretch>
                    <a:fillRect l="-3226" t="-1887" r="-1613" b="-566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4F91C8E7-FBF6-B09E-05BD-07FECBD2F69A}"/>
                </a:ext>
              </a:extLst>
            </p:cNvPr>
            <p:cNvCxnSpPr/>
            <p:nvPr/>
          </p:nvCxnSpPr>
          <p:spPr>
            <a:xfrm flipV="1">
              <a:off x="2121519" y="3457799"/>
              <a:ext cx="250620" cy="25676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5" name="Image 34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11444267-BC81-BE40-96AB-7CCF40D244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1839" y="4614693"/>
            <a:ext cx="1752600" cy="927100"/>
          </a:xfrm>
          <a:prstGeom prst="rect">
            <a:avLst/>
          </a:prstGeom>
        </p:spPr>
      </p:pic>
      <p:pic>
        <p:nvPicPr>
          <p:cNvPr id="37" name="Image 36" descr="Une image contenant Police, text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A01A93A2-F220-1A86-5629-C6F832F44C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530" y="4621718"/>
            <a:ext cx="1752600" cy="927100"/>
          </a:xfrm>
          <a:prstGeom prst="rect">
            <a:avLst/>
          </a:prstGeom>
        </p:spPr>
      </p:pic>
      <p:grpSp>
        <p:nvGrpSpPr>
          <p:cNvPr id="40" name="Groupe 39">
            <a:extLst>
              <a:ext uri="{FF2B5EF4-FFF2-40B4-BE49-F238E27FC236}">
                <a16:creationId xmlns:a16="http://schemas.microsoft.com/office/drawing/2014/main" id="{709C9B83-9637-01C1-7A29-5F323971FDC7}"/>
              </a:ext>
            </a:extLst>
          </p:cNvPr>
          <p:cNvGrpSpPr/>
          <p:nvPr/>
        </p:nvGrpSpPr>
        <p:grpSpPr>
          <a:xfrm>
            <a:off x="5600309" y="4812444"/>
            <a:ext cx="781878" cy="654025"/>
            <a:chOff x="1864200" y="3294793"/>
            <a:chExt cx="781878" cy="6540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ZoneTexte 40">
                  <a:extLst>
                    <a:ext uri="{FF2B5EF4-FFF2-40B4-BE49-F238E27FC236}">
                      <a16:creationId xmlns:a16="http://schemas.microsoft.com/office/drawing/2014/main" id="{56C5755E-BCC5-770F-8078-C1538A349D57}"/>
                    </a:ext>
                  </a:extLst>
                </p:cNvPr>
                <p:cNvSpPr txBox="1"/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3200" i="1" smtClean="0">
                            <a:latin typeface="Cambria Math" panose="02040503050406030204" pitchFamily="18" charset="0"/>
                          </a:rPr>
                          <m:t>🟰</m:t>
                        </m:r>
                      </m:oMath>
                    </m:oMathPara>
                  </a14:m>
                  <a:endParaRPr lang="fr-FR" sz="2400" dirty="0"/>
                </a:p>
              </p:txBody>
            </p:sp>
          </mc:Choice>
          <mc:Fallback xmlns="">
            <p:sp>
              <p:nvSpPr>
                <p:cNvPr id="41" name="ZoneTexte 40">
                  <a:extLst>
                    <a:ext uri="{FF2B5EF4-FFF2-40B4-BE49-F238E27FC236}">
                      <a16:creationId xmlns:a16="http://schemas.microsoft.com/office/drawing/2014/main" id="{56C5755E-BCC5-770F-8078-C1538A349D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200" y="3294793"/>
                  <a:ext cx="781878" cy="654025"/>
                </a:xfrm>
                <a:prstGeom prst="rect">
                  <a:avLst/>
                </a:prstGeom>
                <a:blipFill>
                  <a:blip r:embed="rId11"/>
                  <a:stretch>
                    <a:fillRect l="-3226" t="-1887" r="-3226" b="-566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Connecteur droit 41">
              <a:extLst>
                <a:ext uri="{FF2B5EF4-FFF2-40B4-BE49-F238E27FC236}">
                  <a16:creationId xmlns:a16="http://schemas.microsoft.com/office/drawing/2014/main" id="{76994444-B997-4E80-F963-4B2103812FD2}"/>
                </a:ext>
              </a:extLst>
            </p:cNvPr>
            <p:cNvCxnSpPr/>
            <p:nvPr/>
          </p:nvCxnSpPr>
          <p:spPr>
            <a:xfrm flipV="1">
              <a:off x="2121519" y="3457799"/>
              <a:ext cx="250620" cy="256769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3" name="ZoneTexte 42">
            <a:extLst>
              <a:ext uri="{FF2B5EF4-FFF2-40B4-BE49-F238E27FC236}">
                <a16:creationId xmlns:a16="http://schemas.microsoft.com/office/drawing/2014/main" id="{77F50F25-59CB-7B8E-6C6C-469C9AEFAF74}"/>
              </a:ext>
            </a:extLst>
          </p:cNvPr>
          <p:cNvSpPr txBox="1"/>
          <p:nvPr/>
        </p:nvSpPr>
        <p:spPr>
          <a:xfrm>
            <a:off x="8862302" y="3148050"/>
            <a:ext cx="2527658" cy="3516219"/>
          </a:xfrm>
          <a:prstGeom prst="rect">
            <a:avLst/>
          </a:prstGeom>
          <a:solidFill>
            <a:srgbClr val="7BA1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Main </a:t>
            </a:r>
            <a:r>
              <a:rPr lang="fr-FR" sz="1600" b="1" dirty="0" err="1"/>
              <a:t>chunk</a:t>
            </a:r>
            <a:r>
              <a:rPr lang="fr-FR" sz="1600" b="1" dirty="0"/>
              <a:t> options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 err="1"/>
              <a:t>eval</a:t>
            </a:r>
            <a:endParaRPr lang="fr-FR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 err="1"/>
              <a:t>echo</a:t>
            </a:r>
            <a:endParaRPr lang="fr-FR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warning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 err="1"/>
              <a:t>error</a:t>
            </a:r>
            <a:endParaRPr lang="fr-FR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 err="1"/>
              <a:t>Include</a:t>
            </a:r>
            <a:endParaRPr lang="fr-FR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renderings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label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 err="1"/>
              <a:t>fig</a:t>
            </a:r>
            <a:r>
              <a:rPr lang="fr-FR" sz="1600" dirty="0"/>
              <a:t>-cap/</a:t>
            </a:r>
            <a:r>
              <a:rPr lang="fr-FR" sz="1600" dirty="0" err="1"/>
              <a:t>tbl</a:t>
            </a:r>
            <a:r>
              <a:rPr lang="fr-FR" sz="1600" dirty="0"/>
              <a:t>-cap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 err="1"/>
              <a:t>Fig-width</a:t>
            </a:r>
            <a:r>
              <a:rPr lang="fr-FR" sz="1600" dirty="0"/>
              <a:t>/</a:t>
            </a:r>
            <a:r>
              <a:rPr lang="fr-FR" sz="1600" dirty="0" err="1"/>
              <a:t>height</a:t>
            </a:r>
            <a:r>
              <a:rPr lang="fr-FR" sz="1600" dirty="0"/>
              <a:t>/</a:t>
            </a:r>
            <a:r>
              <a:rPr lang="fr-FR" sz="1600" dirty="0" err="1"/>
              <a:t>align</a:t>
            </a:r>
            <a:endParaRPr lang="fr-FR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fr-FR" sz="1600" dirty="0"/>
              <a:t>…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AAB7962-CEED-C3DF-F4C1-25B96557F932}"/>
              </a:ext>
            </a:extLst>
          </p:cNvPr>
          <p:cNvSpPr txBox="1"/>
          <p:nvPr/>
        </p:nvSpPr>
        <p:spPr>
          <a:xfrm>
            <a:off x="532072" y="6198104"/>
            <a:ext cx="6101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Including</a:t>
            </a:r>
            <a:r>
              <a:rPr lang="fr-FR" dirty="0"/>
              <a:t> </a:t>
            </a:r>
            <a:r>
              <a:rPr lang="fr-FR" dirty="0" err="1"/>
              <a:t>inline</a:t>
            </a:r>
            <a:r>
              <a:rPr lang="fr-FR" dirty="0"/>
              <a:t> code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possible: </a:t>
            </a:r>
            <a:r>
              <a:rPr lang="fr-FR" b="1" dirty="0"/>
              <a:t>`r</a:t>
            </a:r>
            <a:r>
              <a:rPr lang="fr-FR" dirty="0"/>
              <a:t> </a:t>
            </a:r>
            <a:r>
              <a:rPr lang="fr-FR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write</a:t>
            </a:r>
            <a:r>
              <a:rPr lang="fr-F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fr-FR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your</a:t>
            </a:r>
            <a:r>
              <a:rPr lang="fr-F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code</a:t>
            </a:r>
            <a:r>
              <a:rPr lang="fr-FR" b="1" dirty="0"/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28015922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E9093-89E7-D608-BD94-3F40F12AD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1384D7A-4F97-7915-5466-156EFE26529C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AF7E816-08C8-0E7C-92F6-5DD54B95DA17}"/>
              </a:ext>
            </a:extLst>
          </p:cNvPr>
          <p:cNvSpPr/>
          <p:nvPr/>
        </p:nvSpPr>
        <p:spPr>
          <a:xfrm>
            <a:off x="3730672" y="1149264"/>
            <a:ext cx="3394553" cy="2279737"/>
          </a:xfrm>
          <a:prstGeom prst="roundRect">
            <a:avLst/>
          </a:prstGeom>
          <a:solidFill>
            <a:srgbClr val="E7A1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ARCHITECTURE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113F9B4-DCC1-052D-F10E-64303CBE8EDE}"/>
              </a:ext>
            </a:extLst>
          </p:cNvPr>
          <p:cNvSpPr/>
          <p:nvPr/>
        </p:nvSpPr>
        <p:spPr>
          <a:xfrm>
            <a:off x="7300589" y="1149263"/>
            <a:ext cx="3394554" cy="2279737"/>
          </a:xfrm>
          <a:prstGeom prst="roundRect">
            <a:avLst/>
          </a:prstGeom>
          <a:solidFill>
            <a:srgbClr val="C6C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IMPLEMENTATION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A252064-C3E4-26C3-5167-97D99C4B8941}"/>
              </a:ext>
            </a:extLst>
          </p:cNvPr>
          <p:cNvSpPr/>
          <p:nvPr/>
        </p:nvSpPr>
        <p:spPr>
          <a:xfrm>
            <a:off x="3730671" y="3581400"/>
            <a:ext cx="3394554" cy="2279737"/>
          </a:xfrm>
          <a:prstGeom prst="roundRect">
            <a:avLst/>
          </a:prstGeom>
          <a:solidFill>
            <a:srgbClr val="D8A49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TRACKING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B0A38935-D0CD-39B2-01B4-12DC1E6752CE}"/>
              </a:ext>
            </a:extLst>
          </p:cNvPr>
          <p:cNvSpPr/>
          <p:nvPr/>
        </p:nvSpPr>
        <p:spPr>
          <a:xfrm>
            <a:off x="7300588" y="3581400"/>
            <a:ext cx="3394554" cy="2279737"/>
          </a:xfrm>
          <a:prstGeom prst="roundRect">
            <a:avLst/>
          </a:prstGeom>
          <a:solidFill>
            <a:srgbClr val="7394D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SHARING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C2B36E1-A46E-E682-4887-E7E6D68DC0E6}"/>
              </a:ext>
            </a:extLst>
          </p:cNvPr>
          <p:cNvSpPr txBox="1"/>
          <p:nvPr/>
        </p:nvSpPr>
        <p:spPr>
          <a:xfrm>
            <a:off x="263045" y="2890391"/>
            <a:ext cx="29436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The 4 pillars of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13748714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9B79-65F0-EBA3-98FE-7AB6C061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A957D6CF-9ECB-2779-3054-73608DE0D23F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3591FD5F-C1EA-1174-F6CB-2690B02617BA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6D110151-3254-1DDF-7835-ABF9C6A732E6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6CDCD3D9-ACFF-DCBE-ED8A-3CE66E02F57E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28AA921B-9B69-1F2D-E680-625F5398938E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88ED32D-8E46-AA61-17DD-355501E3C77D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63F2074-DEA5-9636-F898-60F558D81B4C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EA4DC1A-25DB-A0F6-5352-A0C1E1F9CEF0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</p:spTree>
    <p:extLst>
      <p:ext uri="{BB962C8B-B14F-4D97-AF65-F5344CB8AC3E}">
        <p14:creationId xmlns:p14="http://schemas.microsoft.com/office/powerpoint/2010/main" val="3978188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4036D-8F89-0A0B-7BF7-EBDB57617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1B887426-143A-9B9C-176A-D8F45461CDB8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664B3CF2-286B-75E4-67A6-237EB7FC24B8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B5E38AA8-C8DB-E098-DEA4-352662F2D436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14016327-C31A-341E-27BD-551EAEEDBA20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89F6E4CE-4AC3-528E-29DB-D9F8CFF01E75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0EC0C703-5861-0920-8C8B-DC6EE3C9CF2C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FFB3D2C-D870-9E4B-CF59-01D2DD4175F3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E423350-1D6A-6498-A305-B37A86B61436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A24BF0A-0A48-CD4A-CC21-FD80DCBDD905}"/>
              </a:ext>
            </a:extLst>
          </p:cNvPr>
          <p:cNvSpPr txBox="1"/>
          <p:nvPr/>
        </p:nvSpPr>
        <p:spPr>
          <a:xfrm>
            <a:off x="5182561" y="887944"/>
            <a:ext cx="5576341" cy="1575881"/>
          </a:xfrm>
          <a:prstGeom prst="rect">
            <a:avLst/>
          </a:prstGeom>
          <a:solidFill>
            <a:srgbClr val="D8A499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Dedicated to collaborative work (i.e. scientific labs)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Increasingly used as a showcase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Supports reproducibility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Needs time to be familiar…</a:t>
            </a:r>
          </a:p>
        </p:txBody>
      </p:sp>
    </p:spTree>
    <p:extLst>
      <p:ext uri="{BB962C8B-B14F-4D97-AF65-F5344CB8AC3E}">
        <p14:creationId xmlns:p14="http://schemas.microsoft.com/office/powerpoint/2010/main" val="41797992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16BF1-E4E8-70FE-7919-DAC99BCB7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CA1BC0F8-23BC-AFED-032A-E25337623BD7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63708715-DF01-2DD5-02DD-2E95BCEAB605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54BE3811-7385-240F-C958-CEB658834C07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5ADA3C33-79FA-DAED-4EFC-A2791B511925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90DBEF92-414E-EBE4-A9D0-5262A8838C69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C1F8615-C6CA-FCD8-317F-16B5D2AE6829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D096598-CB9A-CD7E-DE45-B7E13C5D1337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7596501-A278-AB1B-41A4-D7EC10D0E19C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A92970C-7BB2-0343-DF5F-59F42DA9334E}"/>
              </a:ext>
            </a:extLst>
          </p:cNvPr>
          <p:cNvSpPr txBox="1"/>
          <p:nvPr/>
        </p:nvSpPr>
        <p:spPr>
          <a:xfrm>
            <a:off x="5182561" y="887944"/>
            <a:ext cx="5576341" cy="1575881"/>
          </a:xfrm>
          <a:prstGeom prst="rect">
            <a:avLst/>
          </a:prstGeom>
          <a:solidFill>
            <a:srgbClr val="D8A499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Dedicated to collaborative work (i.e. scientific labs)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Increasingly used as a showcase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Supports reproducibility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Needs time to be familiar…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4442DF3-BF14-92E2-392B-88DD8F28C644}"/>
              </a:ext>
            </a:extLst>
          </p:cNvPr>
          <p:cNvSpPr/>
          <p:nvPr/>
        </p:nvSpPr>
        <p:spPr>
          <a:xfrm>
            <a:off x="2005673" y="3078223"/>
            <a:ext cx="5939117" cy="3672590"/>
          </a:xfrm>
          <a:prstGeom prst="roundRect">
            <a:avLst/>
          </a:prstGeom>
          <a:solidFill>
            <a:srgbClr val="C27C39">
              <a:alpha val="5964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77FB518-56A3-3AD7-BE25-CD5B5B2D0F5E}"/>
              </a:ext>
            </a:extLst>
          </p:cNvPr>
          <p:cNvSpPr txBox="1"/>
          <p:nvPr/>
        </p:nvSpPr>
        <p:spPr>
          <a:xfrm>
            <a:off x="4350885" y="2644587"/>
            <a:ext cx="179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Git (local)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E661934-8C37-A467-7198-12C435C6A560}"/>
              </a:ext>
            </a:extLst>
          </p:cNvPr>
          <p:cNvSpPr/>
          <p:nvPr/>
        </p:nvSpPr>
        <p:spPr>
          <a:xfrm>
            <a:off x="5904337" y="3078223"/>
            <a:ext cx="1343588" cy="3672590"/>
          </a:xfrm>
          <a:prstGeom prst="rect">
            <a:avLst/>
          </a:prstGeom>
          <a:pattFill prst="dkUpDiag">
            <a:fgClr>
              <a:schemeClr val="accent5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1D111BDA-B587-1FD0-C4D9-0954492D087C}"/>
              </a:ext>
            </a:extLst>
          </p:cNvPr>
          <p:cNvSpPr/>
          <p:nvPr/>
        </p:nvSpPr>
        <p:spPr>
          <a:xfrm>
            <a:off x="5906125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600F799B-34BE-D13B-F5B5-E20EBB3307B2}"/>
              </a:ext>
            </a:extLst>
          </p:cNvPr>
          <p:cNvSpPr txBox="1"/>
          <p:nvPr/>
        </p:nvSpPr>
        <p:spPr>
          <a:xfrm>
            <a:off x="6096000" y="3078223"/>
            <a:ext cx="94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master</a:t>
            </a:r>
          </a:p>
        </p:txBody>
      </p:sp>
    </p:spTree>
    <p:extLst>
      <p:ext uri="{BB962C8B-B14F-4D97-AF65-F5344CB8AC3E}">
        <p14:creationId xmlns:p14="http://schemas.microsoft.com/office/powerpoint/2010/main" val="23511561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A1FB7-38BB-804C-6B6B-67C1F3A1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FFCA4348-9E0A-3AC8-3A59-6B28E785A5AF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971B198A-B801-66B6-2D4E-F3AE95494F26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BDB988D1-EDC8-0952-4355-E7D307C61A07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CBF1E32D-82BA-4DD4-611D-4A8D9B6DFD2A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6F39BEE7-BD47-4C1C-537B-BABD77690460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DDFD37E-4D02-3A14-D7E8-7189C5779757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221C2DD0-6666-85C9-9E1D-6367AC060E54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DA3A9E8-47AC-138F-72A0-ADA54F06FE80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E829EEF-5ACF-1F35-183F-88BA4E6BCEFC}"/>
              </a:ext>
            </a:extLst>
          </p:cNvPr>
          <p:cNvSpPr txBox="1"/>
          <p:nvPr/>
        </p:nvSpPr>
        <p:spPr>
          <a:xfrm>
            <a:off x="5182561" y="887944"/>
            <a:ext cx="5576341" cy="1575881"/>
          </a:xfrm>
          <a:prstGeom prst="rect">
            <a:avLst/>
          </a:prstGeom>
          <a:solidFill>
            <a:srgbClr val="D8A499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Dedicated to collaborative work (i.e. scientific labs)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Increasingly used as a showcase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Supports reproducibility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Needs time to be familiar…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5BB3202-9343-0CA2-30C1-2879401A3644}"/>
              </a:ext>
            </a:extLst>
          </p:cNvPr>
          <p:cNvSpPr/>
          <p:nvPr/>
        </p:nvSpPr>
        <p:spPr>
          <a:xfrm>
            <a:off x="2005673" y="3078223"/>
            <a:ext cx="5939117" cy="3672590"/>
          </a:xfrm>
          <a:prstGeom prst="roundRect">
            <a:avLst/>
          </a:prstGeom>
          <a:solidFill>
            <a:srgbClr val="C27C39">
              <a:alpha val="5964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AA6FE45-0CA6-B097-A2B3-8A3A08CD2DB3}"/>
              </a:ext>
            </a:extLst>
          </p:cNvPr>
          <p:cNvSpPr txBox="1"/>
          <p:nvPr/>
        </p:nvSpPr>
        <p:spPr>
          <a:xfrm>
            <a:off x="4350885" y="2644587"/>
            <a:ext cx="179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Git (local)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E3EDDA7-9271-B2BD-A580-CA3BBCFD3C75}"/>
              </a:ext>
            </a:extLst>
          </p:cNvPr>
          <p:cNvSpPr/>
          <p:nvPr/>
        </p:nvSpPr>
        <p:spPr>
          <a:xfrm>
            <a:off x="5904337" y="3078223"/>
            <a:ext cx="1343588" cy="3672590"/>
          </a:xfrm>
          <a:prstGeom prst="rect">
            <a:avLst/>
          </a:prstGeom>
          <a:pattFill prst="dkUpDiag">
            <a:fgClr>
              <a:schemeClr val="accent5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AF4F1FE-ADDC-C012-A8A7-F56A1E0F56B9}"/>
              </a:ext>
            </a:extLst>
          </p:cNvPr>
          <p:cNvSpPr/>
          <p:nvPr/>
        </p:nvSpPr>
        <p:spPr>
          <a:xfrm>
            <a:off x="5906125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18F90B6-3AC9-3BF8-2365-5191367A7080}"/>
              </a:ext>
            </a:extLst>
          </p:cNvPr>
          <p:cNvSpPr/>
          <p:nvPr/>
        </p:nvSpPr>
        <p:spPr>
          <a:xfrm>
            <a:off x="3472988" y="3078223"/>
            <a:ext cx="1343588" cy="3672590"/>
          </a:xfrm>
          <a:prstGeom prst="rect">
            <a:avLst/>
          </a:prstGeom>
          <a:pattFill prst="dkUpDiag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917CD1F4-AA79-2CCE-D8F1-277AD56915E9}"/>
              </a:ext>
            </a:extLst>
          </p:cNvPr>
          <p:cNvSpPr/>
          <p:nvPr/>
        </p:nvSpPr>
        <p:spPr>
          <a:xfrm>
            <a:off x="3477720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16A23FDA-233B-0CC9-1CDD-116C2585AD69}"/>
              </a:ext>
            </a:extLst>
          </p:cNvPr>
          <p:cNvCxnSpPr/>
          <p:nvPr/>
        </p:nvCxnSpPr>
        <p:spPr>
          <a:xfrm flipH="1">
            <a:off x="4886794" y="3897443"/>
            <a:ext cx="929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BDCD955B-5312-C8DD-FDA7-6B9001A606A9}"/>
              </a:ext>
            </a:extLst>
          </p:cNvPr>
          <p:cNvSpPr txBox="1"/>
          <p:nvPr/>
        </p:nvSpPr>
        <p:spPr>
          <a:xfrm>
            <a:off x="4826834" y="3543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BRANCH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A9A7048-5CFC-9EAA-8FDF-3401B50646E7}"/>
              </a:ext>
            </a:extLst>
          </p:cNvPr>
          <p:cNvSpPr txBox="1"/>
          <p:nvPr/>
        </p:nvSpPr>
        <p:spPr>
          <a:xfrm>
            <a:off x="6096000" y="3078223"/>
            <a:ext cx="94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master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CE4A4D4-E3EF-7D3B-D28F-127F2A25DBAF}"/>
              </a:ext>
            </a:extLst>
          </p:cNvPr>
          <p:cNvSpPr txBox="1"/>
          <p:nvPr/>
        </p:nvSpPr>
        <p:spPr>
          <a:xfrm>
            <a:off x="3595143" y="3059668"/>
            <a:ext cx="114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working</a:t>
            </a:r>
          </a:p>
        </p:txBody>
      </p:sp>
    </p:spTree>
    <p:extLst>
      <p:ext uri="{BB962C8B-B14F-4D97-AF65-F5344CB8AC3E}">
        <p14:creationId xmlns:p14="http://schemas.microsoft.com/office/powerpoint/2010/main" val="12601728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EE1E-04F3-A166-699D-B7844290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359BE4BD-A482-3FE3-DC2C-215CC7CF3C21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E3DFF24D-68CA-A4F8-FF02-DF5A60F5DEC8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97EB776C-9F77-C99B-73E6-A24EB57732D0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A670CD5C-5120-E017-C8D7-4A75FC872511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5C978A67-D3B2-4551-2B5E-B4BEF35AF300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80330C8B-5293-3AA0-270E-2D44EEE474FE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7B28428-0489-4B34-0016-987B4EEA5214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DA75BD0-CC6C-C896-9A9D-E5A134423CC8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CFF4436-10B3-EE4C-E044-CF622ACA72C3}"/>
              </a:ext>
            </a:extLst>
          </p:cNvPr>
          <p:cNvSpPr txBox="1"/>
          <p:nvPr/>
        </p:nvSpPr>
        <p:spPr>
          <a:xfrm>
            <a:off x="5182561" y="887944"/>
            <a:ext cx="5576341" cy="1575881"/>
          </a:xfrm>
          <a:prstGeom prst="rect">
            <a:avLst/>
          </a:prstGeom>
          <a:solidFill>
            <a:srgbClr val="D8A499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Dedicated to collaborative work (i.e. scientific labs)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Increasingly used as a showcase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Supports reproducibility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Needs time to be familiar…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071FC31-641B-FDBF-F953-E0D20E52051F}"/>
              </a:ext>
            </a:extLst>
          </p:cNvPr>
          <p:cNvSpPr/>
          <p:nvPr/>
        </p:nvSpPr>
        <p:spPr>
          <a:xfrm>
            <a:off x="2005673" y="3078223"/>
            <a:ext cx="5939117" cy="3672590"/>
          </a:xfrm>
          <a:prstGeom prst="roundRect">
            <a:avLst/>
          </a:prstGeom>
          <a:solidFill>
            <a:srgbClr val="C27C39">
              <a:alpha val="5964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00766A4-AA77-4D90-0CB6-1B5108AF2BBD}"/>
              </a:ext>
            </a:extLst>
          </p:cNvPr>
          <p:cNvSpPr txBox="1"/>
          <p:nvPr/>
        </p:nvSpPr>
        <p:spPr>
          <a:xfrm>
            <a:off x="4350885" y="2644587"/>
            <a:ext cx="179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Git (local)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C62D7BC-0182-9A4F-2B5C-1C3FAA8C7BFC}"/>
              </a:ext>
            </a:extLst>
          </p:cNvPr>
          <p:cNvSpPr/>
          <p:nvPr/>
        </p:nvSpPr>
        <p:spPr>
          <a:xfrm>
            <a:off x="5904337" y="3078223"/>
            <a:ext cx="1343588" cy="3672590"/>
          </a:xfrm>
          <a:prstGeom prst="rect">
            <a:avLst/>
          </a:prstGeom>
          <a:pattFill prst="dkUpDiag">
            <a:fgClr>
              <a:schemeClr val="accent5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F041606-CF07-B8EF-9A4C-4F49223E3020}"/>
              </a:ext>
            </a:extLst>
          </p:cNvPr>
          <p:cNvSpPr/>
          <p:nvPr/>
        </p:nvSpPr>
        <p:spPr>
          <a:xfrm>
            <a:off x="5906125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FE5C7DB-394D-7BB8-E50D-A16F98D18502}"/>
              </a:ext>
            </a:extLst>
          </p:cNvPr>
          <p:cNvSpPr/>
          <p:nvPr/>
        </p:nvSpPr>
        <p:spPr>
          <a:xfrm>
            <a:off x="3472988" y="3078223"/>
            <a:ext cx="1343588" cy="3672590"/>
          </a:xfrm>
          <a:prstGeom prst="rect">
            <a:avLst/>
          </a:prstGeom>
          <a:pattFill prst="dkUpDiag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54B75BAD-8648-3D07-F981-8C43B687E655}"/>
              </a:ext>
            </a:extLst>
          </p:cNvPr>
          <p:cNvSpPr/>
          <p:nvPr/>
        </p:nvSpPr>
        <p:spPr>
          <a:xfrm>
            <a:off x="3477720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DF9E3EED-0AAC-520C-8226-8E5382023BF6}"/>
              </a:ext>
            </a:extLst>
          </p:cNvPr>
          <p:cNvCxnSpPr>
            <a:cxnSpLocks/>
          </p:cNvCxnSpPr>
          <p:nvPr/>
        </p:nvCxnSpPr>
        <p:spPr>
          <a:xfrm>
            <a:off x="2398435" y="3897443"/>
            <a:ext cx="0" cy="258632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B7B45ADA-C375-F4B0-AE3C-90065D9719E9}"/>
              </a:ext>
            </a:extLst>
          </p:cNvPr>
          <p:cNvSpPr txBox="1"/>
          <p:nvPr/>
        </p:nvSpPr>
        <p:spPr>
          <a:xfrm rot="16200000">
            <a:off x="1005718" y="4745241"/>
            <a:ext cx="233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Work in progress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ADD9C619-5DEC-5B62-6554-557ADC759099}"/>
              </a:ext>
            </a:extLst>
          </p:cNvPr>
          <p:cNvCxnSpPr>
            <a:cxnSpLocks/>
          </p:cNvCxnSpPr>
          <p:nvPr/>
        </p:nvCxnSpPr>
        <p:spPr>
          <a:xfrm>
            <a:off x="4139786" y="4422098"/>
            <a:ext cx="0" cy="106856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Ellipse 30">
            <a:extLst>
              <a:ext uri="{FF2B5EF4-FFF2-40B4-BE49-F238E27FC236}">
                <a16:creationId xmlns:a16="http://schemas.microsoft.com/office/drawing/2014/main" id="{572C14C3-E04F-2A9C-8A7E-148817E8E710}"/>
              </a:ext>
            </a:extLst>
          </p:cNvPr>
          <p:cNvSpPr/>
          <p:nvPr/>
        </p:nvSpPr>
        <p:spPr>
          <a:xfrm>
            <a:off x="3987385" y="4556705"/>
            <a:ext cx="299804" cy="29980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7E7FE548-C90C-C6C5-A023-E47C639AFE8E}"/>
              </a:ext>
            </a:extLst>
          </p:cNvPr>
          <p:cNvSpPr/>
          <p:nvPr/>
        </p:nvSpPr>
        <p:spPr>
          <a:xfrm>
            <a:off x="3987385" y="4983233"/>
            <a:ext cx="299804" cy="29980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BCCC5CA-BBD8-F752-07F7-5EB5F54D517A}"/>
              </a:ext>
            </a:extLst>
          </p:cNvPr>
          <p:cNvSpPr txBox="1"/>
          <p:nvPr/>
        </p:nvSpPr>
        <p:spPr>
          <a:xfrm>
            <a:off x="2737453" y="4407611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COMMIT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BE9C69B-FAFA-935D-B23C-7204E52C9E5C}"/>
              </a:ext>
            </a:extLst>
          </p:cNvPr>
          <p:cNvSpPr txBox="1"/>
          <p:nvPr/>
        </p:nvSpPr>
        <p:spPr>
          <a:xfrm>
            <a:off x="2736696" y="4857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COMMIT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908056CF-8F7B-4BBE-FB9F-7E3185379DEA}"/>
              </a:ext>
            </a:extLst>
          </p:cNvPr>
          <p:cNvCxnSpPr>
            <a:cxnSpLocks/>
          </p:cNvCxnSpPr>
          <p:nvPr/>
        </p:nvCxnSpPr>
        <p:spPr>
          <a:xfrm>
            <a:off x="2398435" y="4716185"/>
            <a:ext cx="1588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AEA2767A-C29D-FE0D-3B1E-12A8C6E581ED}"/>
              </a:ext>
            </a:extLst>
          </p:cNvPr>
          <p:cNvCxnSpPr>
            <a:cxnSpLocks/>
          </p:cNvCxnSpPr>
          <p:nvPr/>
        </p:nvCxnSpPr>
        <p:spPr>
          <a:xfrm>
            <a:off x="2409671" y="5147961"/>
            <a:ext cx="1577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AF704450-6E7C-28B5-2BE3-CBB2221F71BE}"/>
              </a:ext>
            </a:extLst>
          </p:cNvPr>
          <p:cNvCxnSpPr/>
          <p:nvPr/>
        </p:nvCxnSpPr>
        <p:spPr>
          <a:xfrm flipH="1">
            <a:off x="4886794" y="3897443"/>
            <a:ext cx="929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74B72E77-7E94-AF39-F87A-9A11975C0EFE}"/>
              </a:ext>
            </a:extLst>
          </p:cNvPr>
          <p:cNvSpPr txBox="1"/>
          <p:nvPr/>
        </p:nvSpPr>
        <p:spPr>
          <a:xfrm>
            <a:off x="4826834" y="3543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BRANCH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8EBC8D5-9394-259E-9B04-638263C45F37}"/>
              </a:ext>
            </a:extLst>
          </p:cNvPr>
          <p:cNvSpPr txBox="1"/>
          <p:nvPr/>
        </p:nvSpPr>
        <p:spPr>
          <a:xfrm>
            <a:off x="6096000" y="3078223"/>
            <a:ext cx="94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master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17783B2-484C-6938-9657-36A70C211972}"/>
              </a:ext>
            </a:extLst>
          </p:cNvPr>
          <p:cNvSpPr txBox="1"/>
          <p:nvPr/>
        </p:nvSpPr>
        <p:spPr>
          <a:xfrm>
            <a:off x="3595143" y="3059668"/>
            <a:ext cx="114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working</a:t>
            </a:r>
          </a:p>
        </p:txBody>
      </p:sp>
    </p:spTree>
    <p:extLst>
      <p:ext uri="{BB962C8B-B14F-4D97-AF65-F5344CB8AC3E}">
        <p14:creationId xmlns:p14="http://schemas.microsoft.com/office/powerpoint/2010/main" val="31551201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A9B29-06B8-69D3-FC93-E924A01B1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5F77A88D-7003-D27C-6F59-86BF0931CCC4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8A895276-6B0F-4098-47D8-F1965E6E2C6A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CC177C90-8E4A-2236-E2C8-E1188A61C05A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C7655A8C-89D5-66F7-F9EA-D6E9BF4261FE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CF566B5B-DFAD-CFAB-3504-4868AD419CE5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019CED4-9043-1058-0475-1A169593DAB6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68BB76A-DB23-D02D-FB62-CBE277344F33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F538164-5D73-78CF-E116-120B6E529417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B6223E7-5AB3-0841-546E-8E0D61831FB1}"/>
              </a:ext>
            </a:extLst>
          </p:cNvPr>
          <p:cNvSpPr txBox="1"/>
          <p:nvPr/>
        </p:nvSpPr>
        <p:spPr>
          <a:xfrm>
            <a:off x="5182561" y="887944"/>
            <a:ext cx="5576341" cy="1575881"/>
          </a:xfrm>
          <a:prstGeom prst="rect">
            <a:avLst/>
          </a:prstGeom>
          <a:solidFill>
            <a:srgbClr val="D8A499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Dedicated to collaborative work (i.e. scientific labs)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Increasingly used as a showcase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Supports reproducibility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Needs time to be familiar…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551906E-1716-CCF9-7C4E-D02EB78F09DB}"/>
              </a:ext>
            </a:extLst>
          </p:cNvPr>
          <p:cNvSpPr/>
          <p:nvPr/>
        </p:nvSpPr>
        <p:spPr>
          <a:xfrm>
            <a:off x="2005673" y="3078223"/>
            <a:ext cx="5939117" cy="3672590"/>
          </a:xfrm>
          <a:prstGeom prst="roundRect">
            <a:avLst/>
          </a:prstGeom>
          <a:solidFill>
            <a:srgbClr val="C27C39">
              <a:alpha val="5964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FD8A472-D0C4-984E-A2C3-C2C324253545}"/>
              </a:ext>
            </a:extLst>
          </p:cNvPr>
          <p:cNvSpPr txBox="1"/>
          <p:nvPr/>
        </p:nvSpPr>
        <p:spPr>
          <a:xfrm>
            <a:off x="4350885" y="2644587"/>
            <a:ext cx="179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Git (local)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FDC5238-B10B-FFD7-6581-893BEBDFE910}"/>
              </a:ext>
            </a:extLst>
          </p:cNvPr>
          <p:cNvSpPr/>
          <p:nvPr/>
        </p:nvSpPr>
        <p:spPr>
          <a:xfrm>
            <a:off x="5904337" y="3078223"/>
            <a:ext cx="1343588" cy="3672590"/>
          </a:xfrm>
          <a:prstGeom prst="rect">
            <a:avLst/>
          </a:prstGeom>
          <a:pattFill prst="dkUpDiag">
            <a:fgClr>
              <a:schemeClr val="accent5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8018017-1732-7F3C-C097-4DEB1CE61C59}"/>
              </a:ext>
            </a:extLst>
          </p:cNvPr>
          <p:cNvSpPr/>
          <p:nvPr/>
        </p:nvSpPr>
        <p:spPr>
          <a:xfrm>
            <a:off x="5906125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0FA8D2A-5D65-6694-97E5-803A140348A2}"/>
              </a:ext>
            </a:extLst>
          </p:cNvPr>
          <p:cNvSpPr/>
          <p:nvPr/>
        </p:nvSpPr>
        <p:spPr>
          <a:xfrm>
            <a:off x="3472988" y="3078223"/>
            <a:ext cx="1343588" cy="3672590"/>
          </a:xfrm>
          <a:prstGeom prst="rect">
            <a:avLst/>
          </a:prstGeom>
          <a:pattFill prst="dkUpDiag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CC874AAE-E2D0-AFB0-7A51-B5A82112F856}"/>
              </a:ext>
            </a:extLst>
          </p:cNvPr>
          <p:cNvSpPr/>
          <p:nvPr/>
        </p:nvSpPr>
        <p:spPr>
          <a:xfrm>
            <a:off x="3477720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7DE64D25-251F-318B-AADF-871EA93BE2C3}"/>
              </a:ext>
            </a:extLst>
          </p:cNvPr>
          <p:cNvSpPr/>
          <p:nvPr/>
        </p:nvSpPr>
        <p:spPr>
          <a:xfrm>
            <a:off x="3477720" y="5490667"/>
            <a:ext cx="1349114" cy="99309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9957FEF7-7560-E7C4-A17F-D24EB11032C6}"/>
              </a:ext>
            </a:extLst>
          </p:cNvPr>
          <p:cNvCxnSpPr>
            <a:cxnSpLocks/>
          </p:cNvCxnSpPr>
          <p:nvPr/>
        </p:nvCxnSpPr>
        <p:spPr>
          <a:xfrm>
            <a:off x="2398435" y="3897443"/>
            <a:ext cx="0" cy="258632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E1E34164-94A2-E5A7-D318-45881B297B00}"/>
              </a:ext>
            </a:extLst>
          </p:cNvPr>
          <p:cNvSpPr txBox="1"/>
          <p:nvPr/>
        </p:nvSpPr>
        <p:spPr>
          <a:xfrm rot="16200000">
            <a:off x="1005718" y="4745241"/>
            <a:ext cx="233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Work in progress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24CB2A60-E5D1-55DF-8295-329D382EE6B7}"/>
              </a:ext>
            </a:extLst>
          </p:cNvPr>
          <p:cNvCxnSpPr>
            <a:cxnSpLocks/>
          </p:cNvCxnSpPr>
          <p:nvPr/>
        </p:nvCxnSpPr>
        <p:spPr>
          <a:xfrm>
            <a:off x="4139786" y="4422098"/>
            <a:ext cx="0" cy="106856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Ellipse 30">
            <a:extLst>
              <a:ext uri="{FF2B5EF4-FFF2-40B4-BE49-F238E27FC236}">
                <a16:creationId xmlns:a16="http://schemas.microsoft.com/office/drawing/2014/main" id="{A786AED3-AD0A-C2DB-714D-011116077111}"/>
              </a:ext>
            </a:extLst>
          </p:cNvPr>
          <p:cNvSpPr/>
          <p:nvPr/>
        </p:nvSpPr>
        <p:spPr>
          <a:xfrm>
            <a:off x="3987385" y="4556705"/>
            <a:ext cx="299804" cy="29980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151D8A6D-F9C8-29DA-C7F7-1C7A4DAC2103}"/>
              </a:ext>
            </a:extLst>
          </p:cNvPr>
          <p:cNvSpPr/>
          <p:nvPr/>
        </p:nvSpPr>
        <p:spPr>
          <a:xfrm>
            <a:off x="3987385" y="4983233"/>
            <a:ext cx="299804" cy="29980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7F4B97C-DB2D-1B97-F95D-E877E9848F9E}"/>
              </a:ext>
            </a:extLst>
          </p:cNvPr>
          <p:cNvSpPr txBox="1"/>
          <p:nvPr/>
        </p:nvSpPr>
        <p:spPr>
          <a:xfrm>
            <a:off x="2737453" y="4407611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COMMIT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1C583A0A-7374-5AD8-D134-EF8F84572912}"/>
              </a:ext>
            </a:extLst>
          </p:cNvPr>
          <p:cNvSpPr txBox="1"/>
          <p:nvPr/>
        </p:nvSpPr>
        <p:spPr>
          <a:xfrm>
            <a:off x="2736696" y="4857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COMMIT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A6974C4B-0624-08E0-DE0C-CA267B9F6800}"/>
              </a:ext>
            </a:extLst>
          </p:cNvPr>
          <p:cNvCxnSpPr>
            <a:cxnSpLocks/>
          </p:cNvCxnSpPr>
          <p:nvPr/>
        </p:nvCxnSpPr>
        <p:spPr>
          <a:xfrm>
            <a:off x="2398435" y="4716185"/>
            <a:ext cx="1588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6A066115-8BE8-B56F-E684-E56561C2B290}"/>
              </a:ext>
            </a:extLst>
          </p:cNvPr>
          <p:cNvCxnSpPr>
            <a:cxnSpLocks/>
          </p:cNvCxnSpPr>
          <p:nvPr/>
        </p:nvCxnSpPr>
        <p:spPr>
          <a:xfrm>
            <a:off x="2409671" y="5147961"/>
            <a:ext cx="1577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425B33FA-3A9F-A82E-DC82-22A71D0B1053}"/>
              </a:ext>
            </a:extLst>
          </p:cNvPr>
          <p:cNvSpPr txBox="1"/>
          <p:nvPr/>
        </p:nvSpPr>
        <p:spPr>
          <a:xfrm>
            <a:off x="2403162" y="567681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COMMIT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58A9ECA5-FA91-7E58-0004-3E99D7D939AE}"/>
              </a:ext>
            </a:extLst>
          </p:cNvPr>
          <p:cNvCxnSpPr/>
          <p:nvPr/>
        </p:nvCxnSpPr>
        <p:spPr>
          <a:xfrm>
            <a:off x="2409671" y="5967181"/>
            <a:ext cx="1064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C1C00998-5BC7-99FE-E3E1-4556CC97ED92}"/>
              </a:ext>
            </a:extLst>
          </p:cNvPr>
          <p:cNvCxnSpPr/>
          <p:nvPr/>
        </p:nvCxnSpPr>
        <p:spPr>
          <a:xfrm flipH="1">
            <a:off x="4886794" y="3897443"/>
            <a:ext cx="929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B7B27784-7A01-9EAA-33F1-A05147819AE3}"/>
              </a:ext>
            </a:extLst>
          </p:cNvPr>
          <p:cNvSpPr txBox="1"/>
          <p:nvPr/>
        </p:nvSpPr>
        <p:spPr>
          <a:xfrm>
            <a:off x="4826834" y="3543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BRANCH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77D7F2E-BD97-1C8F-F168-25233793E58F}"/>
              </a:ext>
            </a:extLst>
          </p:cNvPr>
          <p:cNvSpPr txBox="1"/>
          <p:nvPr/>
        </p:nvSpPr>
        <p:spPr>
          <a:xfrm>
            <a:off x="6096000" y="3078223"/>
            <a:ext cx="94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master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CD1A7CB-B63E-869C-1487-800F3374B93C}"/>
              </a:ext>
            </a:extLst>
          </p:cNvPr>
          <p:cNvSpPr txBox="1"/>
          <p:nvPr/>
        </p:nvSpPr>
        <p:spPr>
          <a:xfrm>
            <a:off x="3595143" y="3059668"/>
            <a:ext cx="114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working</a:t>
            </a:r>
          </a:p>
        </p:txBody>
      </p:sp>
    </p:spTree>
    <p:extLst>
      <p:ext uri="{BB962C8B-B14F-4D97-AF65-F5344CB8AC3E}">
        <p14:creationId xmlns:p14="http://schemas.microsoft.com/office/powerpoint/2010/main" val="39179566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408AC-9723-1A14-05AA-6B95C1F42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643846EF-CC4A-937C-190F-6DBCF2E93C4B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2AEA51F6-9930-E488-2091-68C01CB0D759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C2E2A797-A683-246F-462E-7549D44E7D5A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32D019ED-359F-7D8B-9CEF-F56947F070F4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AB786919-B5EC-23E2-DA0F-320FD2FBEEA8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8239C6B-1763-4105-F2B1-9085F981A58B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A994CD1-83F9-FA20-D75D-AD3CD5F64141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73AD64B-CE6A-E22A-518A-3AC48451B38C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4D32E56-569A-0A3B-EC0C-1C9582015EAE}"/>
              </a:ext>
            </a:extLst>
          </p:cNvPr>
          <p:cNvSpPr txBox="1"/>
          <p:nvPr/>
        </p:nvSpPr>
        <p:spPr>
          <a:xfrm>
            <a:off x="5182561" y="887944"/>
            <a:ext cx="5576341" cy="1575881"/>
          </a:xfrm>
          <a:prstGeom prst="rect">
            <a:avLst/>
          </a:prstGeom>
          <a:solidFill>
            <a:srgbClr val="D8A499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Dedicated to collaborative work (i.e. scientific labs)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Increasingly used as a showcase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Supports reproducibility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Needs time to be familiar…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2C044B2-2037-8566-97C5-CAAA304934CC}"/>
              </a:ext>
            </a:extLst>
          </p:cNvPr>
          <p:cNvSpPr/>
          <p:nvPr/>
        </p:nvSpPr>
        <p:spPr>
          <a:xfrm>
            <a:off x="2005673" y="3078223"/>
            <a:ext cx="5939117" cy="3672590"/>
          </a:xfrm>
          <a:prstGeom prst="roundRect">
            <a:avLst/>
          </a:prstGeom>
          <a:solidFill>
            <a:srgbClr val="C27C39">
              <a:alpha val="5964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71B971D-DD8E-B6F7-8F27-E656E6F945CA}"/>
              </a:ext>
            </a:extLst>
          </p:cNvPr>
          <p:cNvSpPr txBox="1"/>
          <p:nvPr/>
        </p:nvSpPr>
        <p:spPr>
          <a:xfrm>
            <a:off x="4350885" y="2644587"/>
            <a:ext cx="179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Git (local)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00CDF7E-04A3-1570-A956-4A1F415C8E6B}"/>
              </a:ext>
            </a:extLst>
          </p:cNvPr>
          <p:cNvSpPr/>
          <p:nvPr/>
        </p:nvSpPr>
        <p:spPr>
          <a:xfrm>
            <a:off x="5904337" y="3078223"/>
            <a:ext cx="1343588" cy="3672590"/>
          </a:xfrm>
          <a:prstGeom prst="rect">
            <a:avLst/>
          </a:prstGeom>
          <a:pattFill prst="dkUpDiag">
            <a:fgClr>
              <a:schemeClr val="accent5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AD51B53-6E06-28F5-E252-A92D271EB760}"/>
              </a:ext>
            </a:extLst>
          </p:cNvPr>
          <p:cNvSpPr/>
          <p:nvPr/>
        </p:nvSpPr>
        <p:spPr>
          <a:xfrm>
            <a:off x="5906125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121ACD44-7A39-0370-40C3-F3C811F0F627}"/>
              </a:ext>
            </a:extLst>
          </p:cNvPr>
          <p:cNvSpPr/>
          <p:nvPr/>
        </p:nvSpPr>
        <p:spPr>
          <a:xfrm>
            <a:off x="5906125" y="5490667"/>
            <a:ext cx="1349114" cy="99309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39276B8-FDF1-B0CE-DCEC-825F23E76686}"/>
              </a:ext>
            </a:extLst>
          </p:cNvPr>
          <p:cNvSpPr/>
          <p:nvPr/>
        </p:nvSpPr>
        <p:spPr>
          <a:xfrm>
            <a:off x="3472988" y="3078223"/>
            <a:ext cx="1343588" cy="3672590"/>
          </a:xfrm>
          <a:prstGeom prst="rect">
            <a:avLst/>
          </a:prstGeom>
          <a:pattFill prst="dkUpDiag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0F55404B-6B4C-C71C-4768-62E4992A7B58}"/>
              </a:ext>
            </a:extLst>
          </p:cNvPr>
          <p:cNvSpPr/>
          <p:nvPr/>
        </p:nvSpPr>
        <p:spPr>
          <a:xfrm>
            <a:off x="3477720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B93D8AAC-1919-0E4C-1705-6E3B8A905D5A}"/>
              </a:ext>
            </a:extLst>
          </p:cNvPr>
          <p:cNvSpPr/>
          <p:nvPr/>
        </p:nvSpPr>
        <p:spPr>
          <a:xfrm>
            <a:off x="3477720" y="5490667"/>
            <a:ext cx="1349114" cy="99309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5CE4F20F-894E-BFF3-3A57-0925A0DF6E35}"/>
              </a:ext>
            </a:extLst>
          </p:cNvPr>
          <p:cNvCxnSpPr>
            <a:cxnSpLocks/>
          </p:cNvCxnSpPr>
          <p:nvPr/>
        </p:nvCxnSpPr>
        <p:spPr>
          <a:xfrm>
            <a:off x="2398435" y="3897443"/>
            <a:ext cx="0" cy="258632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BEE383D-9D75-7947-F276-6E48EE0FC2CD}"/>
              </a:ext>
            </a:extLst>
          </p:cNvPr>
          <p:cNvSpPr txBox="1"/>
          <p:nvPr/>
        </p:nvSpPr>
        <p:spPr>
          <a:xfrm rot="16200000">
            <a:off x="1005718" y="4745241"/>
            <a:ext cx="233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Work in progress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AF5D89D1-F29D-B140-507E-C61A92F94794}"/>
              </a:ext>
            </a:extLst>
          </p:cNvPr>
          <p:cNvCxnSpPr>
            <a:cxnSpLocks/>
          </p:cNvCxnSpPr>
          <p:nvPr/>
        </p:nvCxnSpPr>
        <p:spPr>
          <a:xfrm>
            <a:off x="4139786" y="4422098"/>
            <a:ext cx="0" cy="106856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Ellipse 30">
            <a:extLst>
              <a:ext uri="{FF2B5EF4-FFF2-40B4-BE49-F238E27FC236}">
                <a16:creationId xmlns:a16="http://schemas.microsoft.com/office/drawing/2014/main" id="{0573B5EC-BB31-0927-A51E-5DFBB39E168C}"/>
              </a:ext>
            </a:extLst>
          </p:cNvPr>
          <p:cNvSpPr/>
          <p:nvPr/>
        </p:nvSpPr>
        <p:spPr>
          <a:xfrm>
            <a:off x="3987385" y="4556705"/>
            <a:ext cx="299804" cy="29980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7340C116-4085-3D1D-D2C3-04F35C11147F}"/>
              </a:ext>
            </a:extLst>
          </p:cNvPr>
          <p:cNvSpPr/>
          <p:nvPr/>
        </p:nvSpPr>
        <p:spPr>
          <a:xfrm>
            <a:off x="3987385" y="4983233"/>
            <a:ext cx="299804" cy="29980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8EDCD70-0C4E-E5C3-2D3C-3AF1DD938705}"/>
              </a:ext>
            </a:extLst>
          </p:cNvPr>
          <p:cNvSpPr txBox="1"/>
          <p:nvPr/>
        </p:nvSpPr>
        <p:spPr>
          <a:xfrm>
            <a:off x="2737453" y="4407611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COMMIT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E4ECA763-7C09-07C3-C5FE-4FEBCEC7AB31}"/>
              </a:ext>
            </a:extLst>
          </p:cNvPr>
          <p:cNvSpPr txBox="1"/>
          <p:nvPr/>
        </p:nvSpPr>
        <p:spPr>
          <a:xfrm>
            <a:off x="2736696" y="4857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COMMIT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C4416A52-7E90-DEBD-119A-21527DD659F6}"/>
              </a:ext>
            </a:extLst>
          </p:cNvPr>
          <p:cNvCxnSpPr>
            <a:cxnSpLocks/>
          </p:cNvCxnSpPr>
          <p:nvPr/>
        </p:nvCxnSpPr>
        <p:spPr>
          <a:xfrm>
            <a:off x="2398435" y="4716185"/>
            <a:ext cx="1588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352D9147-FD96-9BF2-28F7-B25EDFD35305}"/>
              </a:ext>
            </a:extLst>
          </p:cNvPr>
          <p:cNvCxnSpPr>
            <a:cxnSpLocks/>
          </p:cNvCxnSpPr>
          <p:nvPr/>
        </p:nvCxnSpPr>
        <p:spPr>
          <a:xfrm>
            <a:off x="2409671" y="5147961"/>
            <a:ext cx="1577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65417AC1-C2B3-C29C-E6D9-0D5D91F73CC1}"/>
              </a:ext>
            </a:extLst>
          </p:cNvPr>
          <p:cNvSpPr txBox="1"/>
          <p:nvPr/>
        </p:nvSpPr>
        <p:spPr>
          <a:xfrm>
            <a:off x="2403162" y="567681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COMMIT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A21D5434-CD27-5662-A891-729E2DCAA5F4}"/>
              </a:ext>
            </a:extLst>
          </p:cNvPr>
          <p:cNvCxnSpPr/>
          <p:nvPr/>
        </p:nvCxnSpPr>
        <p:spPr>
          <a:xfrm>
            <a:off x="2409671" y="5967181"/>
            <a:ext cx="1064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835600E6-F97C-6EB8-C568-3EC191B21C04}"/>
              </a:ext>
            </a:extLst>
          </p:cNvPr>
          <p:cNvCxnSpPr/>
          <p:nvPr/>
        </p:nvCxnSpPr>
        <p:spPr>
          <a:xfrm flipH="1">
            <a:off x="4886794" y="3897443"/>
            <a:ext cx="929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FB1A3E2D-72E9-4A5E-24BD-16285569AA1F}"/>
              </a:ext>
            </a:extLst>
          </p:cNvPr>
          <p:cNvSpPr txBox="1"/>
          <p:nvPr/>
        </p:nvSpPr>
        <p:spPr>
          <a:xfrm>
            <a:off x="4826834" y="3543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BRANCH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E68068C1-72D3-D3CF-46BB-27A55B101360}"/>
              </a:ext>
            </a:extLst>
          </p:cNvPr>
          <p:cNvCxnSpPr/>
          <p:nvPr/>
        </p:nvCxnSpPr>
        <p:spPr>
          <a:xfrm>
            <a:off x="4841825" y="5967181"/>
            <a:ext cx="1064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ZoneTexte 50">
            <a:extLst>
              <a:ext uri="{FF2B5EF4-FFF2-40B4-BE49-F238E27FC236}">
                <a16:creationId xmlns:a16="http://schemas.microsoft.com/office/drawing/2014/main" id="{A77FA11F-347B-B37E-518E-AC62D6A2C323}"/>
              </a:ext>
            </a:extLst>
          </p:cNvPr>
          <p:cNvSpPr txBox="1"/>
          <p:nvPr/>
        </p:nvSpPr>
        <p:spPr>
          <a:xfrm>
            <a:off x="4816576" y="5618681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MERGE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D81537-9C51-C06C-E65D-133F729D35FD}"/>
              </a:ext>
            </a:extLst>
          </p:cNvPr>
          <p:cNvSpPr txBox="1"/>
          <p:nvPr/>
        </p:nvSpPr>
        <p:spPr>
          <a:xfrm>
            <a:off x="6096000" y="3078223"/>
            <a:ext cx="94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master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571C1AA-1DB1-D31A-23D2-811829C3BDF2}"/>
              </a:ext>
            </a:extLst>
          </p:cNvPr>
          <p:cNvSpPr txBox="1"/>
          <p:nvPr/>
        </p:nvSpPr>
        <p:spPr>
          <a:xfrm>
            <a:off x="3595143" y="3059668"/>
            <a:ext cx="114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working</a:t>
            </a:r>
          </a:p>
        </p:txBody>
      </p:sp>
    </p:spTree>
    <p:extLst>
      <p:ext uri="{BB962C8B-B14F-4D97-AF65-F5344CB8AC3E}">
        <p14:creationId xmlns:p14="http://schemas.microsoft.com/office/powerpoint/2010/main" val="24471555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49312-ED45-FD5F-49BB-B59679B21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FFBEF59B-CD65-173E-4C6C-870573EF5EE1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0E0EB207-178F-ECDF-430D-48D66480BCF6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B8AA47B0-5019-0E05-CBF2-F2C07F12BDF5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FE579B7E-982C-85AB-26EF-DFB111ABA99D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E0BD2354-1E66-2578-2794-CF08DB1EB541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8E2798E8-311F-4879-EFAE-92AB4C749008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C148042-900A-9ACB-F2E2-E4C61E2BFD21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7A7B281-079D-CB77-769F-CC772A919E97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8538524-049A-77FB-01D7-17A91D848C7A}"/>
              </a:ext>
            </a:extLst>
          </p:cNvPr>
          <p:cNvSpPr txBox="1"/>
          <p:nvPr/>
        </p:nvSpPr>
        <p:spPr>
          <a:xfrm>
            <a:off x="5182561" y="887944"/>
            <a:ext cx="5576341" cy="1575881"/>
          </a:xfrm>
          <a:prstGeom prst="rect">
            <a:avLst/>
          </a:prstGeom>
          <a:solidFill>
            <a:srgbClr val="D8A499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Dedicated to collaborative work (i.e. scientific labs)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Increasingly used as a showcase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Supports reproducibility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Needs time to be familiar…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23CB5FD-41EF-1087-B3C5-71BBE2699D07}"/>
              </a:ext>
            </a:extLst>
          </p:cNvPr>
          <p:cNvSpPr/>
          <p:nvPr/>
        </p:nvSpPr>
        <p:spPr>
          <a:xfrm>
            <a:off x="2005673" y="3078223"/>
            <a:ext cx="5939117" cy="3672590"/>
          </a:xfrm>
          <a:prstGeom prst="roundRect">
            <a:avLst/>
          </a:prstGeom>
          <a:solidFill>
            <a:srgbClr val="C27C39">
              <a:alpha val="5964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84A9668-4A53-EAA7-FB81-D18CDA520B13}"/>
              </a:ext>
            </a:extLst>
          </p:cNvPr>
          <p:cNvSpPr/>
          <p:nvPr/>
        </p:nvSpPr>
        <p:spPr>
          <a:xfrm>
            <a:off x="8177127" y="3078223"/>
            <a:ext cx="2540839" cy="3672590"/>
          </a:xfrm>
          <a:prstGeom prst="roundRect">
            <a:avLst/>
          </a:prstGeom>
          <a:solidFill>
            <a:srgbClr val="C27C39">
              <a:alpha val="9412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CD71DF5-0741-42CB-B5BB-1182598EB571}"/>
              </a:ext>
            </a:extLst>
          </p:cNvPr>
          <p:cNvSpPr txBox="1"/>
          <p:nvPr/>
        </p:nvSpPr>
        <p:spPr>
          <a:xfrm>
            <a:off x="4350885" y="2644587"/>
            <a:ext cx="179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Git (local)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67AACDF-CE21-0730-D578-1EB5365B7A97}"/>
              </a:ext>
            </a:extLst>
          </p:cNvPr>
          <p:cNvSpPr/>
          <p:nvPr/>
        </p:nvSpPr>
        <p:spPr>
          <a:xfrm>
            <a:off x="5904337" y="3078223"/>
            <a:ext cx="1343588" cy="3672590"/>
          </a:xfrm>
          <a:prstGeom prst="rect">
            <a:avLst/>
          </a:prstGeom>
          <a:pattFill prst="dkUpDiag">
            <a:fgClr>
              <a:schemeClr val="accent5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BF6B96A-03D3-8846-B07C-67402E16245F}"/>
              </a:ext>
            </a:extLst>
          </p:cNvPr>
          <p:cNvSpPr txBox="1"/>
          <p:nvPr/>
        </p:nvSpPr>
        <p:spPr>
          <a:xfrm>
            <a:off x="8467559" y="2644587"/>
            <a:ext cx="19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GitHub (remote)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20E7C05C-3794-2AE3-B57D-38E891BFA10A}"/>
              </a:ext>
            </a:extLst>
          </p:cNvPr>
          <p:cNvSpPr/>
          <p:nvPr/>
        </p:nvSpPr>
        <p:spPr>
          <a:xfrm>
            <a:off x="5906125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825B6974-3F2E-FF9D-F04C-75FB83858212}"/>
              </a:ext>
            </a:extLst>
          </p:cNvPr>
          <p:cNvSpPr/>
          <p:nvPr/>
        </p:nvSpPr>
        <p:spPr>
          <a:xfrm>
            <a:off x="5906125" y="5490667"/>
            <a:ext cx="1349114" cy="99309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CC906BF-83D1-C0CF-1582-5474BD9527ED}"/>
              </a:ext>
            </a:extLst>
          </p:cNvPr>
          <p:cNvSpPr/>
          <p:nvPr/>
        </p:nvSpPr>
        <p:spPr>
          <a:xfrm>
            <a:off x="3472988" y="3078223"/>
            <a:ext cx="1343588" cy="3672590"/>
          </a:xfrm>
          <a:prstGeom prst="rect">
            <a:avLst/>
          </a:prstGeom>
          <a:pattFill prst="dkUpDiag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9CBE570F-B2E9-89C7-FF62-814ABBF35D8B}"/>
              </a:ext>
            </a:extLst>
          </p:cNvPr>
          <p:cNvSpPr/>
          <p:nvPr/>
        </p:nvSpPr>
        <p:spPr>
          <a:xfrm>
            <a:off x="3477720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ED3BD40C-F0F9-AC7C-D7E1-DF88DD6EBAF2}"/>
              </a:ext>
            </a:extLst>
          </p:cNvPr>
          <p:cNvSpPr/>
          <p:nvPr/>
        </p:nvSpPr>
        <p:spPr>
          <a:xfrm>
            <a:off x="3477720" y="5490667"/>
            <a:ext cx="1349114" cy="99309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22A9D782-D322-16FC-017E-4ED6C5A84580}"/>
              </a:ext>
            </a:extLst>
          </p:cNvPr>
          <p:cNvCxnSpPr>
            <a:cxnSpLocks/>
          </p:cNvCxnSpPr>
          <p:nvPr/>
        </p:nvCxnSpPr>
        <p:spPr>
          <a:xfrm>
            <a:off x="2398435" y="3897443"/>
            <a:ext cx="0" cy="258632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0F951E00-AB45-B707-B631-50B9A5D9DDA2}"/>
              </a:ext>
            </a:extLst>
          </p:cNvPr>
          <p:cNvSpPr txBox="1"/>
          <p:nvPr/>
        </p:nvSpPr>
        <p:spPr>
          <a:xfrm rot="16200000">
            <a:off x="1005718" y="4745241"/>
            <a:ext cx="233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Work in progress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34B1259F-7CD9-538A-2221-18E392AA0951}"/>
              </a:ext>
            </a:extLst>
          </p:cNvPr>
          <p:cNvCxnSpPr>
            <a:cxnSpLocks/>
          </p:cNvCxnSpPr>
          <p:nvPr/>
        </p:nvCxnSpPr>
        <p:spPr>
          <a:xfrm>
            <a:off x="4139786" y="4422098"/>
            <a:ext cx="0" cy="106856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Ellipse 30">
            <a:extLst>
              <a:ext uri="{FF2B5EF4-FFF2-40B4-BE49-F238E27FC236}">
                <a16:creationId xmlns:a16="http://schemas.microsoft.com/office/drawing/2014/main" id="{0EB2A702-5B1C-5B1E-19B4-8A2C03A4EA8F}"/>
              </a:ext>
            </a:extLst>
          </p:cNvPr>
          <p:cNvSpPr/>
          <p:nvPr/>
        </p:nvSpPr>
        <p:spPr>
          <a:xfrm>
            <a:off x="3987385" y="4556705"/>
            <a:ext cx="299804" cy="29980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6A540BAD-A566-EB64-1EE9-5603433C369F}"/>
              </a:ext>
            </a:extLst>
          </p:cNvPr>
          <p:cNvSpPr/>
          <p:nvPr/>
        </p:nvSpPr>
        <p:spPr>
          <a:xfrm>
            <a:off x="3987385" y="4983233"/>
            <a:ext cx="299804" cy="29980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3E38BF89-FBAA-B589-6AEC-C309686BDD70}"/>
              </a:ext>
            </a:extLst>
          </p:cNvPr>
          <p:cNvSpPr txBox="1"/>
          <p:nvPr/>
        </p:nvSpPr>
        <p:spPr>
          <a:xfrm>
            <a:off x="2737453" y="4407611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COMMIT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D1FB3BB-D7C2-3C50-FBC3-548FC6D4BB87}"/>
              </a:ext>
            </a:extLst>
          </p:cNvPr>
          <p:cNvSpPr txBox="1"/>
          <p:nvPr/>
        </p:nvSpPr>
        <p:spPr>
          <a:xfrm>
            <a:off x="2736696" y="4857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COMMIT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437DB564-1A62-C072-0C6C-966D12C94469}"/>
              </a:ext>
            </a:extLst>
          </p:cNvPr>
          <p:cNvCxnSpPr>
            <a:cxnSpLocks/>
          </p:cNvCxnSpPr>
          <p:nvPr/>
        </p:nvCxnSpPr>
        <p:spPr>
          <a:xfrm>
            <a:off x="2398435" y="4716185"/>
            <a:ext cx="1588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1A6FC138-77C5-2D44-7D9D-B788F27433A2}"/>
              </a:ext>
            </a:extLst>
          </p:cNvPr>
          <p:cNvCxnSpPr>
            <a:cxnSpLocks/>
          </p:cNvCxnSpPr>
          <p:nvPr/>
        </p:nvCxnSpPr>
        <p:spPr>
          <a:xfrm>
            <a:off x="2409671" y="5147961"/>
            <a:ext cx="1577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EB8A0C70-C6F4-4B57-0449-0E98A09AE5DB}"/>
              </a:ext>
            </a:extLst>
          </p:cNvPr>
          <p:cNvSpPr txBox="1"/>
          <p:nvPr/>
        </p:nvSpPr>
        <p:spPr>
          <a:xfrm>
            <a:off x="2403162" y="567681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COMMIT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428F7DB7-DC62-9006-D91E-AA9E0DD1D57D}"/>
              </a:ext>
            </a:extLst>
          </p:cNvPr>
          <p:cNvCxnSpPr/>
          <p:nvPr/>
        </p:nvCxnSpPr>
        <p:spPr>
          <a:xfrm>
            <a:off x="2409671" y="5967181"/>
            <a:ext cx="1064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3657F1FA-FCC9-04E0-D35E-88B6E6A57017}"/>
              </a:ext>
            </a:extLst>
          </p:cNvPr>
          <p:cNvCxnSpPr/>
          <p:nvPr/>
        </p:nvCxnSpPr>
        <p:spPr>
          <a:xfrm flipH="1">
            <a:off x="4886794" y="3897443"/>
            <a:ext cx="929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D5FE284D-6EB7-8998-B781-198A6C8A9454}"/>
              </a:ext>
            </a:extLst>
          </p:cNvPr>
          <p:cNvSpPr txBox="1"/>
          <p:nvPr/>
        </p:nvSpPr>
        <p:spPr>
          <a:xfrm>
            <a:off x="4826834" y="3543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BRANCH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20B9CE7D-C2F6-A44D-7DC1-1F892CD34824}"/>
              </a:ext>
            </a:extLst>
          </p:cNvPr>
          <p:cNvCxnSpPr/>
          <p:nvPr/>
        </p:nvCxnSpPr>
        <p:spPr>
          <a:xfrm>
            <a:off x="4841825" y="5967181"/>
            <a:ext cx="1064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ZoneTexte 50">
            <a:extLst>
              <a:ext uri="{FF2B5EF4-FFF2-40B4-BE49-F238E27FC236}">
                <a16:creationId xmlns:a16="http://schemas.microsoft.com/office/drawing/2014/main" id="{81D1F57E-AB35-7F03-50CA-7C48B25CC849}"/>
              </a:ext>
            </a:extLst>
          </p:cNvPr>
          <p:cNvSpPr txBox="1"/>
          <p:nvPr/>
        </p:nvSpPr>
        <p:spPr>
          <a:xfrm>
            <a:off x="4816576" y="5618681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MERGE</a:t>
            </a:r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B26951EA-3DAA-B206-AE18-0126511309FC}"/>
              </a:ext>
            </a:extLst>
          </p:cNvPr>
          <p:cNvSpPr/>
          <p:nvPr/>
        </p:nvSpPr>
        <p:spPr>
          <a:xfrm>
            <a:off x="8761742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A4E62E9F-D0ED-FFBB-D421-AECB4AC056B5}"/>
              </a:ext>
            </a:extLst>
          </p:cNvPr>
          <p:cNvSpPr/>
          <p:nvPr/>
        </p:nvSpPr>
        <p:spPr>
          <a:xfrm>
            <a:off x="8761742" y="5490667"/>
            <a:ext cx="1349114" cy="99309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F32DB7C0-7E13-D724-5A98-DC5A90B0F12D}"/>
              </a:ext>
            </a:extLst>
          </p:cNvPr>
          <p:cNvCxnSpPr>
            <a:cxnSpLocks/>
          </p:cNvCxnSpPr>
          <p:nvPr/>
        </p:nvCxnSpPr>
        <p:spPr>
          <a:xfrm flipH="1">
            <a:off x="7354649" y="3897443"/>
            <a:ext cx="1302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8418893E-27D2-492D-BFB0-0CF6DDCE502D}"/>
              </a:ext>
            </a:extLst>
          </p:cNvPr>
          <p:cNvSpPr txBox="1"/>
          <p:nvPr/>
        </p:nvSpPr>
        <p:spPr>
          <a:xfrm>
            <a:off x="7526046" y="35869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PULL</a:t>
            </a:r>
          </a:p>
        </p:txBody>
      </p: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65C35C3F-DCCF-FE6D-9877-4629EDEEDA7B}"/>
              </a:ext>
            </a:extLst>
          </p:cNvPr>
          <p:cNvCxnSpPr>
            <a:cxnSpLocks/>
          </p:cNvCxnSpPr>
          <p:nvPr/>
        </p:nvCxnSpPr>
        <p:spPr>
          <a:xfrm>
            <a:off x="7351952" y="5987263"/>
            <a:ext cx="1302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ZoneTexte 64">
            <a:extLst>
              <a:ext uri="{FF2B5EF4-FFF2-40B4-BE49-F238E27FC236}">
                <a16:creationId xmlns:a16="http://schemas.microsoft.com/office/drawing/2014/main" id="{4DA80BE6-1B29-A508-79BF-3593DC21008D}"/>
              </a:ext>
            </a:extLst>
          </p:cNvPr>
          <p:cNvSpPr txBox="1"/>
          <p:nvPr/>
        </p:nvSpPr>
        <p:spPr>
          <a:xfrm>
            <a:off x="7523349" y="567681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PUSH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E61CF5C-C310-DB41-146F-6833F2498391}"/>
              </a:ext>
            </a:extLst>
          </p:cNvPr>
          <p:cNvSpPr txBox="1"/>
          <p:nvPr/>
        </p:nvSpPr>
        <p:spPr>
          <a:xfrm>
            <a:off x="6096000" y="3078223"/>
            <a:ext cx="94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master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8FF7B7C-0770-F475-D093-D1BDAA52ED2F}"/>
              </a:ext>
            </a:extLst>
          </p:cNvPr>
          <p:cNvSpPr txBox="1"/>
          <p:nvPr/>
        </p:nvSpPr>
        <p:spPr>
          <a:xfrm>
            <a:off x="3595143" y="3059668"/>
            <a:ext cx="114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working</a:t>
            </a:r>
          </a:p>
        </p:txBody>
      </p:sp>
    </p:spTree>
    <p:extLst>
      <p:ext uri="{BB962C8B-B14F-4D97-AF65-F5344CB8AC3E}">
        <p14:creationId xmlns:p14="http://schemas.microsoft.com/office/powerpoint/2010/main" val="14825913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54CA4-932D-12CE-9C64-64140D671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02B9362F-C855-BECB-E686-8E5CB6B4FE38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6D84ACEA-781C-AB04-499A-52D3DDD52699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357D8A78-4DAC-465F-D94D-917E374A3A5F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F030D8A7-E506-D051-B5CA-41B600A725B5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B4BA2B5D-70EB-E658-1A9B-CA38352E0735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12D70AA-D621-2444-BCAD-FB0D5F13DBD0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7FF259DF-7DDA-2A6D-463C-784D9D7C0CC2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6801E40-96C9-3EC8-12B2-72342C5E297B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B5B213F-5FD8-4386-346D-4ED1ED0B7679}"/>
              </a:ext>
            </a:extLst>
          </p:cNvPr>
          <p:cNvSpPr txBox="1"/>
          <p:nvPr/>
        </p:nvSpPr>
        <p:spPr>
          <a:xfrm>
            <a:off x="5182561" y="887944"/>
            <a:ext cx="5576341" cy="1575881"/>
          </a:xfrm>
          <a:prstGeom prst="rect">
            <a:avLst/>
          </a:prstGeom>
          <a:solidFill>
            <a:srgbClr val="D8A499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Dedicated to collaborative work (i.e. scientific labs)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Increasingly used as a showcase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Supports reproducibility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Needs time to be familiar…</a:t>
            </a:r>
          </a:p>
        </p:txBody>
      </p:sp>
      <p:pic>
        <p:nvPicPr>
          <p:cNvPr id="19" name="Image 18" descr="Une image contenant texte, capture d’écran, Police, blanc&#10;&#10;Le contenu généré par l’IA peut être incorrect.">
            <a:extLst>
              <a:ext uri="{FF2B5EF4-FFF2-40B4-BE49-F238E27FC236}">
                <a16:creationId xmlns:a16="http://schemas.microsoft.com/office/drawing/2014/main" id="{CDEE6ED6-48F6-9E27-0C8B-0B509BDE9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735" y="3338451"/>
            <a:ext cx="3268731" cy="1338887"/>
          </a:xfrm>
          <a:prstGeom prst="rect">
            <a:avLst/>
          </a:prstGeom>
        </p:spPr>
      </p:pic>
      <p:pic>
        <p:nvPicPr>
          <p:cNvPr id="21" name="Image 20" descr="Une image contenant texte, capture d’écran, Police, blanc&#10;&#10;Le contenu généré par l’IA peut être incorrect.">
            <a:extLst>
              <a:ext uri="{FF2B5EF4-FFF2-40B4-BE49-F238E27FC236}">
                <a16:creationId xmlns:a16="http://schemas.microsoft.com/office/drawing/2014/main" id="{EEE64B65-995A-3C53-B47D-14B3D6C7D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735" y="4673589"/>
            <a:ext cx="3268732" cy="849501"/>
          </a:xfrm>
          <a:prstGeom prst="rect">
            <a:avLst/>
          </a:prstGeom>
        </p:spPr>
      </p:pic>
      <p:pic>
        <p:nvPicPr>
          <p:cNvPr id="28" name="Image 2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C61FDFD-E1C2-B0C6-115E-51EE7F56F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466" y="3338451"/>
            <a:ext cx="3259497" cy="2631605"/>
          </a:xfrm>
          <a:prstGeom prst="rect">
            <a:avLst/>
          </a:prstGeom>
        </p:spPr>
      </p:pic>
      <p:pic>
        <p:nvPicPr>
          <p:cNvPr id="35" name="Image 3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FB986DB-3D69-FE61-08C5-4D5B030E1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7963" y="3338451"/>
            <a:ext cx="3259497" cy="2206855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87670095-028A-A254-AAB1-607C44E669DC}"/>
              </a:ext>
            </a:extLst>
          </p:cNvPr>
          <p:cNvSpPr txBox="1"/>
          <p:nvPr/>
        </p:nvSpPr>
        <p:spPr>
          <a:xfrm>
            <a:off x="3142938" y="6181596"/>
            <a:ext cx="590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A whole world of functions to manipulate Git !</a:t>
            </a:r>
          </a:p>
        </p:txBody>
      </p:sp>
    </p:spTree>
    <p:extLst>
      <p:ext uri="{BB962C8B-B14F-4D97-AF65-F5344CB8AC3E}">
        <p14:creationId xmlns:p14="http://schemas.microsoft.com/office/powerpoint/2010/main" val="1497964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71938-7637-1CBE-45AD-AA707AEF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BA180276-E29D-701D-04FB-745C472E764D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84282EA0-1E95-4F5A-6B2C-9A2FEE6E4474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67FF957A-45CA-3DB3-C4C6-0AB4A7AC4DDE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6DDE78E2-A56E-D938-84BA-EE2D88F6286D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CC3CBA60-7E97-FC67-14C5-869BD7B99CDD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369F3BE-F430-DDFB-EB4D-781769A7958E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8731ED1-B59B-46D5-D603-D28A877A13AB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B3BF6EE-9171-C441-1D63-216533C2B89F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F0CBFA3-10B8-1E3E-E208-DAD1A5D9A1FE}"/>
              </a:ext>
            </a:extLst>
          </p:cNvPr>
          <p:cNvGrpSpPr/>
          <p:nvPr/>
        </p:nvGrpSpPr>
        <p:grpSpPr>
          <a:xfrm>
            <a:off x="4383470" y="955402"/>
            <a:ext cx="4287405" cy="1629415"/>
            <a:chOff x="4987976" y="1104134"/>
            <a:chExt cx="4287405" cy="162941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B282CE-E117-7907-FE6B-96E318A91FE1}"/>
                </a:ext>
              </a:extLst>
            </p:cNvPr>
            <p:cNvSpPr/>
            <p:nvPr/>
          </p:nvSpPr>
          <p:spPr>
            <a:xfrm>
              <a:off x="4987976" y="1413711"/>
              <a:ext cx="4287405" cy="1319838"/>
            </a:xfrm>
            <a:prstGeom prst="rect">
              <a:avLst/>
            </a:prstGeom>
            <a:solidFill>
              <a:srgbClr val="D8A499">
                <a:alpha val="5016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D6556E48-A0C1-128D-2C46-4D05F645BFA3}"/>
                </a:ext>
              </a:extLst>
            </p:cNvPr>
            <p:cNvSpPr txBox="1"/>
            <p:nvPr/>
          </p:nvSpPr>
          <p:spPr>
            <a:xfrm>
              <a:off x="5031960" y="1473466"/>
              <a:ext cx="4137093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/>
                <a:t>Windows:</a:t>
              </a:r>
              <a:r>
                <a:rPr lang="en-GB" dirty="0"/>
                <a:t> </a:t>
              </a:r>
              <a:r>
                <a:rPr lang="en-GB" dirty="0">
                  <a:hlinkClick r:id="rId2"/>
                </a:rPr>
                <a:t>https://gitforwindows.org/</a:t>
              </a:r>
              <a:endParaRPr lang="en-GB" dirty="0"/>
            </a:p>
            <a:p>
              <a:endParaRPr lang="en-GB" dirty="0"/>
            </a:p>
            <a:p>
              <a:r>
                <a:rPr lang="en-GB" b="1" dirty="0"/>
                <a:t>macOS</a:t>
              </a:r>
              <a:r>
                <a:rPr lang="en-GB" dirty="0"/>
                <a:t>: </a:t>
              </a:r>
              <a:r>
                <a:rPr lang="en-GB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git</a:t>
              </a:r>
              <a:r>
                <a:rPr lang="en-GB" dirty="0"/>
                <a:t> --version</a:t>
              </a:r>
            </a:p>
            <a:p>
              <a:r>
                <a:rPr lang="en-GB" dirty="0"/>
                <a:t>                   </a:t>
              </a:r>
              <a:r>
                <a:rPr lang="en-GB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git</a:t>
              </a:r>
              <a:r>
                <a:rPr lang="en-GB" dirty="0"/>
                <a:t> config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ACEB3C1F-E4B9-C37F-95EE-9A5305F18614}"/>
                </a:ext>
              </a:extLst>
            </p:cNvPr>
            <p:cNvSpPr txBox="1"/>
            <p:nvPr/>
          </p:nvSpPr>
          <p:spPr>
            <a:xfrm>
              <a:off x="5038366" y="1104134"/>
              <a:ext cx="20015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Installation</a:t>
              </a:r>
            </a:p>
          </p:txBody>
        </p:sp>
      </p:grpSp>
      <p:sp>
        <p:nvSpPr>
          <p:cNvPr id="17" name="ZoneTexte 16">
            <a:extLst>
              <a:ext uri="{FF2B5EF4-FFF2-40B4-BE49-F238E27FC236}">
                <a16:creationId xmlns:a16="http://schemas.microsoft.com/office/drawing/2014/main" id="{923F2382-C67B-567E-B99B-A3EC776B84CE}"/>
              </a:ext>
            </a:extLst>
          </p:cNvPr>
          <p:cNvSpPr txBox="1"/>
          <p:nvPr/>
        </p:nvSpPr>
        <p:spPr>
          <a:xfrm>
            <a:off x="835068" y="5972985"/>
            <a:ext cx="10521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Let’s do it together – and take notes !</a:t>
            </a:r>
          </a:p>
        </p:txBody>
      </p:sp>
    </p:spTree>
    <p:extLst>
      <p:ext uri="{BB962C8B-B14F-4D97-AF65-F5344CB8AC3E}">
        <p14:creationId xmlns:p14="http://schemas.microsoft.com/office/powerpoint/2010/main" val="17258430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4B57A-F8AB-D1C5-3A56-61925E8F3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F6CDE632-6787-5390-3647-023957008587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69C6EB1B-2005-5C58-4679-1313C5FFE1B8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BCB680F0-36A6-CC6B-6452-BA5341F623F4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8454B57D-CA48-0B1D-146D-2959B23F2570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973649AA-3F40-90E7-8A08-44C40C3D1097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F9F37CAB-F301-BE37-0FBF-E673143518B3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A6502B0-AD64-0CCE-4BBB-B294119A8CF2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A80AFEF-5DCD-5CED-94E7-C16BD012A289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9B15E789-8647-D0A9-CC32-EB4E391235A8}"/>
              </a:ext>
            </a:extLst>
          </p:cNvPr>
          <p:cNvGrpSpPr/>
          <p:nvPr/>
        </p:nvGrpSpPr>
        <p:grpSpPr>
          <a:xfrm>
            <a:off x="4382058" y="955402"/>
            <a:ext cx="8163509" cy="2255715"/>
            <a:chOff x="5008743" y="1104134"/>
            <a:chExt cx="4668156" cy="22557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2E689AD-DF34-F0BA-7E40-E970A77EC302}"/>
                </a:ext>
              </a:extLst>
            </p:cNvPr>
            <p:cNvSpPr/>
            <p:nvPr/>
          </p:nvSpPr>
          <p:spPr>
            <a:xfrm>
              <a:off x="5008743" y="2040011"/>
              <a:ext cx="4445060" cy="1319838"/>
            </a:xfrm>
            <a:prstGeom prst="rect">
              <a:avLst/>
            </a:prstGeom>
            <a:solidFill>
              <a:srgbClr val="D8A499">
                <a:alpha val="5016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1F11AC7D-BFB4-4802-F823-F57A2606B697}"/>
                </a:ext>
              </a:extLst>
            </p:cNvPr>
            <p:cNvSpPr txBox="1"/>
            <p:nvPr/>
          </p:nvSpPr>
          <p:spPr>
            <a:xfrm>
              <a:off x="5029660" y="2099766"/>
              <a:ext cx="464723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accent1"/>
                  </a:solidFill>
                </a:rPr>
                <a:t>git</a:t>
              </a:r>
              <a:r>
                <a:rPr lang="en-GB" dirty="0"/>
                <a:t> config </a:t>
              </a:r>
              <a:r>
                <a:rPr lang="en-GB" dirty="0">
                  <a:solidFill>
                    <a:schemeClr val="accent6">
                      <a:lumMod val="50000"/>
                    </a:schemeClr>
                  </a:solidFill>
                </a:rPr>
                <a:t>--global </a:t>
              </a:r>
              <a:r>
                <a:rPr lang="en-GB" dirty="0" err="1"/>
                <a:t>user.name</a:t>
              </a:r>
              <a:r>
                <a:rPr lang="en-GB" dirty="0"/>
                <a:t> </a:t>
              </a:r>
              <a:r>
                <a:rPr lang="en-GB" dirty="0">
                  <a:solidFill>
                    <a:schemeClr val="accent6"/>
                  </a:solidFill>
                </a:rPr>
                <a:t>“your name”</a:t>
              </a:r>
            </a:p>
            <a:p>
              <a:r>
                <a:rPr lang="en-GB" dirty="0">
                  <a:solidFill>
                    <a:schemeClr val="accent1"/>
                  </a:solidFill>
                </a:rPr>
                <a:t>git</a:t>
              </a:r>
              <a:r>
                <a:rPr lang="en-GB" dirty="0"/>
                <a:t> config </a:t>
              </a:r>
              <a:r>
                <a:rPr lang="en-GB" dirty="0">
                  <a:solidFill>
                    <a:schemeClr val="accent6">
                      <a:lumMod val="50000"/>
                    </a:schemeClr>
                  </a:solidFill>
                </a:rPr>
                <a:t>--global </a:t>
              </a:r>
              <a:r>
                <a:rPr lang="en-GB" dirty="0" err="1"/>
                <a:t>user.email</a:t>
              </a:r>
              <a:r>
                <a:rPr lang="en-GB" dirty="0"/>
                <a:t> </a:t>
              </a:r>
              <a:r>
                <a:rPr lang="en-GB" dirty="0">
                  <a:solidFill>
                    <a:schemeClr val="accent6"/>
                  </a:solidFill>
                </a:rPr>
                <a:t>“your email”</a:t>
              </a:r>
            </a:p>
            <a:p>
              <a:r>
                <a:rPr lang="en-GB" dirty="0">
                  <a:solidFill>
                    <a:schemeClr val="accent1"/>
                  </a:solidFill>
                </a:rPr>
                <a:t>git</a:t>
              </a:r>
              <a:r>
                <a:rPr lang="en-GB" dirty="0"/>
                <a:t> config </a:t>
              </a:r>
              <a:r>
                <a:rPr lang="en-GB" dirty="0">
                  <a:solidFill>
                    <a:schemeClr val="accent6">
                      <a:lumMod val="50000"/>
                    </a:schemeClr>
                  </a:solidFill>
                </a:rPr>
                <a:t>--global </a:t>
              </a:r>
              <a:r>
                <a:rPr lang="en-GB" dirty="0" err="1"/>
                <a:t>core.editor</a:t>
              </a:r>
              <a:r>
                <a:rPr lang="en-GB" dirty="0"/>
                <a:t> </a:t>
              </a:r>
              <a:r>
                <a:rPr lang="en-GB" dirty="0">
                  <a:solidFill>
                    <a:schemeClr val="accent6"/>
                  </a:solidFill>
                </a:rPr>
                <a:t>“emacs” </a:t>
              </a:r>
              <a:r>
                <a:rPr lang="en-GB" dirty="0">
                  <a:solidFill>
                    <a:schemeClr val="bg2">
                      <a:lumMod val="25000"/>
                    </a:schemeClr>
                  </a:solidFill>
                </a:rPr>
                <a:t>#or any other preferred editor</a:t>
              </a:r>
            </a:p>
            <a:p>
              <a:r>
                <a:rPr lang="en-GB" dirty="0">
                  <a:solidFill>
                    <a:schemeClr val="accent1"/>
                  </a:solidFill>
                </a:rPr>
                <a:t>git</a:t>
              </a:r>
              <a:r>
                <a:rPr lang="en-GB" dirty="0"/>
                <a:t> config </a:t>
              </a:r>
              <a:r>
                <a:rPr lang="en-GB" dirty="0">
                  <a:solidFill>
                    <a:schemeClr val="accent6">
                      <a:lumMod val="50000"/>
                    </a:schemeClr>
                  </a:solidFill>
                </a:rPr>
                <a:t>--global </a:t>
              </a:r>
              <a:r>
                <a:rPr lang="en-GB" dirty="0" err="1"/>
                <a:t>init.defaultBranch</a:t>
              </a:r>
              <a:r>
                <a:rPr lang="en-GB" dirty="0"/>
                <a:t> </a:t>
              </a:r>
              <a:r>
                <a:rPr lang="en-GB" dirty="0">
                  <a:solidFill>
                    <a:schemeClr val="accent6"/>
                  </a:solidFill>
                </a:rPr>
                <a:t>“master” </a:t>
              </a:r>
              <a:r>
                <a:rPr lang="en-GB" dirty="0">
                  <a:solidFill>
                    <a:schemeClr val="bg2">
                      <a:lumMod val="25000"/>
                    </a:schemeClr>
                  </a:solidFill>
                </a:rPr>
                <a:t>#main branch of your projects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86D0BB62-4B2E-A8A0-5C9D-08080ADA936A}"/>
                </a:ext>
              </a:extLst>
            </p:cNvPr>
            <p:cNvSpPr txBox="1"/>
            <p:nvPr/>
          </p:nvSpPr>
          <p:spPr>
            <a:xfrm>
              <a:off x="5038366" y="1104134"/>
              <a:ext cx="20015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Configuration</a:t>
              </a:r>
            </a:p>
          </p:txBody>
        </p: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72F7A19F-15D6-7571-B115-1AC1F02F2736}"/>
              </a:ext>
            </a:extLst>
          </p:cNvPr>
          <p:cNvSpPr txBox="1"/>
          <p:nvPr/>
        </p:nvSpPr>
        <p:spPr>
          <a:xfrm>
            <a:off x="4382058" y="1357869"/>
            <a:ext cx="3670478" cy="400110"/>
          </a:xfrm>
          <a:prstGeom prst="rect">
            <a:avLst/>
          </a:prstGeom>
          <a:solidFill>
            <a:srgbClr val="ECD1CC"/>
          </a:solidFill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1"/>
                </a:solidFill>
              </a:rPr>
              <a:t>git</a:t>
            </a:r>
            <a:r>
              <a:rPr lang="en-GB" sz="2000" dirty="0"/>
              <a:t> COMMAND </a:t>
            </a:r>
            <a:r>
              <a:rPr lang="en-GB" sz="2000" dirty="0">
                <a:solidFill>
                  <a:schemeClr val="accent6">
                    <a:lumMod val="50000"/>
                  </a:schemeClr>
                </a:solidFill>
              </a:rPr>
              <a:t>--ARGUMENT </a:t>
            </a:r>
            <a:endParaRPr lang="fr-FR" sz="20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2694162-4D48-3ADC-E3BD-2CFEF74E3E27}"/>
              </a:ext>
            </a:extLst>
          </p:cNvPr>
          <p:cNvSpPr txBox="1"/>
          <p:nvPr/>
        </p:nvSpPr>
        <p:spPr>
          <a:xfrm>
            <a:off x="835068" y="5972985"/>
            <a:ext cx="10521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Let’s do it together – and take notes !</a:t>
            </a:r>
          </a:p>
        </p:txBody>
      </p:sp>
    </p:spTree>
    <p:extLst>
      <p:ext uri="{BB962C8B-B14F-4D97-AF65-F5344CB8AC3E}">
        <p14:creationId xmlns:p14="http://schemas.microsoft.com/office/powerpoint/2010/main" val="4562313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04202-466C-0B01-DDDD-4F5FCDF9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BCDF0896-E250-DE4B-DEA4-66007160C65A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0FCFBDED-F39A-1B9C-D883-88E17B2771BB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D176F655-0CD0-B4FD-1A0F-5719ACE3DB0A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33B808E6-6332-C684-BB36-83719127BD2B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4E0DCE69-DCC4-24DA-FCF6-762144F7A22D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4E6E931-E47C-CCBB-849F-5C8BC0F369A5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9FD6D1C-FCCF-4A38-0DDC-DD7249E58B5E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5462417-6CB9-97A8-8E4C-6E2D29446160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A99F1765-B578-E6C5-671F-3B4D5E33B4EB}"/>
              </a:ext>
            </a:extLst>
          </p:cNvPr>
          <p:cNvGrpSpPr/>
          <p:nvPr/>
        </p:nvGrpSpPr>
        <p:grpSpPr>
          <a:xfrm>
            <a:off x="4382058" y="955402"/>
            <a:ext cx="8163509" cy="2255715"/>
            <a:chOff x="5008743" y="1104134"/>
            <a:chExt cx="4668156" cy="22557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51F3C03-9D5A-1246-5759-9F6BDA90C9F5}"/>
                </a:ext>
              </a:extLst>
            </p:cNvPr>
            <p:cNvSpPr/>
            <p:nvPr/>
          </p:nvSpPr>
          <p:spPr>
            <a:xfrm>
              <a:off x="5008743" y="2040011"/>
              <a:ext cx="4445060" cy="1319838"/>
            </a:xfrm>
            <a:prstGeom prst="rect">
              <a:avLst/>
            </a:prstGeom>
            <a:solidFill>
              <a:srgbClr val="D8A499">
                <a:alpha val="5016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D59349CB-DE72-B2FA-5A62-652DBF2922AF}"/>
                </a:ext>
              </a:extLst>
            </p:cNvPr>
            <p:cNvSpPr txBox="1"/>
            <p:nvPr/>
          </p:nvSpPr>
          <p:spPr>
            <a:xfrm>
              <a:off x="5029660" y="2099766"/>
              <a:ext cx="464723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accent1"/>
                  </a:solidFill>
                </a:rPr>
                <a:t>git</a:t>
              </a:r>
              <a:r>
                <a:rPr lang="en-GB" dirty="0"/>
                <a:t> config </a:t>
              </a:r>
              <a:r>
                <a:rPr lang="en-GB" dirty="0">
                  <a:solidFill>
                    <a:schemeClr val="accent6">
                      <a:lumMod val="50000"/>
                    </a:schemeClr>
                  </a:solidFill>
                </a:rPr>
                <a:t>--global </a:t>
              </a:r>
              <a:r>
                <a:rPr lang="en-GB" dirty="0" err="1"/>
                <a:t>user.name</a:t>
              </a:r>
              <a:r>
                <a:rPr lang="en-GB" dirty="0"/>
                <a:t> </a:t>
              </a:r>
              <a:r>
                <a:rPr lang="en-GB" dirty="0">
                  <a:solidFill>
                    <a:schemeClr val="accent6"/>
                  </a:solidFill>
                </a:rPr>
                <a:t>“your name”</a:t>
              </a:r>
            </a:p>
            <a:p>
              <a:r>
                <a:rPr lang="en-GB" dirty="0">
                  <a:solidFill>
                    <a:schemeClr val="accent1"/>
                  </a:solidFill>
                </a:rPr>
                <a:t>git</a:t>
              </a:r>
              <a:r>
                <a:rPr lang="en-GB" dirty="0"/>
                <a:t> config </a:t>
              </a:r>
              <a:r>
                <a:rPr lang="en-GB" dirty="0">
                  <a:solidFill>
                    <a:schemeClr val="accent6">
                      <a:lumMod val="50000"/>
                    </a:schemeClr>
                  </a:solidFill>
                </a:rPr>
                <a:t>--global </a:t>
              </a:r>
              <a:r>
                <a:rPr lang="en-GB" dirty="0" err="1"/>
                <a:t>user.email</a:t>
              </a:r>
              <a:r>
                <a:rPr lang="en-GB" dirty="0"/>
                <a:t> </a:t>
              </a:r>
              <a:r>
                <a:rPr lang="en-GB" dirty="0">
                  <a:solidFill>
                    <a:schemeClr val="accent6"/>
                  </a:solidFill>
                </a:rPr>
                <a:t>“your email”</a:t>
              </a:r>
            </a:p>
            <a:p>
              <a:r>
                <a:rPr lang="en-GB" dirty="0">
                  <a:solidFill>
                    <a:schemeClr val="accent1"/>
                  </a:solidFill>
                </a:rPr>
                <a:t>git</a:t>
              </a:r>
              <a:r>
                <a:rPr lang="en-GB" dirty="0"/>
                <a:t> config </a:t>
              </a:r>
              <a:r>
                <a:rPr lang="en-GB" dirty="0">
                  <a:solidFill>
                    <a:schemeClr val="accent6">
                      <a:lumMod val="50000"/>
                    </a:schemeClr>
                  </a:solidFill>
                </a:rPr>
                <a:t>--global </a:t>
              </a:r>
              <a:r>
                <a:rPr lang="en-GB" dirty="0" err="1"/>
                <a:t>core.editor</a:t>
              </a:r>
              <a:r>
                <a:rPr lang="en-GB" dirty="0"/>
                <a:t> </a:t>
              </a:r>
              <a:r>
                <a:rPr lang="en-GB" dirty="0">
                  <a:solidFill>
                    <a:schemeClr val="accent6"/>
                  </a:solidFill>
                </a:rPr>
                <a:t>“emacs” </a:t>
              </a:r>
              <a:r>
                <a:rPr lang="en-GB" dirty="0">
                  <a:solidFill>
                    <a:schemeClr val="bg2">
                      <a:lumMod val="25000"/>
                    </a:schemeClr>
                  </a:solidFill>
                </a:rPr>
                <a:t>#or any other preferred editor</a:t>
              </a:r>
            </a:p>
            <a:p>
              <a:r>
                <a:rPr lang="en-GB" dirty="0">
                  <a:solidFill>
                    <a:schemeClr val="accent1"/>
                  </a:solidFill>
                </a:rPr>
                <a:t>git</a:t>
              </a:r>
              <a:r>
                <a:rPr lang="en-GB" dirty="0"/>
                <a:t> config </a:t>
              </a:r>
              <a:r>
                <a:rPr lang="en-GB" dirty="0">
                  <a:solidFill>
                    <a:schemeClr val="accent6">
                      <a:lumMod val="50000"/>
                    </a:schemeClr>
                  </a:solidFill>
                </a:rPr>
                <a:t>--global </a:t>
              </a:r>
              <a:r>
                <a:rPr lang="en-GB" dirty="0" err="1"/>
                <a:t>init.defaultBranch</a:t>
              </a:r>
              <a:r>
                <a:rPr lang="en-GB" dirty="0"/>
                <a:t> </a:t>
              </a:r>
              <a:r>
                <a:rPr lang="en-GB" dirty="0">
                  <a:solidFill>
                    <a:schemeClr val="accent6"/>
                  </a:solidFill>
                </a:rPr>
                <a:t>“master” </a:t>
              </a:r>
              <a:r>
                <a:rPr lang="en-GB" dirty="0">
                  <a:solidFill>
                    <a:schemeClr val="bg2">
                      <a:lumMod val="25000"/>
                    </a:schemeClr>
                  </a:solidFill>
                </a:rPr>
                <a:t>#main branch of your projects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FAFE44FE-4C83-149A-2F37-66F9EE60224E}"/>
                </a:ext>
              </a:extLst>
            </p:cNvPr>
            <p:cNvSpPr txBox="1"/>
            <p:nvPr/>
          </p:nvSpPr>
          <p:spPr>
            <a:xfrm>
              <a:off x="5038366" y="1104134"/>
              <a:ext cx="20015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Configuration</a:t>
              </a:r>
            </a:p>
          </p:txBody>
        </p: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87E44159-3493-B6A8-866C-4E45ACFE0CC5}"/>
              </a:ext>
            </a:extLst>
          </p:cNvPr>
          <p:cNvSpPr txBox="1"/>
          <p:nvPr/>
        </p:nvSpPr>
        <p:spPr>
          <a:xfrm>
            <a:off x="4382058" y="1357869"/>
            <a:ext cx="3670478" cy="400110"/>
          </a:xfrm>
          <a:prstGeom prst="rect">
            <a:avLst/>
          </a:prstGeom>
          <a:solidFill>
            <a:srgbClr val="ECD1CC"/>
          </a:solidFill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1"/>
                </a:solidFill>
              </a:rPr>
              <a:t>git</a:t>
            </a:r>
            <a:r>
              <a:rPr lang="en-GB" sz="2000" dirty="0"/>
              <a:t> COMMAND </a:t>
            </a:r>
            <a:r>
              <a:rPr lang="en-GB" sz="2000" dirty="0">
                <a:solidFill>
                  <a:schemeClr val="accent6">
                    <a:lumMod val="50000"/>
                  </a:schemeClr>
                </a:solidFill>
              </a:rPr>
              <a:t>--ARGUMENT </a:t>
            </a:r>
            <a:endParaRPr lang="fr-FR" sz="20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E4C4B46-1095-4F08-B0C9-831C219413E2}"/>
              </a:ext>
            </a:extLst>
          </p:cNvPr>
          <p:cNvSpPr txBox="1"/>
          <p:nvPr/>
        </p:nvSpPr>
        <p:spPr>
          <a:xfrm>
            <a:off x="835068" y="5972985"/>
            <a:ext cx="10521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Let’s do it together – and take notes !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8CFF03C-753F-2A18-C322-87999B436045}"/>
              </a:ext>
            </a:extLst>
          </p:cNvPr>
          <p:cNvSpPr txBox="1"/>
          <p:nvPr/>
        </p:nvSpPr>
        <p:spPr>
          <a:xfrm>
            <a:off x="2640900" y="3487424"/>
            <a:ext cx="687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Now, create a Personal Access Token to link your Git to GitHub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B5DEB6-C975-2E0F-5EBA-5D074D10028E}"/>
              </a:ext>
            </a:extLst>
          </p:cNvPr>
          <p:cNvSpPr/>
          <p:nvPr/>
        </p:nvSpPr>
        <p:spPr>
          <a:xfrm>
            <a:off x="2864283" y="4012530"/>
            <a:ext cx="3231716" cy="1416646"/>
          </a:xfrm>
          <a:prstGeom prst="rect">
            <a:avLst/>
          </a:prstGeom>
          <a:solidFill>
            <a:srgbClr val="F5B6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i="1" dirty="0">
                <a:solidFill>
                  <a:sysClr val="windowText" lastClr="000000"/>
                </a:solidFill>
              </a:rPr>
              <a:t>Via</a:t>
            </a:r>
            <a:r>
              <a:rPr lang="fr-FR" b="1" dirty="0">
                <a:solidFill>
                  <a:sysClr val="windowText" lastClr="000000"/>
                </a:solidFill>
              </a:rPr>
              <a:t> 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DD8BF-A5B3-C90F-B7BF-B8985FF67F42}"/>
              </a:ext>
            </a:extLst>
          </p:cNvPr>
          <p:cNvSpPr/>
          <p:nvPr/>
        </p:nvSpPr>
        <p:spPr>
          <a:xfrm>
            <a:off x="6185768" y="4008070"/>
            <a:ext cx="3091841" cy="1416646"/>
          </a:xfrm>
          <a:prstGeom prst="rect">
            <a:avLst/>
          </a:prstGeom>
          <a:solidFill>
            <a:srgbClr val="D8A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i="1" dirty="0">
                <a:solidFill>
                  <a:sysClr val="windowText" lastClr="000000"/>
                </a:solidFill>
              </a:rPr>
              <a:t>Via</a:t>
            </a:r>
            <a:r>
              <a:rPr lang="fr-FR" b="1" dirty="0">
                <a:solidFill>
                  <a:sysClr val="windowText" lastClr="000000"/>
                </a:solidFill>
              </a:rPr>
              <a:t> GitHub</a:t>
            </a:r>
          </a:p>
        </p:txBody>
      </p:sp>
    </p:spTree>
    <p:extLst>
      <p:ext uri="{BB962C8B-B14F-4D97-AF65-F5344CB8AC3E}">
        <p14:creationId xmlns:p14="http://schemas.microsoft.com/office/powerpoint/2010/main" val="300622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3B361-1D09-6A58-4D50-871DFF462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7693563D-DE4D-8811-77F7-C937AD532B22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F2CEA7BE-1EB6-F0F8-05B5-DF341DEEF6EE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3A56E9A2-619E-9DCA-1A83-88D7A8E1BB03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43459E30-560D-3F91-C6A7-E8772F7174A9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5EA8A414-5C7F-0E88-7C18-1DDFB6983038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3859251-7EC0-7385-D738-85759D8F47BA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ED5F4D0F-A531-C258-E026-DC12F494C34B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8B07E5D-06AF-08C4-7BD5-F54C59BFC3EB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6A037B92-469C-80C8-4D3C-8D8D2DB94E1D}"/>
              </a:ext>
            </a:extLst>
          </p:cNvPr>
          <p:cNvGrpSpPr/>
          <p:nvPr/>
        </p:nvGrpSpPr>
        <p:grpSpPr>
          <a:xfrm>
            <a:off x="4382058" y="955402"/>
            <a:ext cx="8163509" cy="2255715"/>
            <a:chOff x="5008743" y="1104134"/>
            <a:chExt cx="4668156" cy="22557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52703DC-4DF2-A7B4-248C-B510DEB9689F}"/>
                </a:ext>
              </a:extLst>
            </p:cNvPr>
            <p:cNvSpPr/>
            <p:nvPr/>
          </p:nvSpPr>
          <p:spPr>
            <a:xfrm>
              <a:off x="5008743" y="2040011"/>
              <a:ext cx="4445060" cy="1319838"/>
            </a:xfrm>
            <a:prstGeom prst="rect">
              <a:avLst/>
            </a:prstGeom>
            <a:solidFill>
              <a:srgbClr val="D8A499">
                <a:alpha val="5016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2D0908B2-8316-4243-55DE-6CCFB2006B08}"/>
                </a:ext>
              </a:extLst>
            </p:cNvPr>
            <p:cNvSpPr txBox="1"/>
            <p:nvPr/>
          </p:nvSpPr>
          <p:spPr>
            <a:xfrm>
              <a:off x="5029660" y="2099766"/>
              <a:ext cx="464723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accent1"/>
                  </a:solidFill>
                </a:rPr>
                <a:t>git</a:t>
              </a:r>
              <a:r>
                <a:rPr lang="en-GB" dirty="0"/>
                <a:t> config </a:t>
              </a:r>
              <a:r>
                <a:rPr lang="en-GB" dirty="0">
                  <a:solidFill>
                    <a:schemeClr val="accent6">
                      <a:lumMod val="50000"/>
                    </a:schemeClr>
                  </a:solidFill>
                </a:rPr>
                <a:t>--global </a:t>
              </a:r>
              <a:r>
                <a:rPr lang="en-GB" dirty="0" err="1"/>
                <a:t>user.name</a:t>
              </a:r>
              <a:r>
                <a:rPr lang="en-GB" dirty="0"/>
                <a:t> </a:t>
              </a:r>
              <a:r>
                <a:rPr lang="en-GB" dirty="0">
                  <a:solidFill>
                    <a:schemeClr val="accent6"/>
                  </a:solidFill>
                </a:rPr>
                <a:t>“your name”</a:t>
              </a:r>
            </a:p>
            <a:p>
              <a:r>
                <a:rPr lang="en-GB" dirty="0">
                  <a:solidFill>
                    <a:schemeClr val="accent1"/>
                  </a:solidFill>
                </a:rPr>
                <a:t>git</a:t>
              </a:r>
              <a:r>
                <a:rPr lang="en-GB" dirty="0"/>
                <a:t> config </a:t>
              </a:r>
              <a:r>
                <a:rPr lang="en-GB" dirty="0">
                  <a:solidFill>
                    <a:schemeClr val="accent6">
                      <a:lumMod val="50000"/>
                    </a:schemeClr>
                  </a:solidFill>
                </a:rPr>
                <a:t>--global </a:t>
              </a:r>
              <a:r>
                <a:rPr lang="en-GB" dirty="0" err="1"/>
                <a:t>user.email</a:t>
              </a:r>
              <a:r>
                <a:rPr lang="en-GB" dirty="0"/>
                <a:t> </a:t>
              </a:r>
              <a:r>
                <a:rPr lang="en-GB" dirty="0">
                  <a:solidFill>
                    <a:schemeClr val="accent6"/>
                  </a:solidFill>
                </a:rPr>
                <a:t>“your email”</a:t>
              </a:r>
            </a:p>
            <a:p>
              <a:r>
                <a:rPr lang="en-GB" dirty="0">
                  <a:solidFill>
                    <a:schemeClr val="accent1"/>
                  </a:solidFill>
                </a:rPr>
                <a:t>git</a:t>
              </a:r>
              <a:r>
                <a:rPr lang="en-GB" dirty="0"/>
                <a:t> config </a:t>
              </a:r>
              <a:r>
                <a:rPr lang="en-GB" dirty="0">
                  <a:solidFill>
                    <a:schemeClr val="accent6">
                      <a:lumMod val="50000"/>
                    </a:schemeClr>
                  </a:solidFill>
                </a:rPr>
                <a:t>--global </a:t>
              </a:r>
              <a:r>
                <a:rPr lang="en-GB" dirty="0" err="1"/>
                <a:t>core.editor</a:t>
              </a:r>
              <a:r>
                <a:rPr lang="en-GB" dirty="0"/>
                <a:t> </a:t>
              </a:r>
              <a:r>
                <a:rPr lang="en-GB" dirty="0">
                  <a:solidFill>
                    <a:schemeClr val="accent6"/>
                  </a:solidFill>
                </a:rPr>
                <a:t>“emacs” </a:t>
              </a:r>
              <a:r>
                <a:rPr lang="en-GB" dirty="0">
                  <a:solidFill>
                    <a:schemeClr val="bg2">
                      <a:lumMod val="25000"/>
                    </a:schemeClr>
                  </a:solidFill>
                </a:rPr>
                <a:t>#or any other preferred editor</a:t>
              </a:r>
            </a:p>
            <a:p>
              <a:r>
                <a:rPr lang="en-GB" dirty="0">
                  <a:solidFill>
                    <a:schemeClr val="accent1"/>
                  </a:solidFill>
                </a:rPr>
                <a:t>git</a:t>
              </a:r>
              <a:r>
                <a:rPr lang="en-GB" dirty="0"/>
                <a:t> config </a:t>
              </a:r>
              <a:r>
                <a:rPr lang="en-GB" dirty="0">
                  <a:solidFill>
                    <a:schemeClr val="accent6">
                      <a:lumMod val="50000"/>
                    </a:schemeClr>
                  </a:solidFill>
                </a:rPr>
                <a:t>--global </a:t>
              </a:r>
              <a:r>
                <a:rPr lang="en-GB" dirty="0" err="1"/>
                <a:t>init.defaultBranch</a:t>
              </a:r>
              <a:r>
                <a:rPr lang="en-GB" dirty="0"/>
                <a:t> </a:t>
              </a:r>
              <a:r>
                <a:rPr lang="en-GB" dirty="0">
                  <a:solidFill>
                    <a:schemeClr val="accent6"/>
                  </a:solidFill>
                </a:rPr>
                <a:t>“master” </a:t>
              </a:r>
              <a:r>
                <a:rPr lang="en-GB" dirty="0">
                  <a:solidFill>
                    <a:schemeClr val="bg2">
                      <a:lumMod val="25000"/>
                    </a:schemeClr>
                  </a:solidFill>
                </a:rPr>
                <a:t>#main branch of your projects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A9D9BA52-E2D5-A36A-05F4-EE62232C617A}"/>
                </a:ext>
              </a:extLst>
            </p:cNvPr>
            <p:cNvSpPr txBox="1"/>
            <p:nvPr/>
          </p:nvSpPr>
          <p:spPr>
            <a:xfrm>
              <a:off x="5038366" y="1104134"/>
              <a:ext cx="20015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Configuration</a:t>
              </a:r>
            </a:p>
          </p:txBody>
        </p: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CB599F25-00B3-C9A7-88B5-74C0421C49BB}"/>
              </a:ext>
            </a:extLst>
          </p:cNvPr>
          <p:cNvSpPr txBox="1"/>
          <p:nvPr/>
        </p:nvSpPr>
        <p:spPr>
          <a:xfrm>
            <a:off x="4382058" y="1357869"/>
            <a:ext cx="3670478" cy="400110"/>
          </a:xfrm>
          <a:prstGeom prst="rect">
            <a:avLst/>
          </a:prstGeom>
          <a:solidFill>
            <a:srgbClr val="ECD1CC"/>
          </a:solidFill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1"/>
                </a:solidFill>
              </a:rPr>
              <a:t>git</a:t>
            </a:r>
            <a:r>
              <a:rPr lang="en-GB" sz="2000" dirty="0"/>
              <a:t> COMMAND </a:t>
            </a:r>
            <a:r>
              <a:rPr lang="en-GB" sz="2000" dirty="0">
                <a:solidFill>
                  <a:schemeClr val="accent6">
                    <a:lumMod val="50000"/>
                  </a:schemeClr>
                </a:solidFill>
              </a:rPr>
              <a:t>--ARGUMENT </a:t>
            </a:r>
            <a:endParaRPr lang="fr-FR" sz="20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BE0C064-924C-BC2E-7021-383B57633884}"/>
              </a:ext>
            </a:extLst>
          </p:cNvPr>
          <p:cNvSpPr txBox="1"/>
          <p:nvPr/>
        </p:nvSpPr>
        <p:spPr>
          <a:xfrm>
            <a:off x="835068" y="5972985"/>
            <a:ext cx="10521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Let’s do it together – and take notes !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18FCB41-3E96-F516-0A30-ABDD8985284D}"/>
              </a:ext>
            </a:extLst>
          </p:cNvPr>
          <p:cNvSpPr txBox="1"/>
          <p:nvPr/>
        </p:nvSpPr>
        <p:spPr>
          <a:xfrm>
            <a:off x="-51192" y="3389279"/>
            <a:ext cx="687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Now, create a Personal Access Token to link your Git to GitHub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6CD592-D3F8-36EF-287F-6DEB2E7D6C37}"/>
              </a:ext>
            </a:extLst>
          </p:cNvPr>
          <p:cNvSpPr/>
          <p:nvPr/>
        </p:nvSpPr>
        <p:spPr>
          <a:xfrm>
            <a:off x="172191" y="3914385"/>
            <a:ext cx="2408171" cy="1416646"/>
          </a:xfrm>
          <a:prstGeom prst="rect">
            <a:avLst/>
          </a:prstGeom>
          <a:solidFill>
            <a:srgbClr val="F5B6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i="1" dirty="0">
                <a:solidFill>
                  <a:sysClr val="windowText" lastClr="000000"/>
                </a:solidFill>
              </a:rPr>
              <a:t>Via</a:t>
            </a:r>
            <a:r>
              <a:rPr lang="fr-FR" b="1" dirty="0">
                <a:solidFill>
                  <a:sysClr val="windowText" lastClr="000000"/>
                </a:solidFill>
              </a:rPr>
              <a:t> R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A518980-EC16-3913-E034-DF20501173C3}"/>
              </a:ext>
            </a:extLst>
          </p:cNvPr>
          <p:cNvSpPr txBox="1"/>
          <p:nvPr/>
        </p:nvSpPr>
        <p:spPr>
          <a:xfrm>
            <a:off x="2552139" y="4161043"/>
            <a:ext cx="63005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à"/>
            </a:pPr>
            <a:r>
              <a:rPr lang="en-GB">
                <a:solidFill>
                  <a:srgbClr val="000000"/>
                </a:solidFill>
                <a:effectLst/>
              </a:rPr>
              <a:t>usethis</a:t>
            </a:r>
            <a:r>
              <a:rPr lang="en-GB" dirty="0">
                <a:solidFill>
                  <a:srgbClr val="000000"/>
                </a:solidFill>
                <a:effectLst/>
              </a:rPr>
              <a:t>::</a:t>
            </a:r>
            <a:r>
              <a:rPr lang="en-GB" dirty="0" err="1">
                <a:solidFill>
                  <a:srgbClr val="000000"/>
                </a:solidFill>
                <a:effectLst/>
              </a:rPr>
              <a:t>create_github_token</a:t>
            </a:r>
            <a:r>
              <a:rPr lang="en-GB" dirty="0">
                <a:solidFill>
                  <a:srgbClr val="000000"/>
                </a:solidFill>
                <a:effectLst/>
              </a:rPr>
              <a:t>()</a:t>
            </a:r>
          </a:p>
          <a:p>
            <a:pPr marL="285750" indent="-285750">
              <a:buFont typeface="Wingdings" pitchFamily="2" charset="2"/>
              <a:buChar char="à"/>
            </a:pPr>
            <a:endParaRPr lang="en-GB" dirty="0">
              <a:solidFill>
                <a:srgbClr val="000000"/>
              </a:solidFill>
            </a:endParaRPr>
          </a:p>
          <a:p>
            <a:pPr marL="285750" indent="-285750">
              <a:buFont typeface="Wingdings" pitchFamily="2" charset="2"/>
              <a:buChar char="à"/>
            </a:pPr>
            <a:r>
              <a:rPr lang="en-GB" dirty="0" err="1"/>
              <a:t>gitcreds</a:t>
            </a:r>
            <a:r>
              <a:rPr lang="en-GB" dirty="0"/>
              <a:t>::</a:t>
            </a:r>
            <a:r>
              <a:rPr lang="en-GB" dirty="0" err="1"/>
              <a:t>gitcreds_set</a:t>
            </a:r>
            <a:r>
              <a:rPr lang="en-GB" dirty="0"/>
              <a:t>()</a:t>
            </a:r>
          </a:p>
        </p:txBody>
      </p:sp>
      <p:pic>
        <p:nvPicPr>
          <p:cNvPr id="22" name="Image 21" descr="Une image contenant texte, capture d’écran, Police, algèbre&#10;&#10;Le contenu généré par l’IA peut être incorrect.">
            <a:extLst>
              <a:ext uri="{FF2B5EF4-FFF2-40B4-BE49-F238E27FC236}">
                <a16:creationId xmlns:a16="http://schemas.microsoft.com/office/drawing/2014/main" id="{ED190970-76F4-6505-4412-BEFD4DADAA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256"/>
          <a:stretch>
            <a:fillRect/>
          </a:stretch>
        </p:blipFill>
        <p:spPr>
          <a:xfrm>
            <a:off x="6175771" y="4063023"/>
            <a:ext cx="5716607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224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0651F-B20E-CDCF-882B-FD3B45B3F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337D160C-D925-C0E7-8189-2CF4B63FE195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ABC7F903-2B18-3BDA-031C-6246E3071269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FD5478CD-8742-3480-2CA6-7D63082C22EC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3144DD42-B448-DA5A-10BC-79599B6AB5A1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1BA42026-EC12-644F-1B85-29E4B76A48AA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6E9F6F2A-C6B9-3C7D-F05A-4A871EF537A3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74D8548D-A1BB-1D89-DE05-9AA781C2C4FC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F5E873D-F6F7-2C59-6367-353EBD836858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19DEB3B0-0885-66C6-7A0E-FE79FD42E6B8}"/>
              </a:ext>
            </a:extLst>
          </p:cNvPr>
          <p:cNvGrpSpPr/>
          <p:nvPr/>
        </p:nvGrpSpPr>
        <p:grpSpPr>
          <a:xfrm>
            <a:off x="4382058" y="955402"/>
            <a:ext cx="8163509" cy="2255715"/>
            <a:chOff x="5008743" y="1104134"/>
            <a:chExt cx="4668156" cy="22557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7747A67-5C8B-1CBF-FE1B-B37450836AAC}"/>
                </a:ext>
              </a:extLst>
            </p:cNvPr>
            <p:cNvSpPr/>
            <p:nvPr/>
          </p:nvSpPr>
          <p:spPr>
            <a:xfrm>
              <a:off x="5008743" y="2040011"/>
              <a:ext cx="4445060" cy="1319838"/>
            </a:xfrm>
            <a:prstGeom prst="rect">
              <a:avLst/>
            </a:prstGeom>
            <a:solidFill>
              <a:srgbClr val="D8A499">
                <a:alpha val="5016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18EFD38-908C-916B-2989-D2CBECB79C3A}"/>
                </a:ext>
              </a:extLst>
            </p:cNvPr>
            <p:cNvSpPr txBox="1"/>
            <p:nvPr/>
          </p:nvSpPr>
          <p:spPr>
            <a:xfrm>
              <a:off x="5029660" y="2099766"/>
              <a:ext cx="464723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accent1"/>
                  </a:solidFill>
                </a:rPr>
                <a:t>git</a:t>
              </a:r>
              <a:r>
                <a:rPr lang="en-GB" dirty="0"/>
                <a:t> config </a:t>
              </a:r>
              <a:r>
                <a:rPr lang="en-GB" dirty="0">
                  <a:solidFill>
                    <a:schemeClr val="accent6">
                      <a:lumMod val="50000"/>
                    </a:schemeClr>
                  </a:solidFill>
                </a:rPr>
                <a:t>--global </a:t>
              </a:r>
              <a:r>
                <a:rPr lang="en-GB" dirty="0" err="1"/>
                <a:t>user.name</a:t>
              </a:r>
              <a:r>
                <a:rPr lang="en-GB" dirty="0"/>
                <a:t> </a:t>
              </a:r>
              <a:r>
                <a:rPr lang="en-GB" dirty="0">
                  <a:solidFill>
                    <a:schemeClr val="accent6"/>
                  </a:solidFill>
                </a:rPr>
                <a:t>“your name”</a:t>
              </a:r>
            </a:p>
            <a:p>
              <a:r>
                <a:rPr lang="en-GB" dirty="0">
                  <a:solidFill>
                    <a:schemeClr val="accent1"/>
                  </a:solidFill>
                </a:rPr>
                <a:t>git</a:t>
              </a:r>
              <a:r>
                <a:rPr lang="en-GB" dirty="0"/>
                <a:t> config </a:t>
              </a:r>
              <a:r>
                <a:rPr lang="en-GB" dirty="0">
                  <a:solidFill>
                    <a:schemeClr val="accent6">
                      <a:lumMod val="50000"/>
                    </a:schemeClr>
                  </a:solidFill>
                </a:rPr>
                <a:t>--global </a:t>
              </a:r>
              <a:r>
                <a:rPr lang="en-GB" dirty="0" err="1"/>
                <a:t>user.email</a:t>
              </a:r>
              <a:r>
                <a:rPr lang="en-GB" dirty="0"/>
                <a:t> </a:t>
              </a:r>
              <a:r>
                <a:rPr lang="en-GB" dirty="0">
                  <a:solidFill>
                    <a:schemeClr val="accent6"/>
                  </a:solidFill>
                </a:rPr>
                <a:t>“your email”</a:t>
              </a:r>
            </a:p>
            <a:p>
              <a:r>
                <a:rPr lang="en-GB" dirty="0">
                  <a:solidFill>
                    <a:schemeClr val="accent1"/>
                  </a:solidFill>
                </a:rPr>
                <a:t>git</a:t>
              </a:r>
              <a:r>
                <a:rPr lang="en-GB" dirty="0"/>
                <a:t> config </a:t>
              </a:r>
              <a:r>
                <a:rPr lang="en-GB" dirty="0">
                  <a:solidFill>
                    <a:schemeClr val="accent6">
                      <a:lumMod val="50000"/>
                    </a:schemeClr>
                  </a:solidFill>
                </a:rPr>
                <a:t>--global </a:t>
              </a:r>
              <a:r>
                <a:rPr lang="en-GB" dirty="0" err="1"/>
                <a:t>core.editor</a:t>
              </a:r>
              <a:r>
                <a:rPr lang="en-GB" dirty="0"/>
                <a:t> </a:t>
              </a:r>
              <a:r>
                <a:rPr lang="en-GB" dirty="0">
                  <a:solidFill>
                    <a:schemeClr val="accent6"/>
                  </a:solidFill>
                </a:rPr>
                <a:t>“emacs” </a:t>
              </a:r>
              <a:r>
                <a:rPr lang="en-GB" dirty="0">
                  <a:solidFill>
                    <a:schemeClr val="bg2">
                      <a:lumMod val="25000"/>
                    </a:schemeClr>
                  </a:solidFill>
                </a:rPr>
                <a:t>#or any other preferred editor</a:t>
              </a:r>
            </a:p>
            <a:p>
              <a:r>
                <a:rPr lang="en-GB" dirty="0">
                  <a:solidFill>
                    <a:schemeClr val="accent1"/>
                  </a:solidFill>
                </a:rPr>
                <a:t>git</a:t>
              </a:r>
              <a:r>
                <a:rPr lang="en-GB" dirty="0"/>
                <a:t> config </a:t>
              </a:r>
              <a:r>
                <a:rPr lang="en-GB" dirty="0">
                  <a:solidFill>
                    <a:schemeClr val="accent6">
                      <a:lumMod val="50000"/>
                    </a:schemeClr>
                  </a:solidFill>
                </a:rPr>
                <a:t>--global </a:t>
              </a:r>
              <a:r>
                <a:rPr lang="en-GB" dirty="0" err="1"/>
                <a:t>init.defaultBranch</a:t>
              </a:r>
              <a:r>
                <a:rPr lang="en-GB" dirty="0"/>
                <a:t> </a:t>
              </a:r>
              <a:r>
                <a:rPr lang="en-GB" dirty="0">
                  <a:solidFill>
                    <a:schemeClr val="accent6"/>
                  </a:solidFill>
                </a:rPr>
                <a:t>“master” </a:t>
              </a:r>
              <a:r>
                <a:rPr lang="en-GB" dirty="0">
                  <a:solidFill>
                    <a:schemeClr val="bg2">
                      <a:lumMod val="25000"/>
                    </a:schemeClr>
                  </a:solidFill>
                </a:rPr>
                <a:t>#main branch of your projects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F874C87D-2902-622D-6A23-15BD757AA174}"/>
                </a:ext>
              </a:extLst>
            </p:cNvPr>
            <p:cNvSpPr txBox="1"/>
            <p:nvPr/>
          </p:nvSpPr>
          <p:spPr>
            <a:xfrm>
              <a:off x="5038366" y="1104134"/>
              <a:ext cx="20015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Configuration</a:t>
              </a:r>
            </a:p>
          </p:txBody>
        </p: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7E70B942-F439-C875-9AB7-9553B2E9BF29}"/>
              </a:ext>
            </a:extLst>
          </p:cNvPr>
          <p:cNvSpPr txBox="1"/>
          <p:nvPr/>
        </p:nvSpPr>
        <p:spPr>
          <a:xfrm>
            <a:off x="4382058" y="1357869"/>
            <a:ext cx="3670478" cy="400110"/>
          </a:xfrm>
          <a:prstGeom prst="rect">
            <a:avLst/>
          </a:prstGeom>
          <a:solidFill>
            <a:srgbClr val="ECD1CC"/>
          </a:solidFill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accent1"/>
                </a:solidFill>
              </a:rPr>
              <a:t>git</a:t>
            </a:r>
            <a:r>
              <a:rPr lang="en-GB" sz="2000" dirty="0"/>
              <a:t> COMMAND </a:t>
            </a:r>
            <a:r>
              <a:rPr lang="en-GB" sz="2000" dirty="0">
                <a:solidFill>
                  <a:schemeClr val="accent6">
                    <a:lumMod val="50000"/>
                  </a:schemeClr>
                </a:solidFill>
              </a:rPr>
              <a:t>--ARGUMENT </a:t>
            </a:r>
            <a:endParaRPr lang="fr-FR" sz="20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0B84C70-84B8-AB08-786E-5650CDF3BB98}"/>
              </a:ext>
            </a:extLst>
          </p:cNvPr>
          <p:cNvSpPr txBox="1"/>
          <p:nvPr/>
        </p:nvSpPr>
        <p:spPr>
          <a:xfrm>
            <a:off x="835068" y="5972985"/>
            <a:ext cx="10521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Let’s do it together – and take notes !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DCA0685-28F1-C932-F94C-BE2C08D5974B}"/>
              </a:ext>
            </a:extLst>
          </p:cNvPr>
          <p:cNvSpPr txBox="1"/>
          <p:nvPr/>
        </p:nvSpPr>
        <p:spPr>
          <a:xfrm>
            <a:off x="-51192" y="3389279"/>
            <a:ext cx="687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Now, create a Personal Access Token to link your Git to GitHub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C4B68E-8C58-E9C6-B265-650679BF9D5D}"/>
              </a:ext>
            </a:extLst>
          </p:cNvPr>
          <p:cNvSpPr/>
          <p:nvPr/>
        </p:nvSpPr>
        <p:spPr>
          <a:xfrm>
            <a:off x="172191" y="3914385"/>
            <a:ext cx="2408171" cy="1416646"/>
          </a:xfrm>
          <a:prstGeom prst="rect">
            <a:avLst/>
          </a:prstGeom>
          <a:solidFill>
            <a:srgbClr val="D8A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i="1" dirty="0">
                <a:solidFill>
                  <a:sysClr val="windowText" lastClr="000000"/>
                </a:solidFill>
              </a:rPr>
              <a:t>Via</a:t>
            </a:r>
            <a:r>
              <a:rPr lang="fr-FR" b="1" dirty="0">
                <a:solidFill>
                  <a:sysClr val="windowText" lastClr="000000"/>
                </a:solidFill>
              </a:rPr>
              <a:t> GitHub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18A68C1-91D7-3AC8-1B04-6FF785FCB4C2}"/>
              </a:ext>
            </a:extLst>
          </p:cNvPr>
          <p:cNvSpPr txBox="1"/>
          <p:nvPr/>
        </p:nvSpPr>
        <p:spPr>
          <a:xfrm>
            <a:off x="2580362" y="4090307"/>
            <a:ext cx="5849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>
                <a:solidFill>
                  <a:srgbClr val="000000"/>
                </a:solidFill>
                <a:latin typeface="Helvetica" pitchFamily="2" charset="0"/>
                <a:sym typeface="Wingdings" pitchFamily="2" charset="2"/>
              </a:rPr>
              <a:t></a:t>
            </a:r>
            <a:r>
              <a:rPr lang="fr-FR" i="1" dirty="0">
                <a:solidFill>
                  <a:srgbClr val="000000"/>
                </a:solidFill>
                <a:effectLst/>
                <a:latin typeface="Helvetica" pitchFamily="2" charset="0"/>
              </a:rPr>
              <a:t>settings 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&gt; </a:t>
            </a:r>
            <a:r>
              <a:rPr lang="fr-FR" i="1" dirty="0" err="1">
                <a:solidFill>
                  <a:srgbClr val="000000"/>
                </a:solidFill>
                <a:effectLst/>
                <a:latin typeface="Helvetica" pitchFamily="2" charset="0"/>
              </a:rPr>
              <a:t>Developer</a:t>
            </a:r>
            <a:r>
              <a:rPr lang="fr-FR" i="1" dirty="0">
                <a:solidFill>
                  <a:srgbClr val="000000"/>
                </a:solidFill>
                <a:effectLst/>
                <a:latin typeface="Helvetica" pitchFamily="2" charset="0"/>
              </a:rPr>
              <a:t> settings 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&gt; </a:t>
            </a:r>
            <a:r>
              <a:rPr lang="fr-FR" i="1" dirty="0" err="1">
                <a:solidFill>
                  <a:srgbClr val="000000"/>
                </a:solidFill>
                <a:effectLst/>
                <a:latin typeface="Helvetica" pitchFamily="2" charset="0"/>
              </a:rPr>
              <a:t>Personal</a:t>
            </a:r>
            <a:r>
              <a:rPr lang="fr-FR" i="1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i="1" dirty="0" err="1">
                <a:solidFill>
                  <a:srgbClr val="000000"/>
                </a:solidFill>
                <a:effectLst/>
                <a:latin typeface="Helvetica" pitchFamily="2" charset="0"/>
              </a:rPr>
              <a:t>access</a:t>
            </a:r>
            <a:endParaRPr lang="fr-FR" i="1" dirty="0">
              <a:solidFill>
                <a:srgbClr val="000000"/>
              </a:solidFill>
              <a:latin typeface="Helvetica" pitchFamily="2" charset="0"/>
            </a:endParaRPr>
          </a:p>
          <a:p>
            <a:pPr>
              <a:buNone/>
            </a:pPr>
            <a:r>
              <a:rPr lang="fr-FR" i="1" dirty="0">
                <a:solidFill>
                  <a:srgbClr val="000000"/>
                </a:solidFill>
                <a:effectLst/>
                <a:latin typeface="Helvetica" pitchFamily="2" charset="0"/>
              </a:rPr>
              <a:t>    </a:t>
            </a:r>
            <a:r>
              <a:rPr lang="fr-FR" i="1" dirty="0" err="1">
                <a:solidFill>
                  <a:srgbClr val="000000"/>
                </a:solidFill>
                <a:effectLst/>
                <a:latin typeface="Helvetica" pitchFamily="2" charset="0"/>
              </a:rPr>
              <a:t>tokens</a:t>
            </a:r>
            <a:r>
              <a:rPr lang="fr-FR" i="1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&gt; </a:t>
            </a:r>
            <a:r>
              <a:rPr lang="fr-FR" i="1" dirty="0" err="1">
                <a:solidFill>
                  <a:srgbClr val="000000"/>
                </a:solidFill>
                <a:effectLst/>
                <a:latin typeface="Helvetica" pitchFamily="2" charset="0"/>
              </a:rPr>
              <a:t>Generate</a:t>
            </a:r>
            <a:r>
              <a:rPr lang="fr-FR" i="1" dirty="0">
                <a:solidFill>
                  <a:srgbClr val="000000"/>
                </a:solidFill>
                <a:effectLst/>
                <a:latin typeface="Helvetica" pitchFamily="2" charset="0"/>
              </a:rPr>
              <a:t> new </a:t>
            </a:r>
            <a:r>
              <a:rPr lang="fr-FR" i="1" dirty="0" err="1">
                <a:solidFill>
                  <a:srgbClr val="000000"/>
                </a:solidFill>
                <a:effectLst/>
                <a:latin typeface="Helvetica" pitchFamily="2" charset="0"/>
              </a:rPr>
              <a:t>token</a:t>
            </a:r>
            <a:endParaRPr lang="fr-FR" i="1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pic>
        <p:nvPicPr>
          <p:cNvPr id="23" name="Image 2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715746C2-B007-47AB-2A4F-1129BF550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536" y="3573527"/>
            <a:ext cx="3176305" cy="237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018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9A0A7-4867-7396-3AC8-473EDABB9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E4706E94-4C0B-577A-1509-5D1957EC4277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679DD28D-A8A2-1611-15EE-193A9B85C1F2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861626CA-0FBF-1A7F-EDCE-5087A6CCC29E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86EFD40E-3AC4-9CC8-AD4D-91F317214A03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70CFA6F2-9073-B6F6-728C-6680AD5E2D04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6ED6F92-A748-4876-A55C-7F5828236FA6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2F871964-0F82-2323-0B9D-804D1ED55018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8E49008-3CAF-EF88-4A7D-47E1FB3C7FAD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F05E675-6047-6420-33DF-C79D455A8DA2}"/>
              </a:ext>
            </a:extLst>
          </p:cNvPr>
          <p:cNvSpPr txBox="1"/>
          <p:nvPr/>
        </p:nvSpPr>
        <p:spPr>
          <a:xfrm>
            <a:off x="4433862" y="955402"/>
            <a:ext cx="350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Connecting Git &amp; GitHub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F1C496F-C04E-8B8E-4C4B-54EF0C39F261}"/>
              </a:ext>
            </a:extLst>
          </p:cNvPr>
          <p:cNvSpPr txBox="1"/>
          <p:nvPr/>
        </p:nvSpPr>
        <p:spPr>
          <a:xfrm>
            <a:off x="835068" y="5972985"/>
            <a:ext cx="10521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Let’s do it together – and take notes 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C18276-EB4B-A7FE-9C89-378380028C96}"/>
              </a:ext>
            </a:extLst>
          </p:cNvPr>
          <p:cNvSpPr/>
          <p:nvPr/>
        </p:nvSpPr>
        <p:spPr>
          <a:xfrm>
            <a:off x="4382058" y="1365186"/>
            <a:ext cx="7773366" cy="2983053"/>
          </a:xfrm>
          <a:prstGeom prst="rect">
            <a:avLst/>
          </a:prstGeom>
          <a:solidFill>
            <a:srgbClr val="D8A499">
              <a:alpha val="5016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4317BF3-8567-59D3-B31F-88DD6A418C1D}"/>
              </a:ext>
            </a:extLst>
          </p:cNvPr>
          <p:cNvSpPr txBox="1"/>
          <p:nvPr/>
        </p:nvSpPr>
        <p:spPr>
          <a:xfrm>
            <a:off x="4418637" y="1387364"/>
            <a:ext cx="7493615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chemeClr val="accent1"/>
                </a:solidFill>
              </a:rPr>
              <a:t>git</a:t>
            </a:r>
            <a:r>
              <a:rPr lang="en-GB" dirty="0"/>
              <a:t> </a:t>
            </a:r>
            <a:r>
              <a:rPr lang="en-GB" dirty="0" err="1"/>
              <a:t>init</a:t>
            </a:r>
            <a:r>
              <a:rPr lang="en-GB" dirty="0"/>
              <a:t> 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#start to track versions</a:t>
            </a:r>
            <a:endParaRPr lang="en-GB" dirty="0">
              <a:solidFill>
                <a:schemeClr val="accent6"/>
              </a:solidFill>
            </a:endParaRP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accent1"/>
                </a:solidFill>
              </a:rPr>
              <a:t>git</a:t>
            </a:r>
            <a:r>
              <a:rPr lang="en-GB" dirty="0"/>
              <a:t> add </a:t>
            </a:r>
            <a:r>
              <a:rPr lang="en-GB" dirty="0">
                <a:solidFill>
                  <a:schemeClr val="accent6"/>
                </a:solidFill>
              </a:rPr>
              <a:t>&lt;file name&gt; 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#specify which file to track (individually)</a:t>
            </a:r>
            <a:endParaRPr lang="en-GB" dirty="0">
              <a:solidFill>
                <a:schemeClr val="accent6"/>
              </a:solidFill>
            </a:endParaRP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accent1"/>
                </a:solidFill>
              </a:rPr>
              <a:t>git</a:t>
            </a:r>
            <a:r>
              <a:rPr lang="en-GB" dirty="0"/>
              <a:t> add 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--all</a:t>
            </a:r>
            <a:r>
              <a:rPr lang="en-GB" dirty="0"/>
              <a:t> 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#to track all the files in the folder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git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 rm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--cached 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#to remove files from tracking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git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 commit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--m </a:t>
            </a:r>
            <a:r>
              <a:rPr lang="en-GB" dirty="0">
                <a:solidFill>
                  <a:schemeClr val="accent6"/>
                </a:solidFill>
              </a:rPr>
              <a:t>&lt;describe the commit&gt; 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#make your first commit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git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 remote add origin </a:t>
            </a:r>
            <a:r>
              <a:rPr lang="en-GB" dirty="0">
                <a:solidFill>
                  <a:schemeClr val="accent6"/>
                </a:solidFill>
              </a:rPr>
              <a:t>&lt;HTTPS URL&gt; 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#https of the corresponding GitHub rep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git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 push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–set-upstream 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origin </a:t>
            </a:r>
            <a:r>
              <a:rPr lang="en-GB" dirty="0">
                <a:solidFill>
                  <a:schemeClr val="accent6"/>
                </a:solidFill>
              </a:rPr>
              <a:t>&lt;master branch&gt; 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#push to the remote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568A669-3208-835E-1DD2-504C4F35ACBC}"/>
              </a:ext>
            </a:extLst>
          </p:cNvPr>
          <p:cNvSpPr txBox="1"/>
          <p:nvPr/>
        </p:nvSpPr>
        <p:spPr>
          <a:xfrm>
            <a:off x="4382058" y="4560447"/>
            <a:ext cx="5738972" cy="369332"/>
          </a:xfrm>
          <a:prstGeom prst="rect">
            <a:avLst/>
          </a:prstGeom>
          <a:solidFill>
            <a:srgbClr val="ECD1CC"/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git</a:t>
            </a:r>
            <a:r>
              <a:rPr lang="en-GB" dirty="0"/>
              <a:t> clone </a:t>
            </a:r>
            <a:r>
              <a:rPr lang="en-GB" dirty="0">
                <a:solidFill>
                  <a:schemeClr val="accent6"/>
                </a:solidFill>
              </a:rPr>
              <a:t>&lt;HTTPS URL&gt; 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#import existing GitHub rep</a:t>
            </a:r>
            <a:endParaRPr lang="fr-FR" dirty="0"/>
          </a:p>
        </p:txBody>
      </p:sp>
      <p:pic>
        <p:nvPicPr>
          <p:cNvPr id="24" name="Image 23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2AF16F17-C768-0038-CB97-341012FE4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48" y="3110187"/>
            <a:ext cx="3432299" cy="2960875"/>
          </a:xfrm>
          <a:prstGeom prst="rect">
            <a:avLst/>
          </a:prstGeom>
        </p:spPr>
      </p:pic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4E91CC57-DF13-EC0D-046E-5EC3E364527E}"/>
              </a:ext>
            </a:extLst>
          </p:cNvPr>
          <p:cNvCxnSpPr/>
          <p:nvPr/>
        </p:nvCxnSpPr>
        <p:spPr>
          <a:xfrm>
            <a:off x="3795386" y="3770334"/>
            <a:ext cx="48993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40567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94FF7-BC66-D0B3-95F3-1975B4F9D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F8623F75-75B4-45F9-F176-63A4CB72B799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08310669-581A-EA03-D154-DFA95429092A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IMPLEMENTATION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9E675288-CC8B-31D0-DD55-17A6B7FACE71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SHARING</a:t>
              </a: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6D330E4B-6128-8263-DB23-8DCEA2A7F1C6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FD9B4B1A-2888-A178-CC79-776899894163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TRACKING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F363343-B20F-A0AA-53EB-B0C2C4EAC850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5F4605E-2439-9271-20C0-51BC702CB830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E0E1E36-3DA5-9EFC-D94A-E33C39CEAAD3}"/>
              </a:ext>
            </a:extLst>
          </p:cNvPr>
          <p:cNvSpPr txBox="1"/>
          <p:nvPr/>
        </p:nvSpPr>
        <p:spPr>
          <a:xfrm>
            <a:off x="5673203" y="307072"/>
            <a:ext cx="4595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Versioning tools: Git and GitHub</a:t>
            </a:r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5655376D-089B-5B57-8394-864BD9A463E9}"/>
              </a:ext>
            </a:extLst>
          </p:cNvPr>
          <p:cNvSpPr/>
          <p:nvPr/>
        </p:nvSpPr>
        <p:spPr>
          <a:xfrm>
            <a:off x="2005673" y="3078223"/>
            <a:ext cx="5939117" cy="3672590"/>
          </a:xfrm>
          <a:prstGeom prst="roundRect">
            <a:avLst/>
          </a:prstGeom>
          <a:solidFill>
            <a:srgbClr val="C27C39">
              <a:alpha val="5964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9BC1EF30-A130-41A2-4DB8-54CB5D6E86CA}"/>
              </a:ext>
            </a:extLst>
          </p:cNvPr>
          <p:cNvSpPr/>
          <p:nvPr/>
        </p:nvSpPr>
        <p:spPr>
          <a:xfrm>
            <a:off x="8177127" y="3078223"/>
            <a:ext cx="2540839" cy="3672590"/>
          </a:xfrm>
          <a:prstGeom prst="roundRect">
            <a:avLst/>
          </a:prstGeom>
          <a:solidFill>
            <a:srgbClr val="C27C39">
              <a:alpha val="9412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01ECB421-239B-1BA7-043E-D5DEC0936A7D}"/>
              </a:ext>
            </a:extLst>
          </p:cNvPr>
          <p:cNvSpPr txBox="1"/>
          <p:nvPr/>
        </p:nvSpPr>
        <p:spPr>
          <a:xfrm>
            <a:off x="4350885" y="2644587"/>
            <a:ext cx="1798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Git (local)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92D898-FA84-776B-FB9F-9D94304045E2}"/>
              </a:ext>
            </a:extLst>
          </p:cNvPr>
          <p:cNvSpPr/>
          <p:nvPr/>
        </p:nvSpPr>
        <p:spPr>
          <a:xfrm>
            <a:off x="5904337" y="3078223"/>
            <a:ext cx="1343588" cy="3672590"/>
          </a:xfrm>
          <a:prstGeom prst="rect">
            <a:avLst/>
          </a:prstGeom>
          <a:pattFill prst="dkUpDiag">
            <a:fgClr>
              <a:schemeClr val="accent5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4115EEDF-49C1-32DF-8EBA-3A5F58B763D4}"/>
              </a:ext>
            </a:extLst>
          </p:cNvPr>
          <p:cNvSpPr txBox="1"/>
          <p:nvPr/>
        </p:nvSpPr>
        <p:spPr>
          <a:xfrm>
            <a:off x="8467559" y="2644587"/>
            <a:ext cx="1959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GitHub (remote)</a:t>
            </a:r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5347BE20-D3AB-118E-54F4-A189F46C2AB7}"/>
              </a:ext>
            </a:extLst>
          </p:cNvPr>
          <p:cNvSpPr/>
          <p:nvPr/>
        </p:nvSpPr>
        <p:spPr>
          <a:xfrm>
            <a:off x="5906125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E0974468-1F09-3D69-659E-975DDE8E29EF}"/>
              </a:ext>
            </a:extLst>
          </p:cNvPr>
          <p:cNvSpPr/>
          <p:nvPr/>
        </p:nvSpPr>
        <p:spPr>
          <a:xfrm>
            <a:off x="5906125" y="5490667"/>
            <a:ext cx="1349114" cy="99309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FD0C94E-1F73-3530-592B-13A165BFFB23}"/>
              </a:ext>
            </a:extLst>
          </p:cNvPr>
          <p:cNvSpPr/>
          <p:nvPr/>
        </p:nvSpPr>
        <p:spPr>
          <a:xfrm>
            <a:off x="3472988" y="3078223"/>
            <a:ext cx="1343588" cy="3672590"/>
          </a:xfrm>
          <a:prstGeom prst="rect">
            <a:avLst/>
          </a:prstGeom>
          <a:pattFill prst="dkUpDiag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C42E7586-B026-981A-E936-7C632FEAD101}"/>
              </a:ext>
            </a:extLst>
          </p:cNvPr>
          <p:cNvSpPr/>
          <p:nvPr/>
        </p:nvSpPr>
        <p:spPr>
          <a:xfrm>
            <a:off x="3477720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7CA9ECDA-0FC0-772F-79F3-D95569063EB5}"/>
              </a:ext>
            </a:extLst>
          </p:cNvPr>
          <p:cNvSpPr/>
          <p:nvPr/>
        </p:nvSpPr>
        <p:spPr>
          <a:xfrm>
            <a:off x="3477720" y="5490667"/>
            <a:ext cx="1349114" cy="99309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34936DEC-DFCF-8BD5-9EBA-E3125DA0C5DF}"/>
              </a:ext>
            </a:extLst>
          </p:cNvPr>
          <p:cNvCxnSpPr>
            <a:cxnSpLocks/>
          </p:cNvCxnSpPr>
          <p:nvPr/>
        </p:nvCxnSpPr>
        <p:spPr>
          <a:xfrm>
            <a:off x="2398435" y="3897443"/>
            <a:ext cx="0" cy="258632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FA6BD379-94FC-ABF5-4412-F9D185795B3D}"/>
              </a:ext>
            </a:extLst>
          </p:cNvPr>
          <p:cNvSpPr txBox="1"/>
          <p:nvPr/>
        </p:nvSpPr>
        <p:spPr>
          <a:xfrm rot="16200000">
            <a:off x="1005718" y="4745241"/>
            <a:ext cx="233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Work in progress</a:t>
            </a:r>
          </a:p>
        </p:txBody>
      </p: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05CAD13F-A528-3FE4-A947-82379EC6C0CD}"/>
              </a:ext>
            </a:extLst>
          </p:cNvPr>
          <p:cNvCxnSpPr>
            <a:cxnSpLocks/>
          </p:cNvCxnSpPr>
          <p:nvPr/>
        </p:nvCxnSpPr>
        <p:spPr>
          <a:xfrm>
            <a:off x="4139786" y="4422098"/>
            <a:ext cx="0" cy="106856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Ellipse 62">
            <a:extLst>
              <a:ext uri="{FF2B5EF4-FFF2-40B4-BE49-F238E27FC236}">
                <a16:creationId xmlns:a16="http://schemas.microsoft.com/office/drawing/2014/main" id="{EF65BC37-9974-E17C-327C-5CFC3E9E9145}"/>
              </a:ext>
            </a:extLst>
          </p:cNvPr>
          <p:cNvSpPr/>
          <p:nvPr/>
        </p:nvSpPr>
        <p:spPr>
          <a:xfrm>
            <a:off x="3987385" y="4556705"/>
            <a:ext cx="299804" cy="29980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E1353A83-3829-254D-73BE-2E2ED6A90F91}"/>
              </a:ext>
            </a:extLst>
          </p:cNvPr>
          <p:cNvSpPr/>
          <p:nvPr/>
        </p:nvSpPr>
        <p:spPr>
          <a:xfrm>
            <a:off x="3987385" y="4983233"/>
            <a:ext cx="299804" cy="29980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D9F98EFA-1AC1-1FA6-F58D-4D3EFB601617}"/>
              </a:ext>
            </a:extLst>
          </p:cNvPr>
          <p:cNvSpPr txBox="1"/>
          <p:nvPr/>
        </p:nvSpPr>
        <p:spPr>
          <a:xfrm>
            <a:off x="2737453" y="4407611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COMMIT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60741AC6-8D32-B3B5-2B85-5B59CC6C729B}"/>
              </a:ext>
            </a:extLst>
          </p:cNvPr>
          <p:cNvSpPr txBox="1"/>
          <p:nvPr/>
        </p:nvSpPr>
        <p:spPr>
          <a:xfrm>
            <a:off x="2736696" y="4857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COMMIT</a:t>
            </a:r>
          </a:p>
        </p:txBody>
      </p: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956B15EE-626F-17EB-C6DC-01EC30B67851}"/>
              </a:ext>
            </a:extLst>
          </p:cNvPr>
          <p:cNvCxnSpPr>
            <a:cxnSpLocks/>
          </p:cNvCxnSpPr>
          <p:nvPr/>
        </p:nvCxnSpPr>
        <p:spPr>
          <a:xfrm>
            <a:off x="2398435" y="4716185"/>
            <a:ext cx="1588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BCEE3FD1-AEB7-9A4E-840D-BEC55647213B}"/>
              </a:ext>
            </a:extLst>
          </p:cNvPr>
          <p:cNvCxnSpPr>
            <a:cxnSpLocks/>
          </p:cNvCxnSpPr>
          <p:nvPr/>
        </p:nvCxnSpPr>
        <p:spPr>
          <a:xfrm>
            <a:off x="2409671" y="5147961"/>
            <a:ext cx="15777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ZoneTexte 68">
            <a:extLst>
              <a:ext uri="{FF2B5EF4-FFF2-40B4-BE49-F238E27FC236}">
                <a16:creationId xmlns:a16="http://schemas.microsoft.com/office/drawing/2014/main" id="{1119DE19-2A48-AE85-22D8-DC8F542A8976}"/>
              </a:ext>
            </a:extLst>
          </p:cNvPr>
          <p:cNvSpPr txBox="1"/>
          <p:nvPr/>
        </p:nvSpPr>
        <p:spPr>
          <a:xfrm>
            <a:off x="2403162" y="567681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COMMIT</a:t>
            </a:r>
          </a:p>
        </p:txBody>
      </p: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130D8809-835A-8CD9-CDFF-EB88AE454F27}"/>
              </a:ext>
            </a:extLst>
          </p:cNvPr>
          <p:cNvCxnSpPr/>
          <p:nvPr/>
        </p:nvCxnSpPr>
        <p:spPr>
          <a:xfrm>
            <a:off x="2409671" y="5967181"/>
            <a:ext cx="1064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35E99E78-B608-0BFB-8804-ED665ECFA293}"/>
              </a:ext>
            </a:extLst>
          </p:cNvPr>
          <p:cNvCxnSpPr/>
          <p:nvPr/>
        </p:nvCxnSpPr>
        <p:spPr>
          <a:xfrm flipH="1">
            <a:off x="4886794" y="3897443"/>
            <a:ext cx="9293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ZoneTexte 71">
            <a:extLst>
              <a:ext uri="{FF2B5EF4-FFF2-40B4-BE49-F238E27FC236}">
                <a16:creationId xmlns:a16="http://schemas.microsoft.com/office/drawing/2014/main" id="{81756927-660B-47BD-F0CA-9C90DD8885F9}"/>
              </a:ext>
            </a:extLst>
          </p:cNvPr>
          <p:cNvSpPr txBox="1"/>
          <p:nvPr/>
        </p:nvSpPr>
        <p:spPr>
          <a:xfrm>
            <a:off x="4826834" y="35435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BRANCH</a:t>
            </a:r>
          </a:p>
        </p:txBody>
      </p: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61D36DF4-6E20-BB10-F070-489D07E43DF6}"/>
              </a:ext>
            </a:extLst>
          </p:cNvPr>
          <p:cNvCxnSpPr/>
          <p:nvPr/>
        </p:nvCxnSpPr>
        <p:spPr>
          <a:xfrm>
            <a:off x="4841825" y="5967181"/>
            <a:ext cx="1064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ZoneTexte 73">
            <a:extLst>
              <a:ext uri="{FF2B5EF4-FFF2-40B4-BE49-F238E27FC236}">
                <a16:creationId xmlns:a16="http://schemas.microsoft.com/office/drawing/2014/main" id="{49F51C85-B883-A7F8-46BA-2083E21B16C4}"/>
              </a:ext>
            </a:extLst>
          </p:cNvPr>
          <p:cNvSpPr txBox="1"/>
          <p:nvPr/>
        </p:nvSpPr>
        <p:spPr>
          <a:xfrm>
            <a:off x="4816576" y="5618681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MERGE</a:t>
            </a:r>
          </a:p>
        </p:txBody>
      </p:sp>
      <p:sp>
        <p:nvSpPr>
          <p:cNvPr id="75" name="Rectangle : coins arrondis 74">
            <a:extLst>
              <a:ext uri="{FF2B5EF4-FFF2-40B4-BE49-F238E27FC236}">
                <a16:creationId xmlns:a16="http://schemas.microsoft.com/office/drawing/2014/main" id="{119E4EBB-6E85-FE2B-EAE9-46D36B889EC7}"/>
              </a:ext>
            </a:extLst>
          </p:cNvPr>
          <p:cNvSpPr/>
          <p:nvPr/>
        </p:nvSpPr>
        <p:spPr>
          <a:xfrm>
            <a:off x="8761742" y="3429000"/>
            <a:ext cx="1349114" cy="9930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B7A3E88C-89DD-D193-F3B7-C9848FFCF3F1}"/>
              </a:ext>
            </a:extLst>
          </p:cNvPr>
          <p:cNvSpPr/>
          <p:nvPr/>
        </p:nvSpPr>
        <p:spPr>
          <a:xfrm>
            <a:off x="8761742" y="5490667"/>
            <a:ext cx="1349114" cy="99309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PROJECT</a:t>
            </a:r>
          </a:p>
        </p:txBody>
      </p: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056515F0-CD04-22CF-ECBC-3E2CF986FC66}"/>
              </a:ext>
            </a:extLst>
          </p:cNvPr>
          <p:cNvCxnSpPr>
            <a:cxnSpLocks/>
          </p:cNvCxnSpPr>
          <p:nvPr/>
        </p:nvCxnSpPr>
        <p:spPr>
          <a:xfrm flipH="1">
            <a:off x="7354649" y="3897443"/>
            <a:ext cx="1302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ZoneTexte 77">
            <a:extLst>
              <a:ext uri="{FF2B5EF4-FFF2-40B4-BE49-F238E27FC236}">
                <a16:creationId xmlns:a16="http://schemas.microsoft.com/office/drawing/2014/main" id="{F56FCE08-9D0F-5CB7-B7DB-4DADE26254D4}"/>
              </a:ext>
            </a:extLst>
          </p:cNvPr>
          <p:cNvSpPr txBox="1"/>
          <p:nvPr/>
        </p:nvSpPr>
        <p:spPr>
          <a:xfrm>
            <a:off x="7526046" y="358699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PULL</a:t>
            </a:r>
          </a:p>
        </p:txBody>
      </p: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59F5928F-C5CD-8670-8FE3-2F13FD76C4CB}"/>
              </a:ext>
            </a:extLst>
          </p:cNvPr>
          <p:cNvCxnSpPr>
            <a:cxnSpLocks/>
          </p:cNvCxnSpPr>
          <p:nvPr/>
        </p:nvCxnSpPr>
        <p:spPr>
          <a:xfrm>
            <a:off x="7351952" y="5987263"/>
            <a:ext cx="13021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ZoneTexte 79">
            <a:extLst>
              <a:ext uri="{FF2B5EF4-FFF2-40B4-BE49-F238E27FC236}">
                <a16:creationId xmlns:a16="http://schemas.microsoft.com/office/drawing/2014/main" id="{DD07B316-97F1-DE2D-5868-13E0A6922573}"/>
              </a:ext>
            </a:extLst>
          </p:cNvPr>
          <p:cNvSpPr txBox="1"/>
          <p:nvPr/>
        </p:nvSpPr>
        <p:spPr>
          <a:xfrm>
            <a:off x="7523349" y="5676815"/>
            <a:ext cx="1069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PUSH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A077D317-969C-30D5-90AA-AD2273BB411D}"/>
              </a:ext>
            </a:extLst>
          </p:cNvPr>
          <p:cNvSpPr txBox="1"/>
          <p:nvPr/>
        </p:nvSpPr>
        <p:spPr>
          <a:xfrm>
            <a:off x="6096000" y="3078223"/>
            <a:ext cx="949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master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E40F8711-CBF5-A7AB-74DD-3CAE00FF645A}"/>
              </a:ext>
            </a:extLst>
          </p:cNvPr>
          <p:cNvSpPr txBox="1"/>
          <p:nvPr/>
        </p:nvSpPr>
        <p:spPr>
          <a:xfrm>
            <a:off x="3595143" y="3059668"/>
            <a:ext cx="114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working</a:t>
            </a:r>
          </a:p>
        </p:txBody>
      </p:sp>
    </p:spTree>
    <p:extLst>
      <p:ext uri="{BB962C8B-B14F-4D97-AF65-F5344CB8AC3E}">
        <p14:creationId xmlns:p14="http://schemas.microsoft.com/office/powerpoint/2010/main" val="40241199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E49A1-BCD3-F4E6-C72D-4FBEBCAE2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E0E868F-7DAB-FC4C-9892-04201B65EFFE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6902E1B-C467-E609-64A0-8BF4C9D9400E}"/>
              </a:ext>
            </a:extLst>
          </p:cNvPr>
          <p:cNvSpPr/>
          <p:nvPr/>
        </p:nvSpPr>
        <p:spPr>
          <a:xfrm>
            <a:off x="3730672" y="1149264"/>
            <a:ext cx="3394553" cy="2279737"/>
          </a:xfrm>
          <a:prstGeom prst="roundRect">
            <a:avLst/>
          </a:prstGeom>
          <a:solidFill>
            <a:srgbClr val="E7A1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ARCHITECTURE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39AB96E-ABB5-692B-EAE5-96EC878A4A81}"/>
              </a:ext>
            </a:extLst>
          </p:cNvPr>
          <p:cNvSpPr/>
          <p:nvPr/>
        </p:nvSpPr>
        <p:spPr>
          <a:xfrm>
            <a:off x="7300589" y="1149263"/>
            <a:ext cx="3394554" cy="2279737"/>
          </a:xfrm>
          <a:prstGeom prst="roundRect">
            <a:avLst/>
          </a:prstGeom>
          <a:solidFill>
            <a:srgbClr val="C6CEF7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IMPLEMENTATION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B987308D-8112-2DCA-9D67-D57E0B358143}"/>
              </a:ext>
            </a:extLst>
          </p:cNvPr>
          <p:cNvSpPr/>
          <p:nvPr/>
        </p:nvSpPr>
        <p:spPr>
          <a:xfrm>
            <a:off x="3730671" y="3581400"/>
            <a:ext cx="3394554" cy="2279737"/>
          </a:xfrm>
          <a:prstGeom prst="roundRect">
            <a:avLst/>
          </a:prstGeom>
          <a:solidFill>
            <a:srgbClr val="D8A49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TRACKING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A7F3CC6-972A-D321-CA15-F233B3F64FB2}"/>
              </a:ext>
            </a:extLst>
          </p:cNvPr>
          <p:cNvSpPr/>
          <p:nvPr/>
        </p:nvSpPr>
        <p:spPr>
          <a:xfrm>
            <a:off x="7300588" y="3581400"/>
            <a:ext cx="3394554" cy="2279737"/>
          </a:xfrm>
          <a:prstGeom prst="roundRect">
            <a:avLst/>
          </a:prstGeom>
          <a:solidFill>
            <a:srgbClr val="7394D6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PROJECT SHARING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4E916D5-C346-DB29-AC99-5BA0154F0706}"/>
              </a:ext>
            </a:extLst>
          </p:cNvPr>
          <p:cNvSpPr txBox="1"/>
          <p:nvPr/>
        </p:nvSpPr>
        <p:spPr>
          <a:xfrm>
            <a:off x="263045" y="2890391"/>
            <a:ext cx="29436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The 4 pillars of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14169956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608FE-8A93-9162-B319-DBCEE99A2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42292DA2-14E3-63F5-BB5D-87DF75D7CC5F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26176A0A-5514-2DD6-E9CC-B41788FDC5E3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TRACKING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EEC22357-C5BE-B2CB-B69B-F1610414D15A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C84D91E4-B652-045E-E84C-C882515CA70B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E0EA62C7-AF3F-2F7F-3C82-BC03F79C7C89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09C50F81-FA1B-1CF4-453A-6FF532E99695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381CAFA-ACB3-243C-14E0-A97D9434B27D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C85268C-3355-0397-3616-505599E299DD}"/>
              </a:ext>
            </a:extLst>
          </p:cNvPr>
          <p:cNvSpPr txBox="1"/>
          <p:nvPr/>
        </p:nvSpPr>
        <p:spPr>
          <a:xfrm>
            <a:off x="5861299" y="307072"/>
            <a:ext cx="4472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Automate the workflow – </a:t>
            </a:r>
            <a:r>
              <a:rPr lang="en-GB" sz="2000" b="1" i="1" dirty="0">
                <a:solidFill>
                  <a:srgbClr val="000000"/>
                </a:solidFill>
                <a:latin typeface="Helvetica" pitchFamily="2" charset="0"/>
              </a:rPr>
              <a:t>targets</a:t>
            </a:r>
            <a:endParaRPr lang="en-GB" sz="2000" b="1" i="1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5901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E5DB4-B683-DF50-8070-81C68264D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B200C9A8-03E6-C676-75C6-789A83AEAA31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F916C0E2-0787-2DAE-FEDB-67A4CE9C3A16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TRACKING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8CA37E93-3630-F31B-9F41-072834468F46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F5337959-5C81-4069-2ED5-AAD4EC4050A3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9E864BBC-75DB-91B2-DFC8-EFD14EC7AE7B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35E0D8B-1E10-534B-A21F-9322DB152F5A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3492AD67-2C68-C6F4-8AF4-93DE95524E42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2DB0A6A-0F9A-7F09-EBF2-90536EEE7ED1}"/>
              </a:ext>
            </a:extLst>
          </p:cNvPr>
          <p:cNvSpPr txBox="1"/>
          <p:nvPr/>
        </p:nvSpPr>
        <p:spPr>
          <a:xfrm>
            <a:off x="5861299" y="307072"/>
            <a:ext cx="4472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Automate the workflow – </a:t>
            </a:r>
            <a:r>
              <a:rPr lang="en-GB" sz="2000" b="1" i="1" dirty="0">
                <a:solidFill>
                  <a:srgbClr val="000000"/>
                </a:solidFill>
                <a:latin typeface="Helvetica" pitchFamily="2" charset="0"/>
              </a:rPr>
              <a:t>targets</a:t>
            </a:r>
            <a:endParaRPr lang="en-GB" sz="2000" b="1" i="1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F38BB28-B4ED-FEDF-6E10-F0730E5241B1}"/>
              </a:ext>
            </a:extLst>
          </p:cNvPr>
          <p:cNvSpPr txBox="1"/>
          <p:nvPr/>
        </p:nvSpPr>
        <p:spPr>
          <a:xfrm>
            <a:off x="5373666" y="842668"/>
            <a:ext cx="710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Need to know </a:t>
            </a:r>
            <a:r>
              <a:rPr lang="en-GB" b="1" dirty="0"/>
              <a:t>what is a function </a:t>
            </a:r>
            <a:r>
              <a:rPr lang="en-GB" dirty="0"/>
              <a:t>and </a:t>
            </a:r>
            <a:r>
              <a:rPr lang="en-GB" b="1" dirty="0"/>
              <a:t>how to create </a:t>
            </a:r>
            <a:r>
              <a:rPr lang="en-GB" dirty="0"/>
              <a:t>it.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B5B0CA77-CE2E-7FDC-32A1-683DEFF2995D}"/>
              </a:ext>
            </a:extLst>
          </p:cNvPr>
          <p:cNvSpPr txBox="1"/>
          <p:nvPr/>
        </p:nvSpPr>
        <p:spPr>
          <a:xfrm>
            <a:off x="6442212" y="1267413"/>
            <a:ext cx="331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Input            </a:t>
            </a:r>
            <a:r>
              <a:rPr lang="fr-FR" dirty="0" err="1"/>
              <a:t>function</a:t>
            </a:r>
            <a:r>
              <a:rPr lang="fr-FR" dirty="0"/>
              <a:t>            output </a:t>
            </a:r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CED9883B-BDA6-188F-C599-EBF90D43F694}"/>
              </a:ext>
            </a:extLst>
          </p:cNvPr>
          <p:cNvCxnSpPr>
            <a:cxnSpLocks/>
          </p:cNvCxnSpPr>
          <p:nvPr/>
        </p:nvCxnSpPr>
        <p:spPr>
          <a:xfrm>
            <a:off x="7143078" y="1493177"/>
            <a:ext cx="3441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B67725A4-B1AF-BECE-77B3-E9DC862F93D2}"/>
              </a:ext>
            </a:extLst>
          </p:cNvPr>
          <p:cNvCxnSpPr>
            <a:cxnSpLocks/>
          </p:cNvCxnSpPr>
          <p:nvPr/>
        </p:nvCxnSpPr>
        <p:spPr>
          <a:xfrm>
            <a:off x="8500334" y="1494824"/>
            <a:ext cx="3441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4087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0BFBA-35DA-0872-0B1E-4D66FF6EB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75F27DCA-DB06-3CDA-0046-7A46ACB8A17F}"/>
              </a:ext>
            </a:extLst>
          </p:cNvPr>
          <p:cNvSpPr/>
          <p:nvPr/>
        </p:nvSpPr>
        <p:spPr>
          <a:xfrm>
            <a:off x="6345608" y="1718942"/>
            <a:ext cx="3411578" cy="1894404"/>
          </a:xfrm>
          <a:prstGeom prst="roundRect">
            <a:avLst/>
          </a:prstGeom>
          <a:solidFill>
            <a:srgbClr val="739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CAA911C5-2A45-7051-EA1C-137DF5AACF7A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42301773-35A2-8B16-4340-EA322CDC6011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TRACKING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E8E64787-9816-5B02-0229-7413D7953C59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B4FF6F8B-45E8-D07D-4BB1-2EC4868CB4A6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99AFEBFA-829B-02FE-DA6C-11A84E113079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45C787D-60CD-1E76-EC16-59343C7BD3C9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DB9D811-E1C2-257C-A65D-FEDC6D5AABC0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3B6275-1538-B9F3-F33F-2CBAC0902498}"/>
              </a:ext>
            </a:extLst>
          </p:cNvPr>
          <p:cNvSpPr txBox="1"/>
          <p:nvPr/>
        </p:nvSpPr>
        <p:spPr>
          <a:xfrm>
            <a:off x="5861299" y="307072"/>
            <a:ext cx="4472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Automate the workflow – </a:t>
            </a:r>
            <a:r>
              <a:rPr lang="en-GB" sz="2000" b="1" i="1" dirty="0">
                <a:solidFill>
                  <a:srgbClr val="000000"/>
                </a:solidFill>
                <a:latin typeface="Helvetica" pitchFamily="2" charset="0"/>
              </a:rPr>
              <a:t>targets</a:t>
            </a:r>
            <a:endParaRPr lang="en-GB" sz="2000" b="1" i="1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F1DEB2A-A811-0FF2-6E11-4EF9C754376F}"/>
              </a:ext>
            </a:extLst>
          </p:cNvPr>
          <p:cNvSpPr txBox="1"/>
          <p:nvPr/>
        </p:nvSpPr>
        <p:spPr>
          <a:xfrm>
            <a:off x="5373666" y="842668"/>
            <a:ext cx="710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Need to know </a:t>
            </a:r>
            <a:r>
              <a:rPr lang="en-GB" b="1" dirty="0"/>
              <a:t>what is a function </a:t>
            </a:r>
            <a:r>
              <a:rPr lang="en-GB" dirty="0"/>
              <a:t>and </a:t>
            </a:r>
            <a:r>
              <a:rPr lang="en-GB" b="1" dirty="0"/>
              <a:t>how to create </a:t>
            </a:r>
            <a:r>
              <a:rPr lang="en-GB" dirty="0"/>
              <a:t>it.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22B75D2-75F8-B12F-649E-4B8AF0F4E283}"/>
              </a:ext>
            </a:extLst>
          </p:cNvPr>
          <p:cNvSpPr txBox="1"/>
          <p:nvPr/>
        </p:nvSpPr>
        <p:spPr>
          <a:xfrm>
            <a:off x="6356366" y="1729700"/>
            <a:ext cx="901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output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8BFD102-14AD-ED84-256A-8E8EDC5E7D48}"/>
              </a:ext>
            </a:extLst>
          </p:cNvPr>
          <p:cNvSpPr txBox="1"/>
          <p:nvPr/>
        </p:nvSpPr>
        <p:spPr>
          <a:xfrm>
            <a:off x="7513917" y="1729700"/>
            <a:ext cx="2254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err="1"/>
              <a:t>function</a:t>
            </a:r>
            <a:r>
              <a:rPr lang="fr-FR" i="1" dirty="0"/>
              <a:t>(argument)</a:t>
            </a: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57F52C6A-9BC1-9D68-F505-66CD0272387C}"/>
              </a:ext>
            </a:extLst>
          </p:cNvPr>
          <p:cNvCxnSpPr>
            <a:cxnSpLocks/>
          </p:cNvCxnSpPr>
          <p:nvPr/>
        </p:nvCxnSpPr>
        <p:spPr>
          <a:xfrm flipH="1">
            <a:off x="7150660" y="1904703"/>
            <a:ext cx="400835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Accolade ouvrante 35">
            <a:extLst>
              <a:ext uri="{FF2B5EF4-FFF2-40B4-BE49-F238E27FC236}">
                <a16:creationId xmlns:a16="http://schemas.microsoft.com/office/drawing/2014/main" id="{55FA92C7-A98F-4477-1C9F-CE42676649EF}"/>
              </a:ext>
            </a:extLst>
          </p:cNvPr>
          <p:cNvSpPr/>
          <p:nvPr/>
        </p:nvSpPr>
        <p:spPr>
          <a:xfrm rot="5400000">
            <a:off x="7951009" y="1431759"/>
            <a:ext cx="155448" cy="1451344"/>
          </a:xfrm>
          <a:prstGeom prst="leftBrace">
            <a:avLst>
              <a:gd name="adj1" fmla="val 41041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98C09BD2-9F09-AE3E-D02C-114ED12782BC}"/>
              </a:ext>
            </a:extLst>
          </p:cNvPr>
          <p:cNvSpPr txBox="1"/>
          <p:nvPr/>
        </p:nvSpPr>
        <p:spPr>
          <a:xfrm>
            <a:off x="6442212" y="1267413"/>
            <a:ext cx="331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Input            </a:t>
            </a:r>
            <a:r>
              <a:rPr lang="fr-FR" dirty="0" err="1"/>
              <a:t>function</a:t>
            </a:r>
            <a:r>
              <a:rPr lang="fr-FR" dirty="0"/>
              <a:t>            output </a:t>
            </a:r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9835540D-E920-6B7B-A98E-BD8AC266B69E}"/>
              </a:ext>
            </a:extLst>
          </p:cNvPr>
          <p:cNvCxnSpPr>
            <a:cxnSpLocks/>
          </p:cNvCxnSpPr>
          <p:nvPr/>
        </p:nvCxnSpPr>
        <p:spPr>
          <a:xfrm>
            <a:off x="7143078" y="1493177"/>
            <a:ext cx="3441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925148B5-F075-35C4-7504-6993B9643234}"/>
              </a:ext>
            </a:extLst>
          </p:cNvPr>
          <p:cNvCxnSpPr>
            <a:cxnSpLocks/>
          </p:cNvCxnSpPr>
          <p:nvPr/>
        </p:nvCxnSpPr>
        <p:spPr>
          <a:xfrm>
            <a:off x="8500334" y="1494824"/>
            <a:ext cx="3441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FFAAB1DF-D4C0-ADC0-CC03-49B219EC1929}"/>
              </a:ext>
            </a:extLst>
          </p:cNvPr>
          <p:cNvSpPr txBox="1"/>
          <p:nvPr/>
        </p:nvSpPr>
        <p:spPr>
          <a:xfrm>
            <a:off x="7351077" y="2079707"/>
            <a:ext cx="2330806" cy="1446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 </a:t>
            </a:r>
            <a:r>
              <a:rPr lang="fr-FR" sz="1400" i="1" dirty="0"/>
              <a:t>m &lt;- </a:t>
            </a:r>
            <a:r>
              <a:rPr lang="fr-FR" sz="1400" i="1" dirty="0" err="1"/>
              <a:t>mean</a:t>
            </a:r>
            <a:r>
              <a:rPr lang="fr-FR" sz="1400" i="1" dirty="0"/>
              <a:t>(v)</a:t>
            </a:r>
          </a:p>
          <a:p>
            <a:pPr>
              <a:lnSpc>
                <a:spcPct val="150000"/>
              </a:lnSpc>
            </a:pPr>
            <a:r>
              <a:rPr lang="fr-FR" sz="1400" i="1" dirty="0"/>
              <a:t>  s &lt;- </a:t>
            </a:r>
            <a:r>
              <a:rPr lang="fr-FR" sz="1400" i="1" dirty="0" err="1"/>
              <a:t>sd</a:t>
            </a:r>
            <a:r>
              <a:rPr lang="fr-FR" sz="1400" i="1" dirty="0"/>
              <a:t>(v)</a:t>
            </a:r>
          </a:p>
          <a:p>
            <a:pPr>
              <a:lnSpc>
                <a:spcPct val="150000"/>
              </a:lnSpc>
            </a:pPr>
            <a:r>
              <a:rPr lang="fr-FR" sz="1400" i="1" dirty="0"/>
              <a:t>  n &lt;- </a:t>
            </a:r>
            <a:r>
              <a:rPr lang="fr-FR" sz="1400" i="1" dirty="0" err="1"/>
              <a:t>length</a:t>
            </a:r>
            <a:r>
              <a:rPr lang="fr-FR" sz="1400" i="1" dirty="0"/>
              <a:t>(v)</a:t>
            </a:r>
          </a:p>
          <a:p>
            <a:pPr>
              <a:lnSpc>
                <a:spcPct val="150000"/>
              </a:lnSpc>
            </a:pPr>
            <a:r>
              <a:rPr lang="fr-FR" sz="1400" i="1" dirty="0"/>
              <a:t>  c(</a:t>
            </a:r>
            <a:r>
              <a:rPr lang="fr-FR" sz="1400" i="1" dirty="0" err="1"/>
              <a:t>mean</a:t>
            </a:r>
            <a:r>
              <a:rPr lang="fr-FR" sz="1400" i="1" dirty="0"/>
              <a:t> = m, </a:t>
            </a:r>
            <a:r>
              <a:rPr lang="fr-FR" sz="1400" i="1" dirty="0" err="1"/>
              <a:t>sd</a:t>
            </a:r>
            <a:r>
              <a:rPr lang="fr-FR" sz="1400" i="1" dirty="0"/>
              <a:t> = s, n = n)</a:t>
            </a:r>
          </a:p>
        </p:txBody>
      </p:sp>
    </p:spTree>
    <p:extLst>
      <p:ext uri="{BB962C8B-B14F-4D97-AF65-F5344CB8AC3E}">
        <p14:creationId xmlns:p14="http://schemas.microsoft.com/office/powerpoint/2010/main" val="9664914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15413-0764-9691-33EB-A3F9AD5F2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AFB574F3-FCA3-22C1-FFAE-EE11A8D5D4B5}"/>
              </a:ext>
            </a:extLst>
          </p:cNvPr>
          <p:cNvSpPr/>
          <p:nvPr/>
        </p:nvSpPr>
        <p:spPr>
          <a:xfrm>
            <a:off x="6345608" y="1718942"/>
            <a:ext cx="3411578" cy="1894404"/>
          </a:xfrm>
          <a:prstGeom prst="roundRect">
            <a:avLst/>
          </a:prstGeom>
          <a:solidFill>
            <a:srgbClr val="739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BEB1B9C2-C390-4828-9081-6F74DE0BD17B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BC2582F5-CC57-37CC-EC89-BC93AFE2DC27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TRACKING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C8DF9B90-DBD3-C7A5-ACB4-D4306B25B041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C71E9227-F458-B6EF-0E0E-FC47C45F7F02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3D2B1132-1EE3-6DDC-9509-F4555E479AFC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4D073E1-238D-FFB9-A167-55791089848F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0B166A0-6AF0-4A7C-DCAE-8D864DAF5085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C10329B-9717-CA0D-5EC1-AB99E8CD6CDC}"/>
              </a:ext>
            </a:extLst>
          </p:cNvPr>
          <p:cNvSpPr txBox="1"/>
          <p:nvPr/>
        </p:nvSpPr>
        <p:spPr>
          <a:xfrm>
            <a:off x="5861299" y="307072"/>
            <a:ext cx="4472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Automate the workflow – </a:t>
            </a:r>
            <a:r>
              <a:rPr lang="en-GB" sz="2000" b="1" i="1" dirty="0">
                <a:solidFill>
                  <a:srgbClr val="000000"/>
                </a:solidFill>
                <a:latin typeface="Helvetica" pitchFamily="2" charset="0"/>
              </a:rPr>
              <a:t>targets</a:t>
            </a:r>
            <a:endParaRPr lang="en-GB" sz="2000" b="1" i="1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F791829-AB8D-1EA1-4FA3-E68C7B72BBB7}"/>
              </a:ext>
            </a:extLst>
          </p:cNvPr>
          <p:cNvSpPr txBox="1"/>
          <p:nvPr/>
        </p:nvSpPr>
        <p:spPr>
          <a:xfrm>
            <a:off x="5373666" y="842668"/>
            <a:ext cx="710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Need to know </a:t>
            </a:r>
            <a:r>
              <a:rPr lang="en-GB" b="1" dirty="0"/>
              <a:t>what is a function </a:t>
            </a:r>
            <a:r>
              <a:rPr lang="en-GB" dirty="0"/>
              <a:t>and </a:t>
            </a:r>
            <a:r>
              <a:rPr lang="en-GB" b="1" dirty="0"/>
              <a:t>how to create </a:t>
            </a:r>
            <a:r>
              <a:rPr lang="en-GB" dirty="0"/>
              <a:t>it.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BD219A0-325E-452F-84E2-CD4DEAE97748}"/>
              </a:ext>
            </a:extLst>
          </p:cNvPr>
          <p:cNvSpPr txBox="1"/>
          <p:nvPr/>
        </p:nvSpPr>
        <p:spPr>
          <a:xfrm>
            <a:off x="6356366" y="1729700"/>
            <a:ext cx="901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output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56C00BD-106C-BB08-ECD3-BD1020D737BE}"/>
              </a:ext>
            </a:extLst>
          </p:cNvPr>
          <p:cNvSpPr txBox="1"/>
          <p:nvPr/>
        </p:nvSpPr>
        <p:spPr>
          <a:xfrm>
            <a:off x="7513917" y="1729700"/>
            <a:ext cx="2254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err="1"/>
              <a:t>function</a:t>
            </a:r>
            <a:r>
              <a:rPr lang="fr-FR" i="1" dirty="0"/>
              <a:t>(argument)</a:t>
            </a: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B0CA11F8-9FFA-20F5-0FB9-A19DE27E6D63}"/>
              </a:ext>
            </a:extLst>
          </p:cNvPr>
          <p:cNvCxnSpPr>
            <a:cxnSpLocks/>
          </p:cNvCxnSpPr>
          <p:nvPr/>
        </p:nvCxnSpPr>
        <p:spPr>
          <a:xfrm flipH="1">
            <a:off x="7150660" y="1904703"/>
            <a:ext cx="400835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Accolade ouvrante 35">
            <a:extLst>
              <a:ext uri="{FF2B5EF4-FFF2-40B4-BE49-F238E27FC236}">
                <a16:creationId xmlns:a16="http://schemas.microsoft.com/office/drawing/2014/main" id="{92275529-24F9-2A01-D168-F09FEA7BFDB8}"/>
              </a:ext>
            </a:extLst>
          </p:cNvPr>
          <p:cNvSpPr/>
          <p:nvPr/>
        </p:nvSpPr>
        <p:spPr>
          <a:xfrm rot="5400000">
            <a:off x="7951009" y="1431759"/>
            <a:ext cx="155448" cy="1451344"/>
          </a:xfrm>
          <a:prstGeom prst="leftBrace">
            <a:avLst>
              <a:gd name="adj1" fmla="val 41041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5DEA0501-7AAC-A76D-7542-88DA6FEA5EA9}"/>
              </a:ext>
            </a:extLst>
          </p:cNvPr>
          <p:cNvSpPr txBox="1"/>
          <p:nvPr/>
        </p:nvSpPr>
        <p:spPr>
          <a:xfrm>
            <a:off x="6442212" y="1267413"/>
            <a:ext cx="331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Input            </a:t>
            </a:r>
            <a:r>
              <a:rPr lang="fr-FR" dirty="0" err="1"/>
              <a:t>function</a:t>
            </a:r>
            <a:r>
              <a:rPr lang="fr-FR" dirty="0"/>
              <a:t>            output </a:t>
            </a:r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4C008459-C615-885B-86DF-507347428064}"/>
              </a:ext>
            </a:extLst>
          </p:cNvPr>
          <p:cNvCxnSpPr>
            <a:cxnSpLocks/>
          </p:cNvCxnSpPr>
          <p:nvPr/>
        </p:nvCxnSpPr>
        <p:spPr>
          <a:xfrm>
            <a:off x="7143078" y="1493177"/>
            <a:ext cx="3441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ACC3ED24-E247-9F1F-C3E6-109EB50295DD}"/>
              </a:ext>
            </a:extLst>
          </p:cNvPr>
          <p:cNvCxnSpPr>
            <a:cxnSpLocks/>
          </p:cNvCxnSpPr>
          <p:nvPr/>
        </p:nvCxnSpPr>
        <p:spPr>
          <a:xfrm>
            <a:off x="8500334" y="1494824"/>
            <a:ext cx="3441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62DC4CBD-766E-941D-7D57-405FA868795E}"/>
              </a:ext>
            </a:extLst>
          </p:cNvPr>
          <p:cNvSpPr txBox="1"/>
          <p:nvPr/>
        </p:nvSpPr>
        <p:spPr>
          <a:xfrm>
            <a:off x="7351077" y="2079707"/>
            <a:ext cx="2330806" cy="1446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 </a:t>
            </a:r>
            <a:r>
              <a:rPr lang="fr-FR" sz="1400" i="1" dirty="0"/>
              <a:t>m &lt;- </a:t>
            </a:r>
            <a:r>
              <a:rPr lang="fr-FR" sz="1400" i="1" dirty="0" err="1"/>
              <a:t>mean</a:t>
            </a:r>
            <a:r>
              <a:rPr lang="fr-FR" sz="1400" i="1" dirty="0"/>
              <a:t>(v)</a:t>
            </a:r>
          </a:p>
          <a:p>
            <a:pPr>
              <a:lnSpc>
                <a:spcPct val="150000"/>
              </a:lnSpc>
            </a:pPr>
            <a:r>
              <a:rPr lang="fr-FR" sz="1400" i="1" dirty="0"/>
              <a:t>  s &lt;- </a:t>
            </a:r>
            <a:r>
              <a:rPr lang="fr-FR" sz="1400" i="1" dirty="0" err="1"/>
              <a:t>sd</a:t>
            </a:r>
            <a:r>
              <a:rPr lang="fr-FR" sz="1400" i="1" dirty="0"/>
              <a:t>(v)</a:t>
            </a:r>
          </a:p>
          <a:p>
            <a:pPr>
              <a:lnSpc>
                <a:spcPct val="150000"/>
              </a:lnSpc>
            </a:pPr>
            <a:r>
              <a:rPr lang="fr-FR" sz="1400" i="1" dirty="0"/>
              <a:t>  n &lt;- </a:t>
            </a:r>
            <a:r>
              <a:rPr lang="fr-FR" sz="1400" i="1" dirty="0" err="1"/>
              <a:t>length</a:t>
            </a:r>
            <a:r>
              <a:rPr lang="fr-FR" sz="1400" i="1" dirty="0"/>
              <a:t>(v)</a:t>
            </a:r>
          </a:p>
          <a:p>
            <a:pPr>
              <a:lnSpc>
                <a:spcPct val="150000"/>
              </a:lnSpc>
            </a:pPr>
            <a:r>
              <a:rPr lang="fr-FR" sz="1400" i="1" dirty="0"/>
              <a:t>  c(</a:t>
            </a:r>
            <a:r>
              <a:rPr lang="fr-FR" sz="1400" i="1" dirty="0" err="1"/>
              <a:t>mean</a:t>
            </a:r>
            <a:r>
              <a:rPr lang="fr-FR" sz="1400" i="1" dirty="0"/>
              <a:t> = m, </a:t>
            </a:r>
            <a:r>
              <a:rPr lang="fr-FR" sz="1400" i="1" dirty="0" err="1"/>
              <a:t>sd</a:t>
            </a:r>
            <a:r>
              <a:rPr lang="fr-FR" sz="1400" i="1" dirty="0"/>
              <a:t> = s, n = n)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91F3E235-5FA6-15E2-94A3-DAD0A046B065}"/>
              </a:ext>
            </a:extLst>
          </p:cNvPr>
          <p:cNvSpPr txBox="1"/>
          <p:nvPr/>
        </p:nvSpPr>
        <p:spPr>
          <a:xfrm>
            <a:off x="9930784" y="1729700"/>
            <a:ext cx="1343614" cy="1735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i="1" dirty="0" err="1"/>
              <a:t>library</a:t>
            </a:r>
            <a:r>
              <a:rPr lang="fr-FR" i="1" dirty="0"/>
              <a:t>()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i="1" dirty="0" err="1"/>
              <a:t>mean</a:t>
            </a:r>
            <a:r>
              <a:rPr lang="fr-FR" i="1" dirty="0"/>
              <a:t>()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i="1" dirty="0" err="1"/>
              <a:t>aov</a:t>
            </a:r>
            <a:r>
              <a:rPr lang="fr-FR" i="1" dirty="0"/>
              <a:t>()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i="1" dirty="0" err="1"/>
              <a:t>ggplot</a:t>
            </a:r>
            <a:r>
              <a:rPr lang="fr-FR" i="1" dirty="0"/>
              <a:t>()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i="1" dirty="0" err="1"/>
              <a:t>deseq</a:t>
            </a:r>
            <a:r>
              <a:rPr lang="fr-FR" i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932320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D0680-C7F2-6E54-F98D-0031B440B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49D7DE8D-AB85-FE95-6F76-E3D77B0EB3DD}"/>
              </a:ext>
            </a:extLst>
          </p:cNvPr>
          <p:cNvSpPr/>
          <p:nvPr/>
        </p:nvSpPr>
        <p:spPr>
          <a:xfrm>
            <a:off x="6345608" y="1718942"/>
            <a:ext cx="3411578" cy="1894404"/>
          </a:xfrm>
          <a:prstGeom prst="roundRect">
            <a:avLst/>
          </a:prstGeom>
          <a:solidFill>
            <a:srgbClr val="739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B982B916-4D58-AC7A-D6E1-5220078E84A7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DF4BC150-914D-3E3C-411D-4AE757B5A948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TRACKING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E1C4E156-A703-6C22-F545-D57D10380DB1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E313E08E-2C50-D773-6B6A-7F12F0E0D0D8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B52F9260-78D2-E4A5-A56A-9B33C70F1D27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A621BC4-EF8D-9376-E4A2-99BFD4AB071F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3AED3C1-A802-C066-F4D1-EC9E1C6DB06D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D5104A6-E57C-AB7B-E56E-35B2023FBC2E}"/>
              </a:ext>
            </a:extLst>
          </p:cNvPr>
          <p:cNvSpPr txBox="1"/>
          <p:nvPr/>
        </p:nvSpPr>
        <p:spPr>
          <a:xfrm>
            <a:off x="5861299" y="307072"/>
            <a:ext cx="4472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dirty="0">
                <a:solidFill>
                  <a:srgbClr val="000000"/>
                </a:solidFill>
                <a:effectLst/>
                <a:latin typeface="Helvetica" pitchFamily="2" charset="0"/>
              </a:rPr>
              <a:t>Automate the workflow – </a:t>
            </a:r>
            <a:r>
              <a:rPr lang="en-GB" sz="2000" b="1" i="1" dirty="0">
                <a:solidFill>
                  <a:srgbClr val="000000"/>
                </a:solidFill>
                <a:latin typeface="Helvetica" pitchFamily="2" charset="0"/>
              </a:rPr>
              <a:t>targets</a:t>
            </a:r>
            <a:endParaRPr lang="en-GB" sz="2000" b="1" i="1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4603B54-1944-C48B-2242-BE3B409D1F60}"/>
              </a:ext>
            </a:extLst>
          </p:cNvPr>
          <p:cNvSpPr txBox="1"/>
          <p:nvPr/>
        </p:nvSpPr>
        <p:spPr>
          <a:xfrm>
            <a:off x="5373666" y="842668"/>
            <a:ext cx="710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Need to know </a:t>
            </a:r>
            <a:r>
              <a:rPr lang="en-GB" b="1" dirty="0"/>
              <a:t>what is a function </a:t>
            </a:r>
            <a:r>
              <a:rPr lang="en-GB" dirty="0"/>
              <a:t>and </a:t>
            </a:r>
            <a:r>
              <a:rPr lang="en-GB" b="1" dirty="0"/>
              <a:t>how to create </a:t>
            </a:r>
            <a:r>
              <a:rPr lang="en-GB" dirty="0"/>
              <a:t>it.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6EAA201-0DDB-C4FF-13F3-A314A41C54BA}"/>
              </a:ext>
            </a:extLst>
          </p:cNvPr>
          <p:cNvSpPr txBox="1"/>
          <p:nvPr/>
        </p:nvSpPr>
        <p:spPr>
          <a:xfrm>
            <a:off x="6356366" y="1729700"/>
            <a:ext cx="901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output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60C46A9-A92A-BC87-7DAC-D765CD56E3A6}"/>
              </a:ext>
            </a:extLst>
          </p:cNvPr>
          <p:cNvSpPr txBox="1"/>
          <p:nvPr/>
        </p:nvSpPr>
        <p:spPr>
          <a:xfrm>
            <a:off x="7513917" y="1729700"/>
            <a:ext cx="2254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err="1"/>
              <a:t>function</a:t>
            </a:r>
            <a:r>
              <a:rPr lang="fr-FR" i="1" dirty="0"/>
              <a:t>(argument)</a:t>
            </a: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F595FEE9-32CC-7872-15B2-5A7C720832F4}"/>
              </a:ext>
            </a:extLst>
          </p:cNvPr>
          <p:cNvCxnSpPr>
            <a:cxnSpLocks/>
          </p:cNvCxnSpPr>
          <p:nvPr/>
        </p:nvCxnSpPr>
        <p:spPr>
          <a:xfrm flipH="1">
            <a:off x="7150660" y="1904703"/>
            <a:ext cx="400835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Accolade ouvrante 35">
            <a:extLst>
              <a:ext uri="{FF2B5EF4-FFF2-40B4-BE49-F238E27FC236}">
                <a16:creationId xmlns:a16="http://schemas.microsoft.com/office/drawing/2014/main" id="{462D5A23-E8BC-FF95-4851-6B6C70B459F2}"/>
              </a:ext>
            </a:extLst>
          </p:cNvPr>
          <p:cNvSpPr/>
          <p:nvPr/>
        </p:nvSpPr>
        <p:spPr>
          <a:xfrm rot="5400000">
            <a:off x="7951009" y="1431759"/>
            <a:ext cx="155448" cy="1451344"/>
          </a:xfrm>
          <a:prstGeom prst="leftBrace">
            <a:avLst>
              <a:gd name="adj1" fmla="val 41041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7090806-B1E8-9AD1-BE6B-5DFCDA342BCF}"/>
              </a:ext>
            </a:extLst>
          </p:cNvPr>
          <p:cNvSpPr txBox="1"/>
          <p:nvPr/>
        </p:nvSpPr>
        <p:spPr>
          <a:xfrm>
            <a:off x="6442212" y="1267413"/>
            <a:ext cx="331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Input            </a:t>
            </a:r>
            <a:r>
              <a:rPr lang="fr-FR" dirty="0" err="1"/>
              <a:t>function</a:t>
            </a:r>
            <a:r>
              <a:rPr lang="fr-FR" dirty="0"/>
              <a:t>            output </a:t>
            </a:r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14D750C7-E4DD-9FA1-3CFE-145DDB325D21}"/>
              </a:ext>
            </a:extLst>
          </p:cNvPr>
          <p:cNvCxnSpPr>
            <a:cxnSpLocks/>
          </p:cNvCxnSpPr>
          <p:nvPr/>
        </p:nvCxnSpPr>
        <p:spPr>
          <a:xfrm>
            <a:off x="7143078" y="1493177"/>
            <a:ext cx="3441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B50299D9-5C18-F811-731A-1650B120A8F2}"/>
              </a:ext>
            </a:extLst>
          </p:cNvPr>
          <p:cNvCxnSpPr>
            <a:cxnSpLocks/>
          </p:cNvCxnSpPr>
          <p:nvPr/>
        </p:nvCxnSpPr>
        <p:spPr>
          <a:xfrm>
            <a:off x="8500334" y="1494824"/>
            <a:ext cx="3441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EC400263-910A-B824-9E9F-47E1FAF1720D}"/>
              </a:ext>
            </a:extLst>
          </p:cNvPr>
          <p:cNvSpPr txBox="1"/>
          <p:nvPr/>
        </p:nvSpPr>
        <p:spPr>
          <a:xfrm>
            <a:off x="7351077" y="2079707"/>
            <a:ext cx="2330806" cy="1446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 </a:t>
            </a:r>
            <a:r>
              <a:rPr lang="fr-FR" sz="1400" i="1" dirty="0"/>
              <a:t>m &lt;- </a:t>
            </a:r>
            <a:r>
              <a:rPr lang="fr-FR" sz="1400" i="1" dirty="0" err="1"/>
              <a:t>mean</a:t>
            </a:r>
            <a:r>
              <a:rPr lang="fr-FR" sz="1400" i="1" dirty="0"/>
              <a:t>(v)</a:t>
            </a:r>
          </a:p>
          <a:p>
            <a:pPr>
              <a:lnSpc>
                <a:spcPct val="150000"/>
              </a:lnSpc>
            </a:pPr>
            <a:r>
              <a:rPr lang="fr-FR" sz="1400" i="1" dirty="0"/>
              <a:t>  s &lt;- </a:t>
            </a:r>
            <a:r>
              <a:rPr lang="fr-FR" sz="1400" i="1" dirty="0" err="1"/>
              <a:t>sd</a:t>
            </a:r>
            <a:r>
              <a:rPr lang="fr-FR" sz="1400" i="1" dirty="0"/>
              <a:t>(v)</a:t>
            </a:r>
          </a:p>
          <a:p>
            <a:pPr>
              <a:lnSpc>
                <a:spcPct val="150000"/>
              </a:lnSpc>
            </a:pPr>
            <a:r>
              <a:rPr lang="fr-FR" sz="1400" i="1" dirty="0"/>
              <a:t>  n &lt;- </a:t>
            </a:r>
            <a:r>
              <a:rPr lang="fr-FR" sz="1400" i="1" dirty="0" err="1"/>
              <a:t>length</a:t>
            </a:r>
            <a:r>
              <a:rPr lang="fr-FR" sz="1400" i="1" dirty="0"/>
              <a:t>(v)</a:t>
            </a:r>
          </a:p>
          <a:p>
            <a:pPr>
              <a:lnSpc>
                <a:spcPct val="150000"/>
              </a:lnSpc>
            </a:pPr>
            <a:r>
              <a:rPr lang="fr-FR" sz="1400" i="1" dirty="0"/>
              <a:t>  c(</a:t>
            </a:r>
            <a:r>
              <a:rPr lang="fr-FR" sz="1400" i="1" dirty="0" err="1"/>
              <a:t>mean</a:t>
            </a:r>
            <a:r>
              <a:rPr lang="fr-FR" sz="1400" i="1" dirty="0"/>
              <a:t> = m, </a:t>
            </a:r>
            <a:r>
              <a:rPr lang="fr-FR" sz="1400" i="1" dirty="0" err="1"/>
              <a:t>sd</a:t>
            </a:r>
            <a:r>
              <a:rPr lang="fr-FR" sz="1400" i="1" dirty="0"/>
              <a:t> = s, n = n)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50A93228-08B9-C7C5-BFDC-512E9C415C1F}"/>
              </a:ext>
            </a:extLst>
          </p:cNvPr>
          <p:cNvSpPr txBox="1"/>
          <p:nvPr/>
        </p:nvSpPr>
        <p:spPr>
          <a:xfrm>
            <a:off x="9930784" y="1729700"/>
            <a:ext cx="1343614" cy="1735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i="1" dirty="0" err="1"/>
              <a:t>library</a:t>
            </a:r>
            <a:r>
              <a:rPr lang="fr-FR" i="1" dirty="0"/>
              <a:t>()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i="1" dirty="0" err="1"/>
              <a:t>mean</a:t>
            </a:r>
            <a:r>
              <a:rPr lang="fr-FR" i="1" dirty="0"/>
              <a:t>()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i="1" dirty="0" err="1"/>
              <a:t>aov</a:t>
            </a:r>
            <a:r>
              <a:rPr lang="fr-FR" i="1" dirty="0"/>
              <a:t>()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i="1" dirty="0" err="1"/>
              <a:t>ggplot</a:t>
            </a:r>
            <a:r>
              <a:rPr lang="fr-FR" i="1" dirty="0"/>
              <a:t>()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i="1" dirty="0" err="1"/>
              <a:t>deseq</a:t>
            </a:r>
            <a:r>
              <a:rPr lang="fr-FR" i="1" dirty="0"/>
              <a:t>()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6228C7D0-4389-CC3F-A8A4-1B33D6D0E814}"/>
              </a:ext>
            </a:extLst>
          </p:cNvPr>
          <p:cNvSpPr txBox="1"/>
          <p:nvPr/>
        </p:nvSpPr>
        <p:spPr>
          <a:xfrm>
            <a:off x="4688468" y="3814862"/>
            <a:ext cx="6818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Use it with </a:t>
            </a:r>
            <a:r>
              <a:rPr lang="en-GB" sz="2400" b="1" i="1" dirty="0"/>
              <a:t>targets</a:t>
            </a:r>
            <a:r>
              <a:rPr lang="en-GB" sz="2400" b="1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28851841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4EB23-1282-CD0B-2BE1-D9379C6F5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46809743-1BD4-F41B-6B1D-738AD86DC07A}"/>
              </a:ext>
            </a:extLst>
          </p:cNvPr>
          <p:cNvGrpSpPr/>
          <p:nvPr/>
        </p:nvGrpSpPr>
        <p:grpSpPr>
          <a:xfrm>
            <a:off x="151447" y="172232"/>
            <a:ext cx="4096295" cy="2771384"/>
            <a:chOff x="3730671" y="1149263"/>
            <a:chExt cx="6964472" cy="4711874"/>
          </a:xfrm>
          <a:solidFill>
            <a:srgbClr val="D8A499"/>
          </a:solidFill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F8D95AD3-CA92-BD0B-8FB9-AEA9E11F58A3}"/>
                </a:ext>
              </a:extLst>
            </p:cNvPr>
            <p:cNvSpPr/>
            <p:nvPr/>
          </p:nvSpPr>
          <p:spPr>
            <a:xfrm>
              <a:off x="3730672" y="1149264"/>
              <a:ext cx="3394553" cy="2279737"/>
            </a:xfrm>
            <a:prstGeom prst="roundRect">
              <a:avLst/>
            </a:prstGeom>
            <a:solidFill>
              <a:srgbClr val="D8A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TRACKING</a:t>
              </a:r>
            </a:p>
          </p:txBody>
        </p:sp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BA43AE5D-680D-20C0-1421-2DB52427560D}"/>
                </a:ext>
              </a:extLst>
            </p:cNvPr>
            <p:cNvSpPr/>
            <p:nvPr/>
          </p:nvSpPr>
          <p:spPr>
            <a:xfrm>
              <a:off x="7300589" y="1149263"/>
              <a:ext cx="3394554" cy="2279737"/>
            </a:xfrm>
            <a:prstGeom prst="roundRect">
              <a:avLst/>
            </a:prstGeom>
            <a:solidFill>
              <a:srgbClr val="E7A1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ARCHITECTURE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5773EC1D-31F2-7E91-6F49-5763EAF6895B}"/>
                </a:ext>
              </a:extLst>
            </p:cNvPr>
            <p:cNvSpPr/>
            <p:nvPr/>
          </p:nvSpPr>
          <p:spPr>
            <a:xfrm>
              <a:off x="3730671" y="3581400"/>
              <a:ext cx="3394554" cy="2279737"/>
            </a:xfrm>
            <a:prstGeom prst="roundRect">
              <a:avLst/>
            </a:prstGeom>
            <a:solidFill>
              <a:srgbClr val="7394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</a:t>
              </a:r>
            </a:p>
            <a:p>
              <a:pPr algn="ctr"/>
              <a:r>
                <a:rPr lang="en-GB" sz="1600" dirty="0"/>
                <a:t>SHARING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538C13AB-0CCB-CA96-784B-C7A2B84CC012}"/>
                </a:ext>
              </a:extLst>
            </p:cNvPr>
            <p:cNvSpPr/>
            <p:nvPr/>
          </p:nvSpPr>
          <p:spPr>
            <a:xfrm>
              <a:off x="7300588" y="3581400"/>
              <a:ext cx="3394554" cy="2279737"/>
            </a:xfrm>
            <a:prstGeom prst="roundRect">
              <a:avLst/>
            </a:prstGeom>
            <a:solidFill>
              <a:srgbClr val="C6CE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/>
                <a:t>PROJECT IMPLEMENTATION</a:t>
              </a:r>
            </a:p>
          </p:txBody>
        </p:sp>
      </p:grp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F5E6D33-6129-A6DF-2832-DDF502AE471C}"/>
              </a:ext>
            </a:extLst>
          </p:cNvPr>
          <p:cNvSpPr/>
          <p:nvPr/>
        </p:nvSpPr>
        <p:spPr>
          <a:xfrm>
            <a:off x="151447" y="172232"/>
            <a:ext cx="1996576" cy="2771384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7E298A5F-288D-629C-6D84-D33CFEDD5D7C}"/>
              </a:ext>
            </a:extLst>
          </p:cNvPr>
          <p:cNvSpPr/>
          <p:nvPr/>
        </p:nvSpPr>
        <p:spPr>
          <a:xfrm>
            <a:off x="2251166" y="172232"/>
            <a:ext cx="1996576" cy="1340873"/>
          </a:xfrm>
          <a:prstGeom prst="roundRect">
            <a:avLst>
              <a:gd name="adj" fmla="val 9397"/>
            </a:avLst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18623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E5926-012B-7FBD-FC46-7E60CF656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3273EDC-E5F4-BB6E-78CA-46F7852B6ADB}"/>
              </a:ext>
            </a:extLst>
          </p:cNvPr>
          <p:cNvSpPr txBox="1"/>
          <p:nvPr/>
        </p:nvSpPr>
        <p:spPr>
          <a:xfrm>
            <a:off x="438411" y="388307"/>
            <a:ext cx="641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Introduction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8232EB5-AF1F-C581-1937-F94713657EB0}"/>
              </a:ext>
            </a:extLst>
          </p:cNvPr>
          <p:cNvSpPr/>
          <p:nvPr/>
        </p:nvSpPr>
        <p:spPr>
          <a:xfrm>
            <a:off x="701457" y="1340285"/>
            <a:ext cx="4947780" cy="5361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871B0F5-9006-6876-2676-263C8FA99B4A}"/>
              </a:ext>
            </a:extLst>
          </p:cNvPr>
          <p:cNvSpPr/>
          <p:nvPr/>
        </p:nvSpPr>
        <p:spPr>
          <a:xfrm>
            <a:off x="5989528" y="1340285"/>
            <a:ext cx="4947780" cy="5361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Image 8" descr="Une image contenant texte, capture d’écran, Caractère coloré, conception&#10;&#10;Le contenu généré par l’IA peut être incorrect.">
            <a:extLst>
              <a:ext uri="{FF2B5EF4-FFF2-40B4-BE49-F238E27FC236}">
                <a16:creationId xmlns:a16="http://schemas.microsoft.com/office/drawing/2014/main" id="{50241887-9A48-060B-29BC-56321D7BD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641350"/>
            <a:ext cx="3429000" cy="5575300"/>
          </a:xfrm>
          <a:prstGeom prst="rect">
            <a:avLst/>
          </a:prstGeom>
        </p:spPr>
      </p:pic>
      <p:pic>
        <p:nvPicPr>
          <p:cNvPr id="3" name="Image 2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3E7AB579-A743-35DB-201C-8F22F88E1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356" y="338454"/>
            <a:ext cx="5590031" cy="337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473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4079</TotalTime>
  <Words>3042</Words>
  <Application>Microsoft Macintosh PowerPoint</Application>
  <PresentationFormat>Grand écran</PresentationFormat>
  <Paragraphs>891</Paragraphs>
  <Slides>70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70</vt:i4>
      </vt:variant>
    </vt:vector>
  </HeadingPairs>
  <TitlesOfParts>
    <vt:vector size="80" baseType="lpstr">
      <vt:lpstr>-apple-system</vt:lpstr>
      <vt:lpstr>Aptos</vt:lpstr>
      <vt:lpstr>Aptos Display</vt:lpstr>
      <vt:lpstr>Arial</vt:lpstr>
      <vt:lpstr>Cambria Math</vt:lpstr>
      <vt:lpstr>elsevier-sans</vt:lpstr>
      <vt:lpstr>Helvetica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Sol-Dourdin</dc:creator>
  <cp:lastModifiedBy>Thomas Sol-Dourdin</cp:lastModifiedBy>
  <cp:revision>62</cp:revision>
  <dcterms:created xsi:type="dcterms:W3CDTF">2026-01-21T15:23:53Z</dcterms:created>
  <dcterms:modified xsi:type="dcterms:W3CDTF">2026-02-17T10:41:01Z</dcterms:modified>
</cp:coreProperties>
</file>
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9" r:id="rId4"/>
    <p:sldId id="270" r:id="rId5"/>
    <p:sldId id="259" r:id="rId6"/>
    <p:sldId id="273" r:id="rId7"/>
    <p:sldId id="271" r:id="rId8"/>
    <p:sldId id="260" r:id="rId9"/>
    <p:sldId id="274" r:id="rId10"/>
    <p:sldId id="261" r:id="rId11"/>
    <p:sldId id="268" r:id="rId12"/>
    <p:sldId id="276" r:id="rId13"/>
    <p:sldId id="275" r:id="rId14"/>
    <p:sldId id="266" r:id="rId15"/>
    <p:sldId id="267" r:id="rId16"/>
    <p:sldId id="264" r:id="rId17"/>
    <p:sldId id="277" r:id="rId18"/>
    <p:sldId id="278" r:id="rId19"/>
    <p:sldId id="279" r:id="rId20"/>
    <p:sldId id="280" r:id="rId21"/>
    <p:sldId id="281" r:id="rId22"/>
    <p:sldId id="282" r:id="rId23"/>
    <p:sldId id="263" r:id="rId24"/>
    <p:sldId id="265" r:id="rId25"/>
    <p:sldId id="258" r:id="rId2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7C39"/>
    <a:srgbClr val="D8A499"/>
    <a:srgbClr val="CA3211"/>
    <a:srgbClr val="EF93F2"/>
    <a:srgbClr val="7394D6"/>
    <a:srgbClr val="C6CEF7"/>
    <a:srgbClr val="E7A1C4"/>
    <a:srgbClr val="F5B6BD"/>
    <a:srgbClr val="86D5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27"/>
    <p:restoredTop sz="94674"/>
  </p:normalViewPr>
  <p:slideViewPr>
    <p:cSldViewPr snapToGrid="0">
      <p:cViewPr varScale="1">
        <p:scale>
          <a:sx n="85" d="100"/>
          <a:sy n="85" d="100"/>
        </p:scale>
        <p:origin x="176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2539F9-485B-CC01-A225-52AB9E1EB9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B4CE5C6-3175-81C4-C542-CD88937268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CF505EC-E4FB-865E-E919-CE498A74D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F7D7-A14F-D34F-A6A3-459D24089B5D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D9566B-022B-53FB-5D1D-62FE118C8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68A9F5-F2A7-38D2-A31C-DB9A3DC68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2478D-F2E0-A544-B415-ECC70C7FAB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155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890879-7A8C-F8CC-EAB4-2B8265D98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F97B32-E3DE-8F0B-63E8-29017CEBB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BD499BA-0B94-3771-9D13-F649F4D5B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F7D7-A14F-D34F-A6A3-459D24089B5D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1DE4507-10EC-E997-7093-CAED6C88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A2E134-9767-0E80-5155-51B5EC568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2478D-F2E0-A544-B415-ECC70C7FAB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3658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46C616-0379-A9E2-C553-75AE34AD4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9CEC7F3-129F-BB8C-CC00-D7EB753AA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ABCEEF-5D45-0170-B41F-B7F336A9D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F7D7-A14F-D34F-A6A3-459D24089B5D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F9CCF0-C735-B5E2-72E2-D3BF3D131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A165D8-3246-DA90-809C-87E3312F8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2478D-F2E0-A544-B415-ECC70C7FAB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3452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1AE287-7CB0-930E-A965-900AEAF8A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E4FDFA-0089-5CC7-A37F-37A9D68086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69E9E6B-696C-3716-BF20-924B6FCD7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0E83AB0-9474-618C-6C0B-288AEF877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F7D7-A14F-D34F-A6A3-459D24089B5D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67039BF-6F95-77ED-0C18-5F03554CC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F438020-B64E-D904-7334-66E968787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2478D-F2E0-A544-B415-ECC70C7FAB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3847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628365-A989-1271-9100-E5C962D64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3C0AA5B-64E2-510A-69CA-85DE20B8E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5F3FC4F-3689-EB32-ADEA-024075F2B0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D40AADE-C5E6-F6A9-24C1-834821895E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513685B-2607-EBF0-E7B0-F998089209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D9B8BD9-2C5E-43AC-C0FF-CD4C9F163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F7D7-A14F-D34F-A6A3-459D24089B5D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1D8F96B-6E7F-33FB-5C8B-2BC4B7FF0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6F8C2A0-3DF3-49E1-CAA0-5337984B2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2478D-F2E0-A544-B415-ECC70C7FAB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2234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6E2567-DBAB-D087-1F2F-92D601AAB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15DBD91-0D6D-D4A0-F776-4C450A5AB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F7D7-A14F-D34F-A6A3-459D24089B5D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A0AFC3C-0710-D7AA-B06E-04F2434CA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1240567-3421-DE8A-0A19-BC792BF45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2478D-F2E0-A544-B415-ECC70C7FAB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6904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EF3E493-093F-0826-7B2D-7347E8227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F7D7-A14F-D34F-A6A3-459D24089B5D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2573B5B-DA59-A0F2-B1E4-2A3C9522A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5B6FEC2-F23D-C2E5-10C2-F7511F27E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2478D-F2E0-A544-B415-ECC70C7FAB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8243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C724F6-2BBE-D188-78BB-4695C5C8C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342F50-42BB-89A2-2FA1-BE9F19B47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4F1367A-E15C-5E1D-52DD-430CEECEB4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D3A11F7-C598-9AB1-CF39-9ADC8082B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F7D7-A14F-D34F-A6A3-459D24089B5D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ECC892-196D-C23D-F674-F00F13301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20E58D8-CEEE-0DB1-54AE-D60AA3C19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2478D-F2E0-A544-B415-ECC70C7FAB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5778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7B787D-D653-6B96-8153-2C1E84B7E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3FAB9A1-D237-C91F-F53F-99A154C302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91F5C66-3A82-758B-7B33-605D032795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5C6A962-E383-92F8-A7BA-B2666C3CF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F7D7-A14F-D34F-A6A3-459D24089B5D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2548BBA-5378-3813-3EA2-56DB6F169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C0C593F-F397-BE58-D8BF-FC449A457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2478D-F2E0-A544-B415-ECC70C7FAB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1493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894F2E-B8C7-3D02-4FCC-E89474DE3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EDBCBC6-1C12-B68C-D9AC-7D7D7A5B32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4D1FCFF-FB59-B486-8320-E9427C53C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F7D7-A14F-D34F-A6A3-459D24089B5D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276E04-4BD6-C08D-8A8C-8429D6078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07DBAE-5FE0-469A-9FBE-2EA6735B0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2478D-F2E0-A544-B415-ECC70C7FAB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0939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605CA99-7707-C576-75EF-137CA36C9E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FA8D084-EE96-5F22-69C2-6EB5F1DBE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A104DDC-D142-BB9F-C142-492ADE26B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F7D7-A14F-D34F-A6A3-459D24089B5D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FE74CC-7B8F-909B-3B2D-D0A9CCC3C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C9842B-5516-21A7-5D1F-F2830E563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2478D-F2E0-A544-B415-ECC70C7FAB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041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5B65A8C-DC56-F778-A76E-DD77ED74B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0D7B09B-DA43-3158-F1A9-919E84391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1044CD-6F53-69FC-2BD5-EB5065CA3B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C0F7D7-A14F-D34F-A6A3-459D24089B5D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B17857-FBB5-FA97-D107-6134A1B6F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17690FF-CFB7-4BDF-22D0-1C2495C017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D2478D-F2E0-A544-B415-ECC70C7FAB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4776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9FF73A60-C9DE-6199-63C6-2D85A77F337D}"/>
              </a:ext>
            </a:extLst>
          </p:cNvPr>
          <p:cNvSpPr txBox="1"/>
          <p:nvPr/>
        </p:nvSpPr>
        <p:spPr>
          <a:xfrm>
            <a:off x="1127342" y="1716065"/>
            <a:ext cx="920663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/>
              <a:t>Reproducibility</a:t>
            </a:r>
          </a:p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Thomas Sol Dourdin</a:t>
            </a: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035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80E08-C4A5-F76B-4D92-F51FD7554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A277E997-EA9E-62E3-96D4-5FF53E136D2D}"/>
              </a:ext>
            </a:extLst>
          </p:cNvPr>
          <p:cNvSpPr txBox="1"/>
          <p:nvPr/>
        </p:nvSpPr>
        <p:spPr>
          <a:xfrm>
            <a:off x="438411" y="388307"/>
            <a:ext cx="6413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Introduction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755AADC3-BC79-7328-2B4E-8D1CCDD9B315}"/>
              </a:ext>
            </a:extLst>
          </p:cNvPr>
          <p:cNvSpPr/>
          <p:nvPr/>
        </p:nvSpPr>
        <p:spPr>
          <a:xfrm>
            <a:off x="701457" y="1040485"/>
            <a:ext cx="4947780" cy="5361140"/>
          </a:xfrm>
          <a:prstGeom prst="roundRect">
            <a:avLst/>
          </a:prstGeom>
          <a:solidFill>
            <a:srgbClr val="86D5E4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F33E21F-7C22-B5DF-9BC5-60F5FBC08845}"/>
              </a:ext>
            </a:extLst>
          </p:cNvPr>
          <p:cNvSpPr txBox="1"/>
          <p:nvPr/>
        </p:nvSpPr>
        <p:spPr>
          <a:xfrm>
            <a:off x="1377863" y="1127569"/>
            <a:ext cx="3620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REPLICABILITY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88BEDDC-FAC9-4496-0BD3-1BEEF82D79E7}"/>
              </a:ext>
            </a:extLst>
          </p:cNvPr>
          <p:cNvSpPr txBox="1"/>
          <p:nvPr/>
        </p:nvSpPr>
        <p:spPr>
          <a:xfrm>
            <a:off x="726509" y="1694836"/>
            <a:ext cx="48976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The capacity to “obtain</a:t>
            </a:r>
            <a:r>
              <a:rPr lang="en-GB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consistent results across studies aimed at answering the same scientific question, each of which</a:t>
            </a:r>
            <a:r>
              <a:rPr lang="en-GB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has obtained its own data</a:t>
            </a:r>
            <a:r>
              <a:rPr lang="en-GB" dirty="0">
                <a:solidFill>
                  <a:srgbClr val="000000"/>
                </a:solidFill>
                <a:latin typeface="Helvetica" pitchFamily="2" charset="0"/>
              </a:rPr>
              <a:t>”*</a:t>
            </a:r>
            <a:endParaRPr lang="en-GB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30541B5-6678-0568-A41A-C5F8BFF772AB}"/>
              </a:ext>
            </a:extLst>
          </p:cNvPr>
          <p:cNvSpPr txBox="1"/>
          <p:nvPr/>
        </p:nvSpPr>
        <p:spPr>
          <a:xfrm>
            <a:off x="914400" y="3450320"/>
            <a:ext cx="4459266" cy="883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Universality of science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Rigorous sharing of methods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40EB700-6A59-DAB3-5F83-DE11C7BD044D}"/>
              </a:ext>
            </a:extLst>
          </p:cNvPr>
          <p:cNvSpPr txBox="1"/>
          <p:nvPr/>
        </p:nvSpPr>
        <p:spPr>
          <a:xfrm>
            <a:off x="914400" y="5098917"/>
            <a:ext cx="4459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QUALITATIVE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89CD1E1-971E-7EBC-0E1E-1D7D366903AB}"/>
              </a:ext>
            </a:extLst>
          </p:cNvPr>
          <p:cNvSpPr txBox="1"/>
          <p:nvPr/>
        </p:nvSpPr>
        <p:spPr>
          <a:xfrm>
            <a:off x="183578" y="6409645"/>
            <a:ext cx="9140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Helvetica" pitchFamily="2" charset="0"/>
              </a:rPr>
              <a:t>*</a:t>
            </a:r>
            <a:r>
              <a:rPr lang="en-GB" sz="1400" dirty="0"/>
              <a:t>National Academies of Sciences, Engineering and </a:t>
            </a:r>
            <a:r>
              <a:rPr lang="en-GB" sz="1400" dirty="0" err="1"/>
              <a:t>Medecine</a:t>
            </a:r>
            <a:r>
              <a:rPr lang="en-GB" sz="1400" dirty="0"/>
              <a:t>, 2019 in Hicks, 2023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6936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DD004-03D2-392C-5483-BC13D1E95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CC2BC39-3E5B-B67C-C987-8D6D7F91A4E9}"/>
              </a:ext>
            </a:extLst>
          </p:cNvPr>
          <p:cNvSpPr txBox="1"/>
          <p:nvPr/>
        </p:nvSpPr>
        <p:spPr>
          <a:xfrm>
            <a:off x="438411" y="388307"/>
            <a:ext cx="6413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Introduction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2F74081-D88B-07F9-000A-A6D613B25C8B}"/>
              </a:ext>
            </a:extLst>
          </p:cNvPr>
          <p:cNvSpPr/>
          <p:nvPr/>
        </p:nvSpPr>
        <p:spPr>
          <a:xfrm>
            <a:off x="701457" y="1040485"/>
            <a:ext cx="4947780" cy="5361140"/>
          </a:xfrm>
          <a:prstGeom prst="roundRect">
            <a:avLst/>
          </a:prstGeom>
          <a:solidFill>
            <a:srgbClr val="86D5E4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B30F098-9270-0CAF-F9C3-44B8ADD9E579}"/>
              </a:ext>
            </a:extLst>
          </p:cNvPr>
          <p:cNvSpPr/>
          <p:nvPr/>
        </p:nvSpPr>
        <p:spPr>
          <a:xfrm>
            <a:off x="5989528" y="1040485"/>
            <a:ext cx="4947780" cy="5361140"/>
          </a:xfrm>
          <a:prstGeom prst="roundRect">
            <a:avLst/>
          </a:prstGeom>
          <a:solidFill>
            <a:srgbClr val="F5B6BD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DB95FFB-6A76-E7A7-5D3D-8E7BBFED4B30}"/>
              </a:ext>
            </a:extLst>
          </p:cNvPr>
          <p:cNvSpPr txBox="1"/>
          <p:nvPr/>
        </p:nvSpPr>
        <p:spPr>
          <a:xfrm>
            <a:off x="1377863" y="1127569"/>
            <a:ext cx="3620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REPLICABILITY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B212BC6-3FF5-F46D-2499-F6F17B3A0B65}"/>
              </a:ext>
            </a:extLst>
          </p:cNvPr>
          <p:cNvSpPr txBox="1"/>
          <p:nvPr/>
        </p:nvSpPr>
        <p:spPr>
          <a:xfrm>
            <a:off x="6626267" y="1127569"/>
            <a:ext cx="3620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REPRODUCIBILITY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775B020-23FC-C11F-FB07-B37724683158}"/>
              </a:ext>
            </a:extLst>
          </p:cNvPr>
          <p:cNvSpPr txBox="1"/>
          <p:nvPr/>
        </p:nvSpPr>
        <p:spPr>
          <a:xfrm>
            <a:off x="726509" y="1694836"/>
            <a:ext cx="48976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The capacity to “obtain</a:t>
            </a:r>
            <a:r>
              <a:rPr lang="en-GB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consistent results across studies aimed at answering the same scientific question, each of which</a:t>
            </a:r>
            <a:r>
              <a:rPr lang="en-GB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has obtained its own data”*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C8ADB46B-D093-4F3D-BD20-D998C5CD071F}"/>
              </a:ext>
            </a:extLst>
          </p:cNvPr>
          <p:cNvSpPr txBox="1"/>
          <p:nvPr/>
        </p:nvSpPr>
        <p:spPr>
          <a:xfrm>
            <a:off x="914400" y="3450320"/>
            <a:ext cx="4459266" cy="883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Universality of science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Rigorous sharing of methods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7AB2BEE-26D6-A73C-3127-FCFF88B85FAD}"/>
              </a:ext>
            </a:extLst>
          </p:cNvPr>
          <p:cNvSpPr txBox="1"/>
          <p:nvPr/>
        </p:nvSpPr>
        <p:spPr>
          <a:xfrm>
            <a:off x="914400" y="5098917"/>
            <a:ext cx="4459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QUALITATIVE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CACC212-B118-93DA-7C5C-1F685DCD3592}"/>
              </a:ext>
            </a:extLst>
          </p:cNvPr>
          <p:cNvSpPr txBox="1"/>
          <p:nvPr/>
        </p:nvSpPr>
        <p:spPr>
          <a:xfrm>
            <a:off x="5989526" y="1694835"/>
            <a:ext cx="49477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The capacity to “obtain the same results from the same data by using</a:t>
            </a:r>
            <a:r>
              <a:rPr lang="en-GB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the same computational steps, the same code, and the same analytical conditions</a:t>
            </a:r>
            <a:r>
              <a:rPr lang="en-GB" dirty="0">
                <a:solidFill>
                  <a:srgbClr val="000000"/>
                </a:solidFill>
                <a:latin typeface="Helvetica" pitchFamily="2" charset="0"/>
              </a:rPr>
              <a:t>”*</a:t>
            </a:r>
            <a:endParaRPr lang="en-GB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9FD614E-69CA-7B69-23C9-00B2398AF822}"/>
              </a:ext>
            </a:extLst>
          </p:cNvPr>
          <p:cNvSpPr txBox="1"/>
          <p:nvPr/>
        </p:nvSpPr>
        <p:spPr>
          <a:xfrm>
            <a:off x="6043107" y="3571942"/>
            <a:ext cx="4840617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Emerged with analytical, computer sciences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A81FC7D-4F70-FCF1-1C0E-0E26C89047D9}"/>
              </a:ext>
            </a:extLst>
          </p:cNvPr>
          <p:cNvSpPr txBox="1"/>
          <p:nvPr/>
        </p:nvSpPr>
        <p:spPr>
          <a:xfrm>
            <a:off x="6233782" y="5098916"/>
            <a:ext cx="4459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QUANTITATIVE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75F7F6E-85D1-0EF2-00FF-794112018932}"/>
              </a:ext>
            </a:extLst>
          </p:cNvPr>
          <p:cNvSpPr txBox="1"/>
          <p:nvPr/>
        </p:nvSpPr>
        <p:spPr>
          <a:xfrm>
            <a:off x="183578" y="6409645"/>
            <a:ext cx="9140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Helvetica" pitchFamily="2" charset="0"/>
              </a:rPr>
              <a:t>*</a:t>
            </a:r>
            <a:r>
              <a:rPr lang="en-GB" sz="1400" dirty="0"/>
              <a:t>National Academies of Sciences, Engineering and </a:t>
            </a:r>
            <a:r>
              <a:rPr lang="en-GB" sz="1400" dirty="0" err="1"/>
              <a:t>Medecine</a:t>
            </a:r>
            <a:r>
              <a:rPr lang="en-GB" sz="1400" dirty="0"/>
              <a:t>, 2019 in Hicks, 2023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4051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98756-29A6-D008-80B0-46A0E51CE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B3C0758E-6CC0-58DE-303A-E64905097EB9}"/>
              </a:ext>
            </a:extLst>
          </p:cNvPr>
          <p:cNvSpPr txBox="1"/>
          <p:nvPr/>
        </p:nvSpPr>
        <p:spPr>
          <a:xfrm>
            <a:off x="438411" y="388307"/>
            <a:ext cx="6413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Introduction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DC306E05-5974-3ABC-4230-4FCD25C1FD5A}"/>
              </a:ext>
            </a:extLst>
          </p:cNvPr>
          <p:cNvSpPr/>
          <p:nvPr/>
        </p:nvSpPr>
        <p:spPr>
          <a:xfrm>
            <a:off x="701457" y="1040485"/>
            <a:ext cx="4947780" cy="5361140"/>
          </a:xfrm>
          <a:prstGeom prst="roundRect">
            <a:avLst/>
          </a:prstGeom>
          <a:solidFill>
            <a:srgbClr val="86D5E4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817AB0B5-2BA7-0495-9F8F-525BA53AEBED}"/>
              </a:ext>
            </a:extLst>
          </p:cNvPr>
          <p:cNvSpPr/>
          <p:nvPr/>
        </p:nvSpPr>
        <p:spPr>
          <a:xfrm>
            <a:off x="5989528" y="1040485"/>
            <a:ext cx="4947780" cy="5361140"/>
          </a:xfrm>
          <a:prstGeom prst="roundRect">
            <a:avLst/>
          </a:prstGeom>
          <a:solidFill>
            <a:srgbClr val="F5B6BD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062538E-E69D-5429-03EB-8057D84E2FFC}"/>
              </a:ext>
            </a:extLst>
          </p:cNvPr>
          <p:cNvSpPr txBox="1"/>
          <p:nvPr/>
        </p:nvSpPr>
        <p:spPr>
          <a:xfrm>
            <a:off x="1377863" y="1127569"/>
            <a:ext cx="3620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REPLICABILITY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5CA6CCF-2405-0C18-7543-6DDE99186FE0}"/>
              </a:ext>
            </a:extLst>
          </p:cNvPr>
          <p:cNvSpPr txBox="1"/>
          <p:nvPr/>
        </p:nvSpPr>
        <p:spPr>
          <a:xfrm>
            <a:off x="6626267" y="1127569"/>
            <a:ext cx="3620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REPRODUCIBILITY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DD35952-0207-9D88-CF29-4D26039AE03B}"/>
              </a:ext>
            </a:extLst>
          </p:cNvPr>
          <p:cNvSpPr txBox="1"/>
          <p:nvPr/>
        </p:nvSpPr>
        <p:spPr>
          <a:xfrm>
            <a:off x="726509" y="1694836"/>
            <a:ext cx="48976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The capacity to “obtain</a:t>
            </a:r>
            <a:r>
              <a:rPr lang="en-GB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consistent results across studies aimed at answering the same scientific question, each of which</a:t>
            </a:r>
            <a:r>
              <a:rPr lang="en-GB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has obtained its own data”</a:t>
            </a:r>
            <a:r>
              <a:rPr lang="en-GB" dirty="0">
                <a:solidFill>
                  <a:srgbClr val="000000"/>
                </a:solidFill>
                <a:latin typeface="Helvetica" pitchFamily="2" charset="0"/>
              </a:rPr>
              <a:t>*</a:t>
            </a:r>
            <a:endParaRPr lang="en-GB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A7C8623B-C823-C9C1-74D4-3288A81D5BE4}"/>
              </a:ext>
            </a:extLst>
          </p:cNvPr>
          <p:cNvSpPr txBox="1"/>
          <p:nvPr/>
        </p:nvSpPr>
        <p:spPr>
          <a:xfrm>
            <a:off x="914400" y="3450320"/>
            <a:ext cx="4459266" cy="883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Universality of science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Rigorous sharing of methods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BEA0673-A485-C7F7-5403-F987B4D681AE}"/>
              </a:ext>
            </a:extLst>
          </p:cNvPr>
          <p:cNvSpPr txBox="1"/>
          <p:nvPr/>
        </p:nvSpPr>
        <p:spPr>
          <a:xfrm>
            <a:off x="914400" y="5098917"/>
            <a:ext cx="4459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QUALITATIVE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200144D-9BA6-7781-D084-5A463A2D3CCE}"/>
              </a:ext>
            </a:extLst>
          </p:cNvPr>
          <p:cNvSpPr txBox="1"/>
          <p:nvPr/>
        </p:nvSpPr>
        <p:spPr>
          <a:xfrm>
            <a:off x="5989526" y="1694835"/>
            <a:ext cx="49477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The capacity to “obtain the same results from the same data by using</a:t>
            </a:r>
            <a:r>
              <a:rPr lang="en-GB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the same computational steps, the same code, and the same analytical conditions”</a:t>
            </a:r>
            <a:r>
              <a:rPr lang="en-GB" dirty="0">
                <a:solidFill>
                  <a:srgbClr val="000000"/>
                </a:solidFill>
                <a:latin typeface="Helvetica" pitchFamily="2" charset="0"/>
              </a:rPr>
              <a:t>*</a:t>
            </a:r>
            <a:endParaRPr lang="en-GB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75AA587A-29BA-FA33-88C1-A5756F603B4B}"/>
              </a:ext>
            </a:extLst>
          </p:cNvPr>
          <p:cNvSpPr txBox="1"/>
          <p:nvPr/>
        </p:nvSpPr>
        <p:spPr>
          <a:xfrm>
            <a:off x="6043107" y="3571942"/>
            <a:ext cx="4840617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Emerged with analytical, computer sciences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25DDA58E-BA58-3342-60A4-54CBA7479379}"/>
              </a:ext>
            </a:extLst>
          </p:cNvPr>
          <p:cNvSpPr txBox="1"/>
          <p:nvPr/>
        </p:nvSpPr>
        <p:spPr>
          <a:xfrm>
            <a:off x="6233782" y="5098916"/>
            <a:ext cx="4459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QUANTITATIVE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B5C21AC-C6BA-B613-61E2-F720F020F4C6}"/>
              </a:ext>
            </a:extLst>
          </p:cNvPr>
          <p:cNvSpPr/>
          <p:nvPr/>
        </p:nvSpPr>
        <p:spPr>
          <a:xfrm>
            <a:off x="3644427" y="2742940"/>
            <a:ext cx="4285192" cy="1438539"/>
          </a:xfrm>
          <a:prstGeom prst="rect">
            <a:avLst/>
          </a:prstGeom>
          <a:solidFill>
            <a:srgbClr val="CA32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solidFill>
                  <a:schemeClr val="tx1"/>
                </a:solidFill>
              </a:rPr>
              <a:t>Good practices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69BABC8-9275-3030-3BA6-966680DF97E5}"/>
              </a:ext>
            </a:extLst>
          </p:cNvPr>
          <p:cNvSpPr txBox="1"/>
          <p:nvPr/>
        </p:nvSpPr>
        <p:spPr>
          <a:xfrm>
            <a:off x="183578" y="6409645"/>
            <a:ext cx="9140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Helvetica" pitchFamily="2" charset="0"/>
              </a:rPr>
              <a:t>*</a:t>
            </a:r>
            <a:r>
              <a:rPr lang="en-GB" sz="1400" dirty="0"/>
              <a:t>National Academies of Sciences, Engineering and </a:t>
            </a:r>
            <a:r>
              <a:rPr lang="en-GB" sz="1400" dirty="0" err="1"/>
              <a:t>Medecine</a:t>
            </a:r>
            <a:r>
              <a:rPr lang="en-GB" sz="1400" dirty="0"/>
              <a:t>, 2019 in Hicks, 2023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7156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D5ECA-1A52-B61F-0CBA-3254DEF8B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0DEA5FE3-A7CD-3DC5-19F6-AAC09F0EDFD0}"/>
              </a:ext>
            </a:extLst>
          </p:cNvPr>
          <p:cNvSpPr txBox="1"/>
          <p:nvPr/>
        </p:nvSpPr>
        <p:spPr>
          <a:xfrm>
            <a:off x="438411" y="388307"/>
            <a:ext cx="6413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Introduction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5566F9E-E4A6-8BEC-9A18-E4698D0DA5F8}"/>
              </a:ext>
            </a:extLst>
          </p:cNvPr>
          <p:cNvSpPr txBox="1"/>
          <p:nvPr/>
        </p:nvSpPr>
        <p:spPr>
          <a:xfrm>
            <a:off x="438411" y="1195937"/>
            <a:ext cx="827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« </a:t>
            </a:r>
            <a:r>
              <a:rPr lang="en-GB" sz="2400" i="1" dirty="0"/>
              <a:t>Why is that so important? »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970933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532B6-DA06-A8E1-8E29-35BD9EA42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9C71BD97-9949-4230-9173-11AF7A9F75DA}"/>
              </a:ext>
            </a:extLst>
          </p:cNvPr>
          <p:cNvSpPr txBox="1"/>
          <p:nvPr/>
        </p:nvSpPr>
        <p:spPr>
          <a:xfrm>
            <a:off x="438411" y="388307"/>
            <a:ext cx="6413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Introduction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82F5B3B-1BCE-10B3-ADEA-34A767AF69EE}"/>
              </a:ext>
            </a:extLst>
          </p:cNvPr>
          <p:cNvSpPr txBox="1"/>
          <p:nvPr/>
        </p:nvSpPr>
        <p:spPr>
          <a:xfrm>
            <a:off x="438411" y="1195937"/>
            <a:ext cx="827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« </a:t>
            </a:r>
            <a:r>
              <a:rPr lang="en-GB" sz="2400" i="1" dirty="0"/>
              <a:t>Why is that so important? »</a:t>
            </a:r>
            <a:endParaRPr lang="en-GB" sz="2400" dirty="0"/>
          </a:p>
        </p:txBody>
      </p:sp>
      <p:pic>
        <p:nvPicPr>
          <p:cNvPr id="9" name="Image 8" descr="Une image contenant texte, Polic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52D2B42F-5260-3FF1-471A-24DEC90F9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02" y="1765573"/>
            <a:ext cx="7307441" cy="108526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E2E12450-FED1-DD6F-D717-9A2BDC87DF19}"/>
              </a:ext>
            </a:extLst>
          </p:cNvPr>
          <p:cNvSpPr txBox="1"/>
          <p:nvPr/>
        </p:nvSpPr>
        <p:spPr>
          <a:xfrm>
            <a:off x="599502" y="3619819"/>
            <a:ext cx="100104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From « Publish or Perish » to « Reproduce or Reject »</a:t>
            </a: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40A60EB8-69F2-1936-8166-AA9E563F7C9B}"/>
              </a:ext>
            </a:extLst>
          </p:cNvPr>
          <p:cNvCxnSpPr>
            <a:cxnSpLocks/>
          </p:cNvCxnSpPr>
          <p:nvPr/>
        </p:nvCxnSpPr>
        <p:spPr>
          <a:xfrm flipH="1">
            <a:off x="4253222" y="2988024"/>
            <a:ext cx="1" cy="59481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7289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B0308-A104-671B-657C-E7FC1DDB9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AD577AD-C650-3926-51AA-ED71DE6E4A4C}"/>
              </a:ext>
            </a:extLst>
          </p:cNvPr>
          <p:cNvSpPr txBox="1"/>
          <p:nvPr/>
        </p:nvSpPr>
        <p:spPr>
          <a:xfrm>
            <a:off x="438411" y="388307"/>
            <a:ext cx="6413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Introduction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EC339DC-29D4-D704-259F-16AC183C41FA}"/>
              </a:ext>
            </a:extLst>
          </p:cNvPr>
          <p:cNvSpPr txBox="1"/>
          <p:nvPr/>
        </p:nvSpPr>
        <p:spPr>
          <a:xfrm>
            <a:off x="438411" y="1195937"/>
            <a:ext cx="827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« </a:t>
            </a:r>
            <a:r>
              <a:rPr lang="en-GB" sz="2400" i="1" dirty="0"/>
              <a:t>Why is that so important? »</a:t>
            </a:r>
            <a:endParaRPr lang="en-GB" sz="2400" dirty="0"/>
          </a:p>
        </p:txBody>
      </p:sp>
      <p:pic>
        <p:nvPicPr>
          <p:cNvPr id="9" name="Image 8" descr="Une image contenant texte, Polic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8AF5AD71-6546-DCC7-27F4-2EC736FAE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02" y="1765573"/>
            <a:ext cx="7307441" cy="108526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9E2D2918-FBB1-D94B-ECE7-A5B3B200AE38}"/>
              </a:ext>
            </a:extLst>
          </p:cNvPr>
          <p:cNvSpPr txBox="1"/>
          <p:nvPr/>
        </p:nvSpPr>
        <p:spPr>
          <a:xfrm>
            <a:off x="599502" y="3619819"/>
            <a:ext cx="100104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From « Publish or Perish » to « Reproduce or Reject »</a:t>
            </a: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0C9DC816-D726-8303-8A9A-BE4B7882E7F8}"/>
              </a:ext>
            </a:extLst>
          </p:cNvPr>
          <p:cNvCxnSpPr>
            <a:cxnSpLocks/>
          </p:cNvCxnSpPr>
          <p:nvPr/>
        </p:nvCxnSpPr>
        <p:spPr>
          <a:xfrm flipH="1">
            <a:off x="4253222" y="2988024"/>
            <a:ext cx="1" cy="59481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A0930600-5C9F-2888-A26B-3117C8488378}"/>
              </a:ext>
            </a:extLst>
          </p:cNvPr>
          <p:cNvSpPr txBox="1"/>
          <p:nvPr/>
        </p:nvSpPr>
        <p:spPr>
          <a:xfrm>
            <a:off x="1716067" y="5361207"/>
            <a:ext cx="7277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For students: think about your supervisor…</a:t>
            </a:r>
          </a:p>
        </p:txBody>
      </p:sp>
      <p:pic>
        <p:nvPicPr>
          <p:cNvPr id="1026" name="Picture 2" descr="3 200+ S'arracher Les Cheveux Photos, taleaux et images libre de droits -  iStock | Stress, Se prendre la tête, Prise de tête">
            <a:extLst>
              <a:ext uri="{FF2B5EF4-FFF2-40B4-BE49-F238E27FC236}">
                <a16:creationId xmlns:a16="http://schemas.microsoft.com/office/drawing/2014/main" id="{85C1F1FC-196D-F7EA-E2DF-B3EF6A502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3375" y="3886184"/>
            <a:ext cx="3207773" cy="2971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5244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0F47F-51F0-C19F-A966-45D9AC2AA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A98D8669-043C-36F8-8BFE-63DFD9DF1D9A}"/>
              </a:ext>
            </a:extLst>
          </p:cNvPr>
          <p:cNvSpPr txBox="1"/>
          <p:nvPr/>
        </p:nvSpPr>
        <p:spPr>
          <a:xfrm>
            <a:off x="438411" y="388307"/>
            <a:ext cx="6413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Introduction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8E9C977E-9D34-029B-0F28-5E57C012A98C}"/>
              </a:ext>
            </a:extLst>
          </p:cNvPr>
          <p:cNvSpPr/>
          <p:nvPr/>
        </p:nvSpPr>
        <p:spPr>
          <a:xfrm>
            <a:off x="3730672" y="1149264"/>
            <a:ext cx="3394553" cy="2279737"/>
          </a:xfrm>
          <a:prstGeom prst="roundRect">
            <a:avLst/>
          </a:prstGeom>
          <a:solidFill>
            <a:srgbClr val="E7A1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PROJECT ARCHITECTURE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2EA27C10-F734-12E5-0ABF-CA3930C540BC}"/>
              </a:ext>
            </a:extLst>
          </p:cNvPr>
          <p:cNvSpPr/>
          <p:nvPr/>
        </p:nvSpPr>
        <p:spPr>
          <a:xfrm>
            <a:off x="7300589" y="1149263"/>
            <a:ext cx="3394554" cy="2279737"/>
          </a:xfrm>
          <a:prstGeom prst="roundRect">
            <a:avLst/>
          </a:prstGeom>
          <a:solidFill>
            <a:srgbClr val="C6C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PROJECT IMPLEMENTATION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19BF630B-9610-1828-CAA4-371C5AD43D99}"/>
              </a:ext>
            </a:extLst>
          </p:cNvPr>
          <p:cNvSpPr/>
          <p:nvPr/>
        </p:nvSpPr>
        <p:spPr>
          <a:xfrm>
            <a:off x="3730671" y="3581400"/>
            <a:ext cx="3394554" cy="2279737"/>
          </a:xfrm>
          <a:prstGeom prst="roundRect">
            <a:avLst/>
          </a:prstGeom>
          <a:solidFill>
            <a:srgbClr val="D8A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PROJECT TRACKING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5B5C2884-BFB1-C9CC-00C2-D7189A68D451}"/>
              </a:ext>
            </a:extLst>
          </p:cNvPr>
          <p:cNvSpPr/>
          <p:nvPr/>
        </p:nvSpPr>
        <p:spPr>
          <a:xfrm>
            <a:off x="7300588" y="3581400"/>
            <a:ext cx="3394554" cy="2279737"/>
          </a:xfrm>
          <a:prstGeom prst="roundRect">
            <a:avLst/>
          </a:prstGeom>
          <a:solidFill>
            <a:srgbClr val="7394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PROJECT SHARING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C7FED2A-BD6B-CC38-69FD-E5A77970A315}"/>
              </a:ext>
            </a:extLst>
          </p:cNvPr>
          <p:cNvSpPr txBox="1"/>
          <p:nvPr/>
        </p:nvSpPr>
        <p:spPr>
          <a:xfrm>
            <a:off x="263045" y="2890391"/>
            <a:ext cx="29436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The 4 pillars of reproducibility</a:t>
            </a:r>
          </a:p>
        </p:txBody>
      </p:sp>
    </p:spTree>
    <p:extLst>
      <p:ext uri="{BB962C8B-B14F-4D97-AF65-F5344CB8AC3E}">
        <p14:creationId xmlns:p14="http://schemas.microsoft.com/office/powerpoint/2010/main" val="3157332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6C702-1059-39C4-75BA-063CF7BE7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250B579-E37D-F5A0-F9D2-73CF044E0A2A}"/>
              </a:ext>
            </a:extLst>
          </p:cNvPr>
          <p:cNvSpPr txBox="1"/>
          <p:nvPr/>
        </p:nvSpPr>
        <p:spPr>
          <a:xfrm>
            <a:off x="438411" y="388307"/>
            <a:ext cx="6413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Introduction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AE73290B-C239-3F2A-8E70-BD24D36A9BC5}"/>
              </a:ext>
            </a:extLst>
          </p:cNvPr>
          <p:cNvSpPr/>
          <p:nvPr/>
        </p:nvSpPr>
        <p:spPr>
          <a:xfrm>
            <a:off x="3730672" y="1149264"/>
            <a:ext cx="3394553" cy="2279737"/>
          </a:xfrm>
          <a:prstGeom prst="roundRect">
            <a:avLst/>
          </a:prstGeom>
          <a:solidFill>
            <a:srgbClr val="E7A1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PROJECT ARCHITECTURE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3F326B42-E0C6-8EBD-0086-E4E48BFFC18D}"/>
              </a:ext>
            </a:extLst>
          </p:cNvPr>
          <p:cNvSpPr/>
          <p:nvPr/>
        </p:nvSpPr>
        <p:spPr>
          <a:xfrm>
            <a:off x="7300589" y="1149263"/>
            <a:ext cx="3394554" cy="2279737"/>
          </a:xfrm>
          <a:prstGeom prst="roundRect">
            <a:avLst/>
          </a:prstGeom>
          <a:solidFill>
            <a:srgbClr val="C6C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PROJECT IMPLEMENTATION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685DDFC3-346E-B63D-41F6-30A9169826FD}"/>
              </a:ext>
            </a:extLst>
          </p:cNvPr>
          <p:cNvSpPr/>
          <p:nvPr/>
        </p:nvSpPr>
        <p:spPr>
          <a:xfrm>
            <a:off x="3730671" y="3581400"/>
            <a:ext cx="3394554" cy="2279737"/>
          </a:xfrm>
          <a:prstGeom prst="roundRect">
            <a:avLst/>
          </a:prstGeom>
          <a:solidFill>
            <a:srgbClr val="D8A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PROJECT TRACKING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EC62F55D-3FE3-4485-B42C-C3EDC0EE3D71}"/>
              </a:ext>
            </a:extLst>
          </p:cNvPr>
          <p:cNvSpPr/>
          <p:nvPr/>
        </p:nvSpPr>
        <p:spPr>
          <a:xfrm>
            <a:off x="7300588" y="3581400"/>
            <a:ext cx="3394554" cy="2279737"/>
          </a:xfrm>
          <a:prstGeom prst="roundRect">
            <a:avLst/>
          </a:prstGeom>
          <a:solidFill>
            <a:srgbClr val="7394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PROJECT SHARING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89680F5-9911-CF0F-28E6-A989B072B343}"/>
              </a:ext>
            </a:extLst>
          </p:cNvPr>
          <p:cNvSpPr txBox="1"/>
          <p:nvPr/>
        </p:nvSpPr>
        <p:spPr>
          <a:xfrm>
            <a:off x="263045" y="2890391"/>
            <a:ext cx="29436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The 4 pillars of reproducibility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46DAD4F9-E285-63E1-D74F-1603CA280326}"/>
              </a:ext>
            </a:extLst>
          </p:cNvPr>
          <p:cNvSpPr/>
          <p:nvPr/>
        </p:nvSpPr>
        <p:spPr>
          <a:xfrm>
            <a:off x="9259871" y="697282"/>
            <a:ext cx="914400" cy="9144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renv</a:t>
            </a:r>
            <a:endParaRPr lang="en-GB" i="1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9A997402-999D-A12B-0584-07A26D7538D7}"/>
              </a:ext>
            </a:extLst>
          </p:cNvPr>
          <p:cNvSpPr/>
          <p:nvPr/>
        </p:nvSpPr>
        <p:spPr>
          <a:xfrm>
            <a:off x="10174271" y="1605941"/>
            <a:ext cx="914400" cy="9144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i="1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E9BD40A-66D7-5479-F72B-5BF1698410EF}"/>
              </a:ext>
            </a:extLst>
          </p:cNvPr>
          <p:cNvSpPr txBox="1"/>
          <p:nvPr/>
        </p:nvSpPr>
        <p:spPr>
          <a:xfrm>
            <a:off x="10174271" y="187847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>
                <a:solidFill>
                  <a:schemeClr val="bg1"/>
                </a:solidFill>
              </a:rPr>
              <a:t>targets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30B951E7-26D1-8EDA-1ACC-1CE55E09CD0B}"/>
              </a:ext>
            </a:extLst>
          </p:cNvPr>
          <p:cNvSpPr/>
          <p:nvPr/>
        </p:nvSpPr>
        <p:spPr>
          <a:xfrm>
            <a:off x="10237942" y="4610194"/>
            <a:ext cx="914400" cy="9144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i="1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078A07F-9884-5CB0-2454-D2711F18E3F3}"/>
              </a:ext>
            </a:extLst>
          </p:cNvPr>
          <p:cNvSpPr txBox="1"/>
          <p:nvPr/>
        </p:nvSpPr>
        <p:spPr>
          <a:xfrm>
            <a:off x="10237942" y="488272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 err="1">
                <a:solidFill>
                  <a:schemeClr val="bg1"/>
                </a:solidFill>
              </a:rPr>
              <a:t>Rmd</a:t>
            </a:r>
            <a:endParaRPr lang="en-GB" i="1" dirty="0">
              <a:solidFill>
                <a:schemeClr val="bg1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449F48DF-3A1B-0496-69B3-D835FB270B8A}"/>
              </a:ext>
            </a:extLst>
          </p:cNvPr>
          <p:cNvSpPr/>
          <p:nvPr/>
        </p:nvSpPr>
        <p:spPr>
          <a:xfrm>
            <a:off x="9259871" y="5334187"/>
            <a:ext cx="914400" cy="9144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i="1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74C682B-76FF-1B81-3C61-B9FB4F7C1D2F}"/>
              </a:ext>
            </a:extLst>
          </p:cNvPr>
          <p:cNvSpPr txBox="1"/>
          <p:nvPr/>
        </p:nvSpPr>
        <p:spPr>
          <a:xfrm>
            <a:off x="9259871" y="5606721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>
                <a:solidFill>
                  <a:schemeClr val="bg1"/>
                </a:solidFill>
              </a:rPr>
              <a:t>Quarto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FDE52046-FA84-32EA-B1F7-569F6E57539C}"/>
              </a:ext>
            </a:extLst>
          </p:cNvPr>
          <p:cNvSpPr/>
          <p:nvPr/>
        </p:nvSpPr>
        <p:spPr>
          <a:xfrm>
            <a:off x="3209800" y="4692321"/>
            <a:ext cx="914400" cy="9144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i="1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AA26530-F6ED-A8B6-2247-083781A7DB3B}"/>
              </a:ext>
            </a:extLst>
          </p:cNvPr>
          <p:cNvSpPr txBox="1"/>
          <p:nvPr/>
        </p:nvSpPr>
        <p:spPr>
          <a:xfrm>
            <a:off x="3209800" y="496485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>
                <a:solidFill>
                  <a:schemeClr val="bg1"/>
                </a:solidFill>
              </a:rPr>
              <a:t>Git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38D5E56B-4D08-63C8-4760-6A1CD4B43AE6}"/>
              </a:ext>
            </a:extLst>
          </p:cNvPr>
          <p:cNvSpPr/>
          <p:nvPr/>
        </p:nvSpPr>
        <p:spPr>
          <a:xfrm>
            <a:off x="4124200" y="5334187"/>
            <a:ext cx="914400" cy="9144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i="1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13F813D2-F1E7-5C04-F2E6-F7A7FE8240AE}"/>
              </a:ext>
            </a:extLst>
          </p:cNvPr>
          <p:cNvSpPr txBox="1"/>
          <p:nvPr/>
        </p:nvSpPr>
        <p:spPr>
          <a:xfrm>
            <a:off x="4124200" y="5606721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>
                <a:solidFill>
                  <a:schemeClr val="bg1"/>
                </a:solidFill>
              </a:rPr>
              <a:t>GitHub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9E140F5E-2816-2262-76F1-76FE605B0C95}"/>
              </a:ext>
            </a:extLst>
          </p:cNvPr>
          <p:cNvSpPr/>
          <p:nvPr/>
        </p:nvSpPr>
        <p:spPr>
          <a:xfrm>
            <a:off x="5255194" y="5334187"/>
            <a:ext cx="914400" cy="9144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i="1" dirty="0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2C3AF082-DA68-20FF-B2A0-F25E4946AA1F}"/>
              </a:ext>
            </a:extLst>
          </p:cNvPr>
          <p:cNvSpPr txBox="1"/>
          <p:nvPr/>
        </p:nvSpPr>
        <p:spPr>
          <a:xfrm>
            <a:off x="5255194" y="5606721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>
                <a:solidFill>
                  <a:schemeClr val="bg1"/>
                </a:solidFill>
              </a:rPr>
              <a:t>GitLab</a:t>
            </a:r>
          </a:p>
        </p:txBody>
      </p:sp>
    </p:spTree>
    <p:extLst>
      <p:ext uri="{BB962C8B-B14F-4D97-AF65-F5344CB8AC3E}">
        <p14:creationId xmlns:p14="http://schemas.microsoft.com/office/powerpoint/2010/main" val="4032015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57331-A0A3-D399-6AEC-BBEB3825E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8341E237-715A-4F55-592D-5FFD70649FAE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7BDE3AE0-A022-EB69-5BC9-6A536D1573EA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SHARING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7B2B732F-3727-091C-4BBF-56835032B654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20E845E9-BB31-3613-A6E9-C80BC16A611D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F42D8F99-93A2-4F70-D53A-EC2791B8B2B7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070909AD-7206-65AF-9C6D-E3BA76F1F3E8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258B081D-2275-9B3D-0198-AD1127B1AE29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4540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A0D39-FC45-C40C-0EF3-54575E9FF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0546DAC8-38C6-E2BE-7F95-A1BA9BE48A3E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C7EDFA54-6BB6-CB3B-D88B-C7086C17B80C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SHARING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0422C8E8-6D76-A6F1-F505-A9BA8956C473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6C9E6044-FAB6-5C21-EBC3-34BBAC287491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73364D75-4E6D-5494-1795-1200736B733B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65FC2352-00CE-B309-8C70-F69EAD768613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BF62C96C-8B87-E8DA-DBB5-C6B9285BCAEA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EC58A836-0548-6785-6C79-9489ED9E7BAB}"/>
              </a:ext>
            </a:extLst>
          </p:cNvPr>
          <p:cNvSpPr txBox="1"/>
          <p:nvPr/>
        </p:nvSpPr>
        <p:spPr>
          <a:xfrm>
            <a:off x="5598254" y="307072"/>
            <a:ext cx="39112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Research</a:t>
            </a:r>
            <a:r>
              <a:rPr lang="en-GB" sz="2000" b="1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Compendium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A432476-0E42-202F-1CE5-680F20C8D496}"/>
              </a:ext>
            </a:extLst>
          </p:cNvPr>
          <p:cNvSpPr/>
          <p:nvPr/>
        </p:nvSpPr>
        <p:spPr>
          <a:xfrm>
            <a:off x="4983253" y="743857"/>
            <a:ext cx="5263832" cy="26851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54" name="Groupe 53">
            <a:extLst>
              <a:ext uri="{FF2B5EF4-FFF2-40B4-BE49-F238E27FC236}">
                <a16:creationId xmlns:a16="http://schemas.microsoft.com/office/drawing/2014/main" id="{49382A84-5C02-B203-3723-8504CEA40227}"/>
              </a:ext>
            </a:extLst>
          </p:cNvPr>
          <p:cNvGrpSpPr/>
          <p:nvPr/>
        </p:nvGrpSpPr>
        <p:grpSpPr>
          <a:xfrm>
            <a:off x="4983253" y="929648"/>
            <a:ext cx="4957581" cy="2373002"/>
            <a:chOff x="151447" y="3269785"/>
            <a:chExt cx="4957581" cy="2373002"/>
          </a:xfrm>
        </p:grpSpPr>
        <p:pic>
          <p:nvPicPr>
            <p:cNvPr id="40" name="Graphique 39" descr="Dossier ouvert avec un remplissage uni">
              <a:extLst>
                <a:ext uri="{FF2B5EF4-FFF2-40B4-BE49-F238E27FC236}">
                  <a16:creationId xmlns:a16="http://schemas.microsoft.com/office/drawing/2014/main" id="{C519A876-1738-FD92-7480-EFDB50F4C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18937" y="4023969"/>
              <a:ext cx="700315" cy="700315"/>
            </a:xfrm>
            <a:prstGeom prst="rect">
              <a:avLst/>
            </a:prstGeom>
          </p:spPr>
        </p:pic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992F2D77-C0DB-42FA-17F0-43CDB0BDBB01}"/>
                </a:ext>
              </a:extLst>
            </p:cNvPr>
            <p:cNvSpPr txBox="1"/>
            <p:nvPr/>
          </p:nvSpPr>
          <p:spPr>
            <a:xfrm>
              <a:off x="151447" y="4180114"/>
              <a:ext cx="1867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b="1" dirty="0"/>
                <a:t>Reproducibility</a:t>
              </a:r>
            </a:p>
          </p:txBody>
        </p:sp>
        <p:pic>
          <p:nvPicPr>
            <p:cNvPr id="42" name="Graphique 41" descr="Dossier ouvert avec un remplissage uni">
              <a:extLst>
                <a:ext uri="{FF2B5EF4-FFF2-40B4-BE49-F238E27FC236}">
                  <a16:creationId xmlns:a16="http://schemas.microsoft.com/office/drawing/2014/main" id="{517FFB04-D850-F9B5-D090-A2E4A963C3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18120" y="3269785"/>
              <a:ext cx="525086" cy="525086"/>
            </a:xfrm>
            <a:prstGeom prst="rect">
              <a:avLst/>
            </a:prstGeom>
          </p:spPr>
        </p:pic>
        <p:pic>
          <p:nvPicPr>
            <p:cNvPr id="43" name="Graphique 42" descr="Dossier ouvert avec un remplissage uni">
              <a:extLst>
                <a:ext uri="{FF2B5EF4-FFF2-40B4-BE49-F238E27FC236}">
                  <a16:creationId xmlns:a16="http://schemas.microsoft.com/office/drawing/2014/main" id="{F611EEC2-1CE5-5B43-1D97-BB7F3FF19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18120" y="3839694"/>
              <a:ext cx="525086" cy="525086"/>
            </a:xfrm>
            <a:prstGeom prst="rect">
              <a:avLst/>
            </a:prstGeom>
          </p:spPr>
        </p:pic>
        <p:pic>
          <p:nvPicPr>
            <p:cNvPr id="44" name="Graphique 43" descr="Dossier ouvert avec un remplissage uni">
              <a:extLst>
                <a:ext uri="{FF2B5EF4-FFF2-40B4-BE49-F238E27FC236}">
                  <a16:creationId xmlns:a16="http://schemas.microsoft.com/office/drawing/2014/main" id="{2953C685-38FC-A1F9-7B39-CCCEBD60F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18120" y="4452394"/>
              <a:ext cx="525086" cy="525086"/>
            </a:xfrm>
            <a:prstGeom prst="rect">
              <a:avLst/>
            </a:prstGeom>
          </p:spPr>
        </p:pic>
        <p:pic>
          <p:nvPicPr>
            <p:cNvPr id="46" name="Graphique 45" descr="Papier avec un remplissage uni">
              <a:extLst>
                <a:ext uri="{FF2B5EF4-FFF2-40B4-BE49-F238E27FC236}">
                  <a16:creationId xmlns:a16="http://schemas.microsoft.com/office/drawing/2014/main" id="{1A41DD47-9CB3-75A2-4359-710ECF129B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65513" y="5065094"/>
              <a:ext cx="577693" cy="577693"/>
            </a:xfrm>
            <a:prstGeom prst="rect">
              <a:avLst/>
            </a:prstGeom>
          </p:spPr>
        </p:pic>
        <p:cxnSp>
          <p:nvCxnSpPr>
            <p:cNvPr id="48" name="Connecteur droit 47">
              <a:extLst>
                <a:ext uri="{FF2B5EF4-FFF2-40B4-BE49-F238E27FC236}">
                  <a16:creationId xmlns:a16="http://schemas.microsoft.com/office/drawing/2014/main" id="{074C3E9A-BFDA-894B-0DEE-230BB9CCB88D}"/>
                </a:ext>
              </a:extLst>
            </p:cNvPr>
            <p:cNvCxnSpPr>
              <a:stCxn id="40" idx="3"/>
              <a:endCxn id="42" idx="1"/>
            </p:cNvCxnSpPr>
            <p:nvPr/>
          </p:nvCxnSpPr>
          <p:spPr>
            <a:xfrm flipV="1">
              <a:off x="2719252" y="3532328"/>
              <a:ext cx="798868" cy="84179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7E27AC73-639E-3877-2153-76B7CFEC9C6F}"/>
                </a:ext>
              </a:extLst>
            </p:cNvPr>
            <p:cNvCxnSpPr>
              <a:cxnSpLocks/>
            </p:cNvCxnSpPr>
            <p:nvPr/>
          </p:nvCxnSpPr>
          <p:spPr>
            <a:xfrm>
              <a:off x="2719252" y="4383583"/>
              <a:ext cx="798868" cy="84179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57E40A65-B99D-1988-F9AE-858CCF8E169A}"/>
                </a:ext>
              </a:extLst>
            </p:cNvPr>
            <p:cNvSpPr txBox="1"/>
            <p:nvPr/>
          </p:nvSpPr>
          <p:spPr>
            <a:xfrm>
              <a:off x="4043206" y="3371186"/>
              <a:ext cx="7292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Data</a:t>
              </a:r>
            </a:p>
          </p:txBody>
        </p:sp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B2EA4938-52F9-DDFF-A31B-EF3AEAFEF872}"/>
                </a:ext>
              </a:extLst>
            </p:cNvPr>
            <p:cNvSpPr txBox="1"/>
            <p:nvPr/>
          </p:nvSpPr>
          <p:spPr>
            <a:xfrm>
              <a:off x="4043206" y="3916008"/>
              <a:ext cx="7292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R</a:t>
              </a:r>
            </a:p>
          </p:txBody>
        </p:sp>
        <p:sp>
          <p:nvSpPr>
            <p:cNvPr id="52" name="ZoneTexte 51">
              <a:extLst>
                <a:ext uri="{FF2B5EF4-FFF2-40B4-BE49-F238E27FC236}">
                  <a16:creationId xmlns:a16="http://schemas.microsoft.com/office/drawing/2014/main" id="{927A9959-9360-67B4-A9CA-8DB1124DA407}"/>
                </a:ext>
              </a:extLst>
            </p:cNvPr>
            <p:cNvSpPr txBox="1"/>
            <p:nvPr/>
          </p:nvSpPr>
          <p:spPr>
            <a:xfrm>
              <a:off x="4043205" y="4549446"/>
              <a:ext cx="10658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Results</a:t>
              </a:r>
            </a:p>
          </p:txBody>
        </p:sp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587EE85B-3AD0-0481-5C40-9E43B22FB52B}"/>
                </a:ext>
              </a:extLst>
            </p:cNvPr>
            <p:cNvSpPr txBox="1"/>
            <p:nvPr/>
          </p:nvSpPr>
          <p:spPr>
            <a:xfrm>
              <a:off x="4043204" y="5182884"/>
              <a:ext cx="10658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.</a:t>
              </a:r>
              <a:r>
                <a:rPr lang="en-GB" dirty="0" err="1"/>
                <a:t>Rproj</a:t>
              </a:r>
              <a:endParaRPr lang="en-GB" dirty="0"/>
            </a:p>
          </p:txBody>
        </p: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CF5BC916-311F-3E6D-1912-1239CF5B3F92}"/>
              </a:ext>
            </a:extLst>
          </p:cNvPr>
          <p:cNvSpPr/>
          <p:nvPr/>
        </p:nvSpPr>
        <p:spPr>
          <a:xfrm>
            <a:off x="8340861" y="929648"/>
            <a:ext cx="1306989" cy="5250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6676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1F08D-CB73-EA40-C53E-FF0FFA280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10D19AA7-4C3C-4AF4-72CF-82F60A62A82F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3AD8FBF5-8F69-AB9C-F2B5-E7618CD133EE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SHARING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4F4BC475-3B80-E0AE-A048-EF76CFD5B22D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ADB5A5E2-DEEF-74DF-7367-270D11522F26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A95A1823-FA41-2C9C-D07B-78C331E469C8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79F2DCC3-BC88-A924-5847-002FC0E2DFA9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5AB7A588-9BD5-A7C6-D37E-72E4D6AD21DF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64A3B85-D990-254C-3079-519AC9660B25}"/>
              </a:ext>
            </a:extLst>
          </p:cNvPr>
          <p:cNvSpPr txBox="1"/>
          <p:nvPr/>
        </p:nvSpPr>
        <p:spPr>
          <a:xfrm>
            <a:off x="5598254" y="307072"/>
            <a:ext cx="39112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Research</a:t>
            </a:r>
            <a:r>
              <a:rPr lang="en-GB" sz="2000" b="1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Compendium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8CDB436-E10E-A955-FBD5-B5E29CF1C7BE}"/>
              </a:ext>
            </a:extLst>
          </p:cNvPr>
          <p:cNvSpPr/>
          <p:nvPr/>
        </p:nvSpPr>
        <p:spPr>
          <a:xfrm>
            <a:off x="4983253" y="743857"/>
            <a:ext cx="5263832" cy="26851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54" name="Groupe 53">
            <a:extLst>
              <a:ext uri="{FF2B5EF4-FFF2-40B4-BE49-F238E27FC236}">
                <a16:creationId xmlns:a16="http://schemas.microsoft.com/office/drawing/2014/main" id="{C29B5F5C-370D-2E76-6CFF-1BE76B32F487}"/>
              </a:ext>
            </a:extLst>
          </p:cNvPr>
          <p:cNvGrpSpPr/>
          <p:nvPr/>
        </p:nvGrpSpPr>
        <p:grpSpPr>
          <a:xfrm>
            <a:off x="4983253" y="929648"/>
            <a:ext cx="4957581" cy="2373002"/>
            <a:chOff x="151447" y="3269785"/>
            <a:chExt cx="4957581" cy="2373002"/>
          </a:xfrm>
        </p:grpSpPr>
        <p:pic>
          <p:nvPicPr>
            <p:cNvPr id="40" name="Graphique 39" descr="Dossier ouvert avec un remplissage uni">
              <a:extLst>
                <a:ext uri="{FF2B5EF4-FFF2-40B4-BE49-F238E27FC236}">
                  <a16:creationId xmlns:a16="http://schemas.microsoft.com/office/drawing/2014/main" id="{5C8487C1-375D-D739-D40E-7ADED49EB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18937" y="4023969"/>
              <a:ext cx="700315" cy="700315"/>
            </a:xfrm>
            <a:prstGeom prst="rect">
              <a:avLst/>
            </a:prstGeom>
          </p:spPr>
        </p:pic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D21D33C8-3C50-AD96-0CB7-2B74BB98939E}"/>
                </a:ext>
              </a:extLst>
            </p:cNvPr>
            <p:cNvSpPr txBox="1"/>
            <p:nvPr/>
          </p:nvSpPr>
          <p:spPr>
            <a:xfrm>
              <a:off x="151447" y="4180114"/>
              <a:ext cx="1867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b="1" dirty="0"/>
                <a:t>Reproducibility</a:t>
              </a:r>
            </a:p>
          </p:txBody>
        </p:sp>
        <p:pic>
          <p:nvPicPr>
            <p:cNvPr id="42" name="Graphique 41" descr="Dossier ouvert avec un remplissage uni">
              <a:extLst>
                <a:ext uri="{FF2B5EF4-FFF2-40B4-BE49-F238E27FC236}">
                  <a16:creationId xmlns:a16="http://schemas.microsoft.com/office/drawing/2014/main" id="{560123CD-FC15-0888-DD48-4A5F3040BD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18120" y="3269785"/>
              <a:ext cx="525086" cy="525086"/>
            </a:xfrm>
            <a:prstGeom prst="rect">
              <a:avLst/>
            </a:prstGeom>
          </p:spPr>
        </p:pic>
        <p:pic>
          <p:nvPicPr>
            <p:cNvPr id="43" name="Graphique 42" descr="Dossier ouvert avec un remplissage uni">
              <a:extLst>
                <a:ext uri="{FF2B5EF4-FFF2-40B4-BE49-F238E27FC236}">
                  <a16:creationId xmlns:a16="http://schemas.microsoft.com/office/drawing/2014/main" id="{23557801-712D-79FF-7F46-3A05F0C404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18120" y="3839694"/>
              <a:ext cx="525086" cy="525086"/>
            </a:xfrm>
            <a:prstGeom prst="rect">
              <a:avLst/>
            </a:prstGeom>
          </p:spPr>
        </p:pic>
        <p:pic>
          <p:nvPicPr>
            <p:cNvPr id="44" name="Graphique 43" descr="Dossier ouvert avec un remplissage uni">
              <a:extLst>
                <a:ext uri="{FF2B5EF4-FFF2-40B4-BE49-F238E27FC236}">
                  <a16:creationId xmlns:a16="http://schemas.microsoft.com/office/drawing/2014/main" id="{F753F42D-5FFC-CE98-1714-10AAA1024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18120" y="4452394"/>
              <a:ext cx="525086" cy="525086"/>
            </a:xfrm>
            <a:prstGeom prst="rect">
              <a:avLst/>
            </a:prstGeom>
          </p:spPr>
        </p:pic>
        <p:pic>
          <p:nvPicPr>
            <p:cNvPr id="46" name="Graphique 45" descr="Papier avec un remplissage uni">
              <a:extLst>
                <a:ext uri="{FF2B5EF4-FFF2-40B4-BE49-F238E27FC236}">
                  <a16:creationId xmlns:a16="http://schemas.microsoft.com/office/drawing/2014/main" id="{F23ADB0B-AC23-A8D6-A765-D5DF13D5EB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65513" y="5065094"/>
              <a:ext cx="577693" cy="577693"/>
            </a:xfrm>
            <a:prstGeom prst="rect">
              <a:avLst/>
            </a:prstGeom>
          </p:spPr>
        </p:pic>
        <p:cxnSp>
          <p:nvCxnSpPr>
            <p:cNvPr id="48" name="Connecteur droit 47">
              <a:extLst>
                <a:ext uri="{FF2B5EF4-FFF2-40B4-BE49-F238E27FC236}">
                  <a16:creationId xmlns:a16="http://schemas.microsoft.com/office/drawing/2014/main" id="{D3BF57CA-3CE8-42B0-E86B-4117A053D6B5}"/>
                </a:ext>
              </a:extLst>
            </p:cNvPr>
            <p:cNvCxnSpPr>
              <a:stCxn id="40" idx="3"/>
              <a:endCxn id="42" idx="1"/>
            </p:cNvCxnSpPr>
            <p:nvPr/>
          </p:nvCxnSpPr>
          <p:spPr>
            <a:xfrm flipV="1">
              <a:off x="2719252" y="3532328"/>
              <a:ext cx="798868" cy="84179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927F9067-5C1F-7383-A09C-0C77B9140C19}"/>
                </a:ext>
              </a:extLst>
            </p:cNvPr>
            <p:cNvCxnSpPr>
              <a:cxnSpLocks/>
            </p:cNvCxnSpPr>
            <p:nvPr/>
          </p:nvCxnSpPr>
          <p:spPr>
            <a:xfrm>
              <a:off x="2719252" y="4383583"/>
              <a:ext cx="798868" cy="84179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A74CF3FA-EB6F-742E-C269-AE7B6C20D926}"/>
                </a:ext>
              </a:extLst>
            </p:cNvPr>
            <p:cNvSpPr txBox="1"/>
            <p:nvPr/>
          </p:nvSpPr>
          <p:spPr>
            <a:xfrm>
              <a:off x="4043206" y="3371186"/>
              <a:ext cx="7292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Data</a:t>
              </a:r>
            </a:p>
          </p:txBody>
        </p:sp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2AFE9310-21BA-D00A-57AD-A0D4F2E13618}"/>
                </a:ext>
              </a:extLst>
            </p:cNvPr>
            <p:cNvSpPr txBox="1"/>
            <p:nvPr/>
          </p:nvSpPr>
          <p:spPr>
            <a:xfrm>
              <a:off x="4043206" y="3916008"/>
              <a:ext cx="7292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R</a:t>
              </a:r>
            </a:p>
          </p:txBody>
        </p:sp>
        <p:sp>
          <p:nvSpPr>
            <p:cNvPr id="52" name="ZoneTexte 51">
              <a:extLst>
                <a:ext uri="{FF2B5EF4-FFF2-40B4-BE49-F238E27FC236}">
                  <a16:creationId xmlns:a16="http://schemas.microsoft.com/office/drawing/2014/main" id="{A94E8259-3516-C633-A8B1-3AD50085CDA2}"/>
                </a:ext>
              </a:extLst>
            </p:cNvPr>
            <p:cNvSpPr txBox="1"/>
            <p:nvPr/>
          </p:nvSpPr>
          <p:spPr>
            <a:xfrm>
              <a:off x="4043205" y="4549446"/>
              <a:ext cx="10658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Results</a:t>
              </a:r>
            </a:p>
          </p:txBody>
        </p:sp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55FDBB1E-FE9F-7BFF-A245-86958A0E249A}"/>
                </a:ext>
              </a:extLst>
            </p:cNvPr>
            <p:cNvSpPr txBox="1"/>
            <p:nvPr/>
          </p:nvSpPr>
          <p:spPr>
            <a:xfrm>
              <a:off x="4043204" y="5182884"/>
              <a:ext cx="10658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.</a:t>
              </a:r>
              <a:r>
                <a:rPr lang="en-GB" dirty="0" err="1"/>
                <a:t>Rproj</a:t>
              </a:r>
              <a:endParaRPr lang="en-GB" dirty="0"/>
            </a:p>
          </p:txBody>
        </p: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66C82C89-1749-CF7B-974D-06A91D9DDD07}"/>
              </a:ext>
            </a:extLst>
          </p:cNvPr>
          <p:cNvSpPr/>
          <p:nvPr/>
        </p:nvSpPr>
        <p:spPr>
          <a:xfrm>
            <a:off x="8340861" y="929648"/>
            <a:ext cx="1306989" cy="5250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FE90F7-66C1-DA2C-96CC-3B20612D184A}"/>
              </a:ext>
            </a:extLst>
          </p:cNvPr>
          <p:cNvSpPr/>
          <p:nvPr/>
        </p:nvSpPr>
        <p:spPr>
          <a:xfrm>
            <a:off x="4983252" y="3465675"/>
            <a:ext cx="5263833" cy="1985407"/>
          </a:xfrm>
          <a:prstGeom prst="rect">
            <a:avLst/>
          </a:prstGeom>
          <a:solidFill>
            <a:srgbClr val="EF93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0" name="Graphique 19" descr="Dossier ouvert avec un remplissage uni">
            <a:extLst>
              <a:ext uri="{FF2B5EF4-FFF2-40B4-BE49-F238E27FC236}">
                <a16:creationId xmlns:a16="http://schemas.microsoft.com/office/drawing/2014/main" id="{F2663813-C980-84B3-947D-75999F89CB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49926" y="3550419"/>
            <a:ext cx="525086" cy="525086"/>
          </a:xfrm>
          <a:prstGeom prst="rect">
            <a:avLst/>
          </a:prstGeom>
        </p:spPr>
      </p:pic>
      <p:pic>
        <p:nvPicPr>
          <p:cNvPr id="21" name="Graphique 20" descr="Papier avec un remplissage uni">
            <a:extLst>
              <a:ext uri="{FF2B5EF4-FFF2-40B4-BE49-F238E27FC236}">
                <a16:creationId xmlns:a16="http://schemas.microsoft.com/office/drawing/2014/main" id="{61FBB5C6-D0D1-2948-EA90-28A75F00FE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97319" y="4507889"/>
            <a:ext cx="577693" cy="577693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C942858C-766A-36CF-DD73-543C2A5A3360}"/>
              </a:ext>
            </a:extLst>
          </p:cNvPr>
          <p:cNvSpPr txBox="1"/>
          <p:nvPr/>
        </p:nvSpPr>
        <p:spPr>
          <a:xfrm>
            <a:off x="8875010" y="3613666"/>
            <a:ext cx="1065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Docs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8EE67439-CB0D-FE93-D9C9-67B012E1CE26}"/>
              </a:ext>
            </a:extLst>
          </p:cNvPr>
          <p:cNvSpPr txBox="1"/>
          <p:nvPr/>
        </p:nvSpPr>
        <p:spPr>
          <a:xfrm>
            <a:off x="8875010" y="4655880"/>
            <a:ext cx="1372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README.txt</a:t>
            </a:r>
            <a:endParaRPr lang="en-GB" dirty="0"/>
          </a:p>
        </p:txBody>
      </p:sp>
      <p:pic>
        <p:nvPicPr>
          <p:cNvPr id="25" name="Graphique 24" descr="Dossier ouvert avec un remplissage uni">
            <a:extLst>
              <a:ext uri="{FF2B5EF4-FFF2-40B4-BE49-F238E27FC236}">
                <a16:creationId xmlns:a16="http://schemas.microsoft.com/office/drawing/2014/main" id="{9DCA228A-83A8-9CAA-EC42-7426257582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52426" y="3987629"/>
            <a:ext cx="525086" cy="52508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4995AE2C-F880-0D05-7A00-D74763FB8F0F}"/>
              </a:ext>
            </a:extLst>
          </p:cNvPr>
          <p:cNvSpPr txBox="1"/>
          <p:nvPr/>
        </p:nvSpPr>
        <p:spPr>
          <a:xfrm>
            <a:off x="8877510" y="4050876"/>
            <a:ext cx="136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ConfigFiles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4831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7C07D-C307-D117-F7FE-EFAA8C541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39F7F7BF-41B5-4867-D566-A231A2C23230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77155C00-3ADC-3D65-D325-0CB8FEE520C1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SHARING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8F2DA970-B952-9E8A-4A63-3F3A9FE19E43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19A3C5B2-DA72-B76E-97F6-437C28329AD8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9BDA5824-5A45-42BC-A1D6-1A340BC23399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A2A37BD0-2405-836D-AD4F-B1F0E9E2FA45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F2F0D724-4B55-7C73-94F2-EC4E341A8FB2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4797BAF-5D98-2916-F9D7-BD481C7301ED}"/>
              </a:ext>
            </a:extLst>
          </p:cNvPr>
          <p:cNvSpPr txBox="1"/>
          <p:nvPr/>
        </p:nvSpPr>
        <p:spPr>
          <a:xfrm>
            <a:off x="5598254" y="307072"/>
            <a:ext cx="39112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Research</a:t>
            </a:r>
            <a:r>
              <a:rPr lang="en-GB" sz="2000" b="1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Compendium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11264BE-1E19-681F-240C-E3717D785169}"/>
              </a:ext>
            </a:extLst>
          </p:cNvPr>
          <p:cNvSpPr/>
          <p:nvPr/>
        </p:nvSpPr>
        <p:spPr>
          <a:xfrm>
            <a:off x="4983253" y="743857"/>
            <a:ext cx="5263832" cy="26851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54" name="Groupe 53">
            <a:extLst>
              <a:ext uri="{FF2B5EF4-FFF2-40B4-BE49-F238E27FC236}">
                <a16:creationId xmlns:a16="http://schemas.microsoft.com/office/drawing/2014/main" id="{E7B6D188-450F-A5BB-7D11-8958140099EA}"/>
              </a:ext>
            </a:extLst>
          </p:cNvPr>
          <p:cNvGrpSpPr/>
          <p:nvPr/>
        </p:nvGrpSpPr>
        <p:grpSpPr>
          <a:xfrm>
            <a:off x="4983253" y="929648"/>
            <a:ext cx="4957581" cy="2373002"/>
            <a:chOff x="151447" y="3269785"/>
            <a:chExt cx="4957581" cy="2373002"/>
          </a:xfrm>
        </p:grpSpPr>
        <p:pic>
          <p:nvPicPr>
            <p:cNvPr id="40" name="Graphique 39" descr="Dossier ouvert avec un remplissage uni">
              <a:extLst>
                <a:ext uri="{FF2B5EF4-FFF2-40B4-BE49-F238E27FC236}">
                  <a16:creationId xmlns:a16="http://schemas.microsoft.com/office/drawing/2014/main" id="{99DA3817-0E46-F26A-7B43-C002743D4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18937" y="4023969"/>
              <a:ext cx="700315" cy="700315"/>
            </a:xfrm>
            <a:prstGeom prst="rect">
              <a:avLst/>
            </a:prstGeom>
          </p:spPr>
        </p:pic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0C74DB0F-565E-4BF6-6B1B-BCC3EB83FF24}"/>
                </a:ext>
              </a:extLst>
            </p:cNvPr>
            <p:cNvSpPr txBox="1"/>
            <p:nvPr/>
          </p:nvSpPr>
          <p:spPr>
            <a:xfrm>
              <a:off x="151447" y="4180114"/>
              <a:ext cx="1867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b="1" dirty="0"/>
                <a:t>Reproducibility</a:t>
              </a:r>
            </a:p>
          </p:txBody>
        </p:sp>
        <p:pic>
          <p:nvPicPr>
            <p:cNvPr id="42" name="Graphique 41" descr="Dossier ouvert avec un remplissage uni">
              <a:extLst>
                <a:ext uri="{FF2B5EF4-FFF2-40B4-BE49-F238E27FC236}">
                  <a16:creationId xmlns:a16="http://schemas.microsoft.com/office/drawing/2014/main" id="{88EBCEFC-8D4B-3C8B-A436-194971306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18120" y="3269785"/>
              <a:ext cx="525086" cy="525086"/>
            </a:xfrm>
            <a:prstGeom prst="rect">
              <a:avLst/>
            </a:prstGeom>
          </p:spPr>
        </p:pic>
        <p:pic>
          <p:nvPicPr>
            <p:cNvPr id="43" name="Graphique 42" descr="Dossier ouvert avec un remplissage uni">
              <a:extLst>
                <a:ext uri="{FF2B5EF4-FFF2-40B4-BE49-F238E27FC236}">
                  <a16:creationId xmlns:a16="http://schemas.microsoft.com/office/drawing/2014/main" id="{271CA4BD-27A7-C5F9-3899-1F1AAA919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18120" y="3839694"/>
              <a:ext cx="525086" cy="525086"/>
            </a:xfrm>
            <a:prstGeom prst="rect">
              <a:avLst/>
            </a:prstGeom>
          </p:spPr>
        </p:pic>
        <p:pic>
          <p:nvPicPr>
            <p:cNvPr id="44" name="Graphique 43" descr="Dossier ouvert avec un remplissage uni">
              <a:extLst>
                <a:ext uri="{FF2B5EF4-FFF2-40B4-BE49-F238E27FC236}">
                  <a16:creationId xmlns:a16="http://schemas.microsoft.com/office/drawing/2014/main" id="{1696E9CA-C6D1-E172-EA73-E9954E2EB7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18120" y="4452394"/>
              <a:ext cx="525086" cy="525086"/>
            </a:xfrm>
            <a:prstGeom prst="rect">
              <a:avLst/>
            </a:prstGeom>
          </p:spPr>
        </p:pic>
        <p:pic>
          <p:nvPicPr>
            <p:cNvPr id="46" name="Graphique 45" descr="Papier avec un remplissage uni">
              <a:extLst>
                <a:ext uri="{FF2B5EF4-FFF2-40B4-BE49-F238E27FC236}">
                  <a16:creationId xmlns:a16="http://schemas.microsoft.com/office/drawing/2014/main" id="{8004974C-D6DD-7770-61ED-6E4EC0A84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65513" y="5065094"/>
              <a:ext cx="577693" cy="577693"/>
            </a:xfrm>
            <a:prstGeom prst="rect">
              <a:avLst/>
            </a:prstGeom>
          </p:spPr>
        </p:pic>
        <p:cxnSp>
          <p:nvCxnSpPr>
            <p:cNvPr id="48" name="Connecteur droit 47">
              <a:extLst>
                <a:ext uri="{FF2B5EF4-FFF2-40B4-BE49-F238E27FC236}">
                  <a16:creationId xmlns:a16="http://schemas.microsoft.com/office/drawing/2014/main" id="{597776E2-D0C6-B70A-BD79-E43ABE2B2E41}"/>
                </a:ext>
              </a:extLst>
            </p:cNvPr>
            <p:cNvCxnSpPr>
              <a:stCxn id="40" idx="3"/>
              <a:endCxn id="42" idx="1"/>
            </p:cNvCxnSpPr>
            <p:nvPr/>
          </p:nvCxnSpPr>
          <p:spPr>
            <a:xfrm flipV="1">
              <a:off x="2719252" y="3532328"/>
              <a:ext cx="798868" cy="84179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7DE924EE-C162-5A3E-E016-74C94AC58B7A}"/>
                </a:ext>
              </a:extLst>
            </p:cNvPr>
            <p:cNvCxnSpPr>
              <a:cxnSpLocks/>
            </p:cNvCxnSpPr>
            <p:nvPr/>
          </p:nvCxnSpPr>
          <p:spPr>
            <a:xfrm>
              <a:off x="2719252" y="4383583"/>
              <a:ext cx="798868" cy="84179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07C9C85F-FA39-AC09-9C18-EF32915BE9EE}"/>
                </a:ext>
              </a:extLst>
            </p:cNvPr>
            <p:cNvSpPr txBox="1"/>
            <p:nvPr/>
          </p:nvSpPr>
          <p:spPr>
            <a:xfrm>
              <a:off x="4043206" y="3371186"/>
              <a:ext cx="7292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Data</a:t>
              </a:r>
            </a:p>
          </p:txBody>
        </p:sp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73FFE27A-4C9B-BBAC-16E1-91F7F0D0E57F}"/>
                </a:ext>
              </a:extLst>
            </p:cNvPr>
            <p:cNvSpPr txBox="1"/>
            <p:nvPr/>
          </p:nvSpPr>
          <p:spPr>
            <a:xfrm>
              <a:off x="4043206" y="3916008"/>
              <a:ext cx="7292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R</a:t>
              </a:r>
            </a:p>
          </p:txBody>
        </p:sp>
        <p:sp>
          <p:nvSpPr>
            <p:cNvPr id="52" name="ZoneTexte 51">
              <a:extLst>
                <a:ext uri="{FF2B5EF4-FFF2-40B4-BE49-F238E27FC236}">
                  <a16:creationId xmlns:a16="http://schemas.microsoft.com/office/drawing/2014/main" id="{0D532E58-5DA9-DFD2-2299-788AEA711947}"/>
                </a:ext>
              </a:extLst>
            </p:cNvPr>
            <p:cNvSpPr txBox="1"/>
            <p:nvPr/>
          </p:nvSpPr>
          <p:spPr>
            <a:xfrm>
              <a:off x="4043205" y="4549446"/>
              <a:ext cx="10658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Results</a:t>
              </a:r>
            </a:p>
          </p:txBody>
        </p:sp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58924F82-71AE-EC5F-B88E-30EA041E349C}"/>
                </a:ext>
              </a:extLst>
            </p:cNvPr>
            <p:cNvSpPr txBox="1"/>
            <p:nvPr/>
          </p:nvSpPr>
          <p:spPr>
            <a:xfrm>
              <a:off x="4043204" y="5182884"/>
              <a:ext cx="10658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.</a:t>
              </a:r>
              <a:r>
                <a:rPr lang="en-GB" dirty="0" err="1"/>
                <a:t>Rproj</a:t>
              </a:r>
              <a:endParaRPr lang="en-GB" dirty="0"/>
            </a:p>
          </p:txBody>
        </p: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F8573DA3-D08B-D830-ED67-2C1AD03B3E48}"/>
              </a:ext>
            </a:extLst>
          </p:cNvPr>
          <p:cNvSpPr/>
          <p:nvPr/>
        </p:nvSpPr>
        <p:spPr>
          <a:xfrm>
            <a:off x="8340861" y="929648"/>
            <a:ext cx="1306989" cy="5250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0856138A-BE9E-3E25-2A21-2FA4CCD5D0E1}"/>
              </a:ext>
            </a:extLst>
          </p:cNvPr>
          <p:cNvSpPr/>
          <p:nvPr/>
        </p:nvSpPr>
        <p:spPr>
          <a:xfrm>
            <a:off x="247135" y="3212079"/>
            <a:ext cx="4114800" cy="3547067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A0A884D-99C8-345A-8B59-6F0FA9CC4ACE}"/>
              </a:ext>
            </a:extLst>
          </p:cNvPr>
          <p:cNvSpPr txBox="1"/>
          <p:nvPr/>
        </p:nvSpPr>
        <p:spPr>
          <a:xfrm>
            <a:off x="1886518" y="3269048"/>
            <a:ext cx="729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Data</a:t>
            </a:r>
          </a:p>
        </p:txBody>
      </p:sp>
      <p:pic>
        <p:nvPicPr>
          <p:cNvPr id="7" name="Graphique 6" descr="Base de données contour">
            <a:extLst>
              <a:ext uri="{FF2B5EF4-FFF2-40B4-BE49-F238E27FC236}">
                <a16:creationId xmlns:a16="http://schemas.microsoft.com/office/drawing/2014/main" id="{429CC41D-37A1-465C-3CE2-84A029F698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1447" y="4090123"/>
            <a:ext cx="2004188" cy="200418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C69208A9-900F-6CD6-AD45-5D67FD08E6BB}"/>
              </a:ext>
            </a:extLst>
          </p:cNvPr>
          <p:cNvSpPr txBox="1"/>
          <p:nvPr/>
        </p:nvSpPr>
        <p:spPr>
          <a:xfrm>
            <a:off x="785087" y="3901085"/>
            <a:ext cx="729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RAW</a:t>
            </a:r>
          </a:p>
        </p:txBody>
      </p:sp>
      <p:pic>
        <p:nvPicPr>
          <p:cNvPr id="11" name="Graphique 10" descr="Base de données contour">
            <a:extLst>
              <a:ext uri="{FF2B5EF4-FFF2-40B4-BE49-F238E27FC236}">
                <a16:creationId xmlns:a16="http://schemas.microsoft.com/office/drawing/2014/main" id="{3F765735-17CA-3E21-9E99-33CC336815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43554" y="4090123"/>
            <a:ext cx="2004188" cy="2004188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7AA5A8A6-D86E-4345-616F-779DD6E19BC6}"/>
              </a:ext>
            </a:extLst>
          </p:cNvPr>
          <p:cNvSpPr txBox="1"/>
          <p:nvPr/>
        </p:nvSpPr>
        <p:spPr>
          <a:xfrm>
            <a:off x="2881883" y="3901085"/>
            <a:ext cx="729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TIDY</a:t>
            </a: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88C7B611-5ED3-D4EE-7F67-25BCCA8CEC05}"/>
              </a:ext>
            </a:extLst>
          </p:cNvPr>
          <p:cNvCxnSpPr/>
          <p:nvPr/>
        </p:nvCxnSpPr>
        <p:spPr>
          <a:xfrm>
            <a:off x="1916498" y="5092217"/>
            <a:ext cx="52689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Multiplication 17">
            <a:extLst>
              <a:ext uri="{FF2B5EF4-FFF2-40B4-BE49-F238E27FC236}">
                <a16:creationId xmlns:a16="http://schemas.microsoft.com/office/drawing/2014/main" id="{13601F20-25B1-6E4F-B036-8CDE7EA93AA7}"/>
              </a:ext>
            </a:extLst>
          </p:cNvPr>
          <p:cNvSpPr/>
          <p:nvPr/>
        </p:nvSpPr>
        <p:spPr>
          <a:xfrm>
            <a:off x="1948393" y="3812962"/>
            <a:ext cx="2594510" cy="2594510"/>
          </a:xfrm>
          <a:prstGeom prst="mathMultiply">
            <a:avLst>
              <a:gd name="adj1" fmla="val 6751"/>
            </a:avLst>
          </a:prstGeom>
          <a:solidFill>
            <a:srgbClr val="CA32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DC26D4-87CC-58F1-B161-C8694FBB0204}"/>
              </a:ext>
            </a:extLst>
          </p:cNvPr>
          <p:cNvSpPr/>
          <p:nvPr/>
        </p:nvSpPr>
        <p:spPr>
          <a:xfrm>
            <a:off x="4983252" y="3465675"/>
            <a:ext cx="5263833" cy="1985407"/>
          </a:xfrm>
          <a:prstGeom prst="rect">
            <a:avLst/>
          </a:prstGeom>
          <a:solidFill>
            <a:srgbClr val="EF93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0" name="Graphique 19" descr="Dossier ouvert avec un remplissage uni">
            <a:extLst>
              <a:ext uri="{FF2B5EF4-FFF2-40B4-BE49-F238E27FC236}">
                <a16:creationId xmlns:a16="http://schemas.microsoft.com/office/drawing/2014/main" id="{B8FD1A68-D0D6-055A-2B29-9AC471232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49926" y="3550419"/>
            <a:ext cx="525086" cy="525086"/>
          </a:xfrm>
          <a:prstGeom prst="rect">
            <a:avLst/>
          </a:prstGeom>
        </p:spPr>
      </p:pic>
      <p:pic>
        <p:nvPicPr>
          <p:cNvPr id="21" name="Graphique 20" descr="Papier avec un remplissage uni">
            <a:extLst>
              <a:ext uri="{FF2B5EF4-FFF2-40B4-BE49-F238E27FC236}">
                <a16:creationId xmlns:a16="http://schemas.microsoft.com/office/drawing/2014/main" id="{B7F56C4B-9AD3-7704-FA98-D2321AD14B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97319" y="4507889"/>
            <a:ext cx="577693" cy="577693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EDFCEC22-F329-60FC-C570-484136A95234}"/>
              </a:ext>
            </a:extLst>
          </p:cNvPr>
          <p:cNvSpPr txBox="1"/>
          <p:nvPr/>
        </p:nvSpPr>
        <p:spPr>
          <a:xfrm>
            <a:off x="8875010" y="3613666"/>
            <a:ext cx="1065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Docs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D451DBA6-EEAB-6C9E-B374-AF278C40167A}"/>
              </a:ext>
            </a:extLst>
          </p:cNvPr>
          <p:cNvSpPr txBox="1"/>
          <p:nvPr/>
        </p:nvSpPr>
        <p:spPr>
          <a:xfrm>
            <a:off x="8875010" y="4655880"/>
            <a:ext cx="1372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README.txt</a:t>
            </a:r>
            <a:endParaRPr lang="en-GB" dirty="0"/>
          </a:p>
        </p:txBody>
      </p:sp>
      <p:pic>
        <p:nvPicPr>
          <p:cNvPr id="25" name="Graphique 24" descr="Dossier ouvert avec un remplissage uni">
            <a:extLst>
              <a:ext uri="{FF2B5EF4-FFF2-40B4-BE49-F238E27FC236}">
                <a16:creationId xmlns:a16="http://schemas.microsoft.com/office/drawing/2014/main" id="{0E9402AA-133C-9329-0E04-3A5C144E8E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52426" y="3987629"/>
            <a:ext cx="525086" cy="52508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73DD5B10-EDE2-69C4-F4D5-E574EE7B1EE0}"/>
              </a:ext>
            </a:extLst>
          </p:cNvPr>
          <p:cNvSpPr txBox="1"/>
          <p:nvPr/>
        </p:nvSpPr>
        <p:spPr>
          <a:xfrm>
            <a:off x="8877510" y="4050876"/>
            <a:ext cx="136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ConfigFiles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7237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43E2D-AA8D-C190-89C6-466DD257E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E43C3DA6-F53E-1D38-2398-803F71D27928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5BB41087-B929-7873-3C4E-1F89F69143BB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SHARING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1EA521E7-C317-129B-D849-D2F6CC7067F4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21187CC7-14DC-23D9-69D9-B6C25A6D26DA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2DAAB16C-E645-B884-9B7C-3F6A75F7765D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100F34D6-DB8A-2636-742B-1B255A6A0917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563E6566-F0DD-E51F-6ECC-400B14C85F3F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F607BF4-2A8D-8307-C916-65E2EA5E4333}"/>
              </a:ext>
            </a:extLst>
          </p:cNvPr>
          <p:cNvSpPr/>
          <p:nvPr/>
        </p:nvSpPr>
        <p:spPr>
          <a:xfrm>
            <a:off x="4983253" y="743857"/>
            <a:ext cx="5263832" cy="26851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54" name="Groupe 53">
            <a:extLst>
              <a:ext uri="{FF2B5EF4-FFF2-40B4-BE49-F238E27FC236}">
                <a16:creationId xmlns:a16="http://schemas.microsoft.com/office/drawing/2014/main" id="{182F7A60-6F85-B220-A272-195BE9D0CE24}"/>
              </a:ext>
            </a:extLst>
          </p:cNvPr>
          <p:cNvGrpSpPr/>
          <p:nvPr/>
        </p:nvGrpSpPr>
        <p:grpSpPr>
          <a:xfrm>
            <a:off x="4983253" y="929648"/>
            <a:ext cx="4957581" cy="2373002"/>
            <a:chOff x="151447" y="3269785"/>
            <a:chExt cx="4957581" cy="2373002"/>
          </a:xfrm>
        </p:grpSpPr>
        <p:pic>
          <p:nvPicPr>
            <p:cNvPr id="40" name="Graphique 39" descr="Dossier ouvert avec un remplissage uni">
              <a:extLst>
                <a:ext uri="{FF2B5EF4-FFF2-40B4-BE49-F238E27FC236}">
                  <a16:creationId xmlns:a16="http://schemas.microsoft.com/office/drawing/2014/main" id="{26DC3120-B5A6-08F4-B0E8-4EDDE5347C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18937" y="4023969"/>
              <a:ext cx="700315" cy="700315"/>
            </a:xfrm>
            <a:prstGeom prst="rect">
              <a:avLst/>
            </a:prstGeom>
          </p:spPr>
        </p:pic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A6226331-B56E-3DA2-2A8D-44181056FB6E}"/>
                </a:ext>
              </a:extLst>
            </p:cNvPr>
            <p:cNvSpPr txBox="1"/>
            <p:nvPr/>
          </p:nvSpPr>
          <p:spPr>
            <a:xfrm>
              <a:off x="151447" y="4180114"/>
              <a:ext cx="1867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b="1" dirty="0"/>
                <a:t>Reproducibility</a:t>
              </a:r>
            </a:p>
          </p:txBody>
        </p:sp>
        <p:pic>
          <p:nvPicPr>
            <p:cNvPr id="42" name="Graphique 41" descr="Dossier ouvert avec un remplissage uni">
              <a:extLst>
                <a:ext uri="{FF2B5EF4-FFF2-40B4-BE49-F238E27FC236}">
                  <a16:creationId xmlns:a16="http://schemas.microsoft.com/office/drawing/2014/main" id="{AC78F6CF-F218-8155-7340-F811BF9130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18120" y="3269785"/>
              <a:ext cx="525086" cy="525086"/>
            </a:xfrm>
            <a:prstGeom prst="rect">
              <a:avLst/>
            </a:prstGeom>
          </p:spPr>
        </p:pic>
        <p:pic>
          <p:nvPicPr>
            <p:cNvPr id="43" name="Graphique 42" descr="Dossier ouvert avec un remplissage uni">
              <a:extLst>
                <a:ext uri="{FF2B5EF4-FFF2-40B4-BE49-F238E27FC236}">
                  <a16:creationId xmlns:a16="http://schemas.microsoft.com/office/drawing/2014/main" id="{712F411C-5518-311C-9047-7387D498B6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18120" y="3839694"/>
              <a:ext cx="525086" cy="525086"/>
            </a:xfrm>
            <a:prstGeom prst="rect">
              <a:avLst/>
            </a:prstGeom>
          </p:spPr>
        </p:pic>
        <p:pic>
          <p:nvPicPr>
            <p:cNvPr id="44" name="Graphique 43" descr="Dossier ouvert avec un remplissage uni">
              <a:extLst>
                <a:ext uri="{FF2B5EF4-FFF2-40B4-BE49-F238E27FC236}">
                  <a16:creationId xmlns:a16="http://schemas.microsoft.com/office/drawing/2014/main" id="{91AD4FF2-1752-8A73-A6ED-E7B6EBDA7D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18120" y="4452394"/>
              <a:ext cx="525086" cy="525086"/>
            </a:xfrm>
            <a:prstGeom prst="rect">
              <a:avLst/>
            </a:prstGeom>
          </p:spPr>
        </p:pic>
        <p:pic>
          <p:nvPicPr>
            <p:cNvPr id="46" name="Graphique 45" descr="Papier avec un remplissage uni">
              <a:extLst>
                <a:ext uri="{FF2B5EF4-FFF2-40B4-BE49-F238E27FC236}">
                  <a16:creationId xmlns:a16="http://schemas.microsoft.com/office/drawing/2014/main" id="{C76219EA-A2CF-ABB7-64F2-52AF84E875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65513" y="5065094"/>
              <a:ext cx="577693" cy="577693"/>
            </a:xfrm>
            <a:prstGeom prst="rect">
              <a:avLst/>
            </a:prstGeom>
          </p:spPr>
        </p:pic>
        <p:cxnSp>
          <p:nvCxnSpPr>
            <p:cNvPr id="48" name="Connecteur droit 47">
              <a:extLst>
                <a:ext uri="{FF2B5EF4-FFF2-40B4-BE49-F238E27FC236}">
                  <a16:creationId xmlns:a16="http://schemas.microsoft.com/office/drawing/2014/main" id="{D17A1D00-E4DF-2C07-98AF-001AFD5E0BC3}"/>
                </a:ext>
              </a:extLst>
            </p:cNvPr>
            <p:cNvCxnSpPr>
              <a:stCxn id="40" idx="3"/>
              <a:endCxn id="42" idx="1"/>
            </p:cNvCxnSpPr>
            <p:nvPr/>
          </p:nvCxnSpPr>
          <p:spPr>
            <a:xfrm flipV="1">
              <a:off x="2719252" y="3532328"/>
              <a:ext cx="798868" cy="84179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91A9A6B1-01A0-8B5A-16F8-7BB6BFB05370}"/>
                </a:ext>
              </a:extLst>
            </p:cNvPr>
            <p:cNvCxnSpPr>
              <a:cxnSpLocks/>
            </p:cNvCxnSpPr>
            <p:nvPr/>
          </p:nvCxnSpPr>
          <p:spPr>
            <a:xfrm>
              <a:off x="2719252" y="4383583"/>
              <a:ext cx="798868" cy="84179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230ED6A2-94A3-81A7-7C2A-72E88C6E250F}"/>
                </a:ext>
              </a:extLst>
            </p:cNvPr>
            <p:cNvSpPr txBox="1"/>
            <p:nvPr/>
          </p:nvSpPr>
          <p:spPr>
            <a:xfrm>
              <a:off x="4043206" y="3371186"/>
              <a:ext cx="7292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Data</a:t>
              </a:r>
            </a:p>
          </p:txBody>
        </p:sp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05D2BE6D-5E43-403F-957F-B0A35D920E27}"/>
                </a:ext>
              </a:extLst>
            </p:cNvPr>
            <p:cNvSpPr txBox="1"/>
            <p:nvPr/>
          </p:nvSpPr>
          <p:spPr>
            <a:xfrm>
              <a:off x="4043206" y="3916008"/>
              <a:ext cx="7292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R</a:t>
              </a:r>
            </a:p>
          </p:txBody>
        </p:sp>
        <p:sp>
          <p:nvSpPr>
            <p:cNvPr id="52" name="ZoneTexte 51">
              <a:extLst>
                <a:ext uri="{FF2B5EF4-FFF2-40B4-BE49-F238E27FC236}">
                  <a16:creationId xmlns:a16="http://schemas.microsoft.com/office/drawing/2014/main" id="{116B464E-9109-6246-790A-98FC013EF653}"/>
                </a:ext>
              </a:extLst>
            </p:cNvPr>
            <p:cNvSpPr txBox="1"/>
            <p:nvPr/>
          </p:nvSpPr>
          <p:spPr>
            <a:xfrm>
              <a:off x="4043205" y="4549446"/>
              <a:ext cx="10658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Results</a:t>
              </a:r>
            </a:p>
          </p:txBody>
        </p:sp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61ED6FEB-FEB4-F081-10D4-842CA4F7A6FA}"/>
                </a:ext>
              </a:extLst>
            </p:cNvPr>
            <p:cNvSpPr txBox="1"/>
            <p:nvPr/>
          </p:nvSpPr>
          <p:spPr>
            <a:xfrm>
              <a:off x="4043204" y="5182884"/>
              <a:ext cx="10658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.</a:t>
              </a:r>
              <a:r>
                <a:rPr lang="en-GB" dirty="0" err="1"/>
                <a:t>Rproj</a:t>
              </a:r>
              <a:endParaRPr lang="en-GB" dirty="0"/>
            </a:p>
          </p:txBody>
        </p: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E6923E12-F18D-1486-BA59-08065E0F6D8C}"/>
              </a:ext>
            </a:extLst>
          </p:cNvPr>
          <p:cNvSpPr/>
          <p:nvPr/>
        </p:nvSpPr>
        <p:spPr>
          <a:xfrm>
            <a:off x="8340861" y="929648"/>
            <a:ext cx="1306989" cy="5250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D3AA30FD-FC16-CC11-F85F-29FE213913B9}"/>
              </a:ext>
            </a:extLst>
          </p:cNvPr>
          <p:cNvSpPr/>
          <p:nvPr/>
        </p:nvSpPr>
        <p:spPr>
          <a:xfrm>
            <a:off x="247135" y="3212079"/>
            <a:ext cx="4114800" cy="3547067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5AC76EF-7B6B-933E-9EF2-7F1D1E24247F}"/>
              </a:ext>
            </a:extLst>
          </p:cNvPr>
          <p:cNvSpPr txBox="1"/>
          <p:nvPr/>
        </p:nvSpPr>
        <p:spPr>
          <a:xfrm>
            <a:off x="1886518" y="3269048"/>
            <a:ext cx="729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R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C693DD8-5D50-167C-4B89-3D0D740CB784}"/>
              </a:ext>
            </a:extLst>
          </p:cNvPr>
          <p:cNvSpPr txBox="1"/>
          <p:nvPr/>
        </p:nvSpPr>
        <p:spPr>
          <a:xfrm>
            <a:off x="904936" y="3750008"/>
            <a:ext cx="3312826" cy="2233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GB" dirty="0"/>
              <a:t>01-ImportAndTidy.R</a:t>
            </a:r>
          </a:p>
          <a:p>
            <a:pPr>
              <a:lnSpc>
                <a:spcPct val="200000"/>
              </a:lnSpc>
            </a:pPr>
            <a:r>
              <a:rPr lang="en-GB" dirty="0"/>
              <a:t>02-DataVizualisation.R</a:t>
            </a:r>
          </a:p>
          <a:p>
            <a:pPr>
              <a:lnSpc>
                <a:spcPct val="200000"/>
              </a:lnSpc>
            </a:pPr>
            <a:r>
              <a:rPr lang="en-GB" dirty="0"/>
              <a:t>03-StatisticalTest.R</a:t>
            </a:r>
          </a:p>
          <a:p>
            <a:pPr>
              <a:lnSpc>
                <a:spcPct val="200000"/>
              </a:lnSpc>
            </a:pPr>
            <a:r>
              <a:rPr lang="en-GB" dirty="0"/>
              <a:t>…</a:t>
            </a:r>
          </a:p>
        </p:txBody>
      </p:sp>
      <p:pic>
        <p:nvPicPr>
          <p:cNvPr id="15" name="Graphique 14" descr="Papier avec un remplissage uni">
            <a:extLst>
              <a:ext uri="{FF2B5EF4-FFF2-40B4-BE49-F238E27FC236}">
                <a16:creationId xmlns:a16="http://schemas.microsoft.com/office/drawing/2014/main" id="{C2E783B4-B6A4-972D-8F83-F87DD362BC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557" y="3833864"/>
            <a:ext cx="506854" cy="506854"/>
          </a:xfrm>
          <a:prstGeom prst="rect">
            <a:avLst/>
          </a:prstGeom>
        </p:spPr>
      </p:pic>
      <p:pic>
        <p:nvPicPr>
          <p:cNvPr id="19" name="Graphique 18" descr="Papier avec un remplissage uni">
            <a:extLst>
              <a:ext uri="{FF2B5EF4-FFF2-40B4-BE49-F238E27FC236}">
                <a16:creationId xmlns:a16="http://schemas.microsoft.com/office/drawing/2014/main" id="{CCAF4268-4E33-7C6F-895E-4BB508521D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557" y="4426399"/>
            <a:ext cx="506854" cy="506854"/>
          </a:xfrm>
          <a:prstGeom prst="rect">
            <a:avLst/>
          </a:prstGeom>
        </p:spPr>
      </p:pic>
      <p:pic>
        <p:nvPicPr>
          <p:cNvPr id="20" name="Graphique 19" descr="Papier avec un remplissage uni">
            <a:extLst>
              <a:ext uri="{FF2B5EF4-FFF2-40B4-BE49-F238E27FC236}">
                <a16:creationId xmlns:a16="http://schemas.microsoft.com/office/drawing/2014/main" id="{0AD2F104-98C2-9A9F-872C-1937186135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557" y="4989554"/>
            <a:ext cx="506854" cy="506854"/>
          </a:xfrm>
          <a:prstGeom prst="rect">
            <a:avLst/>
          </a:prstGeom>
        </p:spPr>
      </p:pic>
      <p:pic>
        <p:nvPicPr>
          <p:cNvPr id="21" name="Graphique 20" descr="Papier avec un remplissage uni">
            <a:extLst>
              <a:ext uri="{FF2B5EF4-FFF2-40B4-BE49-F238E27FC236}">
                <a16:creationId xmlns:a16="http://schemas.microsoft.com/office/drawing/2014/main" id="{E68E3B2D-F166-E8F6-FE43-76BF85607B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557" y="5554278"/>
            <a:ext cx="506854" cy="506854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751E18E2-161C-CCE9-20BF-CDCF3A772A29}"/>
              </a:ext>
            </a:extLst>
          </p:cNvPr>
          <p:cNvSpPr txBox="1"/>
          <p:nvPr/>
        </p:nvSpPr>
        <p:spPr>
          <a:xfrm>
            <a:off x="5598254" y="307072"/>
            <a:ext cx="39112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Research</a:t>
            </a:r>
            <a:r>
              <a:rPr lang="en-GB" sz="2000" b="1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Compendium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DEC5D6-3975-EEC8-8F23-E3B6BF2D6BC5}"/>
              </a:ext>
            </a:extLst>
          </p:cNvPr>
          <p:cNvSpPr/>
          <p:nvPr/>
        </p:nvSpPr>
        <p:spPr>
          <a:xfrm>
            <a:off x="4983252" y="3465675"/>
            <a:ext cx="5263833" cy="1985407"/>
          </a:xfrm>
          <a:prstGeom prst="rect">
            <a:avLst/>
          </a:prstGeom>
          <a:solidFill>
            <a:srgbClr val="EF93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5" name="Graphique 24" descr="Dossier ouvert avec un remplissage uni">
            <a:extLst>
              <a:ext uri="{FF2B5EF4-FFF2-40B4-BE49-F238E27FC236}">
                <a16:creationId xmlns:a16="http://schemas.microsoft.com/office/drawing/2014/main" id="{FC7CF1DA-C517-AA78-DF4B-444F78A8C9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49926" y="3550419"/>
            <a:ext cx="525086" cy="525086"/>
          </a:xfrm>
          <a:prstGeom prst="rect">
            <a:avLst/>
          </a:prstGeom>
        </p:spPr>
      </p:pic>
      <p:pic>
        <p:nvPicPr>
          <p:cNvPr id="26" name="Graphique 25" descr="Papier avec un remplissage uni">
            <a:extLst>
              <a:ext uri="{FF2B5EF4-FFF2-40B4-BE49-F238E27FC236}">
                <a16:creationId xmlns:a16="http://schemas.microsoft.com/office/drawing/2014/main" id="{60389ACA-AAC8-4628-C9EA-17DA93E851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97319" y="4507889"/>
            <a:ext cx="577693" cy="577693"/>
          </a:xfrm>
          <a:prstGeom prst="rect">
            <a:avLst/>
          </a:prstGeom>
        </p:spPr>
      </p:pic>
      <p:sp>
        <p:nvSpPr>
          <p:cNvPr id="27" name="ZoneTexte 26">
            <a:extLst>
              <a:ext uri="{FF2B5EF4-FFF2-40B4-BE49-F238E27FC236}">
                <a16:creationId xmlns:a16="http://schemas.microsoft.com/office/drawing/2014/main" id="{E17C638F-46E1-DE6A-22A4-6E190998A528}"/>
              </a:ext>
            </a:extLst>
          </p:cNvPr>
          <p:cNvSpPr txBox="1"/>
          <p:nvPr/>
        </p:nvSpPr>
        <p:spPr>
          <a:xfrm>
            <a:off x="8875010" y="3613666"/>
            <a:ext cx="1065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Docs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915E2697-CE8D-164E-D39F-6B372F9F7738}"/>
              </a:ext>
            </a:extLst>
          </p:cNvPr>
          <p:cNvSpPr txBox="1"/>
          <p:nvPr/>
        </p:nvSpPr>
        <p:spPr>
          <a:xfrm>
            <a:off x="8875010" y="4655880"/>
            <a:ext cx="1372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README.txt</a:t>
            </a:r>
            <a:endParaRPr lang="en-GB" dirty="0"/>
          </a:p>
        </p:txBody>
      </p:sp>
      <p:pic>
        <p:nvPicPr>
          <p:cNvPr id="29" name="Graphique 28" descr="Dossier ouvert avec un remplissage uni">
            <a:extLst>
              <a:ext uri="{FF2B5EF4-FFF2-40B4-BE49-F238E27FC236}">
                <a16:creationId xmlns:a16="http://schemas.microsoft.com/office/drawing/2014/main" id="{482B50BD-1CB1-5B82-E3E9-4A1619E8FC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52426" y="3987629"/>
            <a:ext cx="525086" cy="525086"/>
          </a:xfrm>
          <a:prstGeom prst="rect">
            <a:avLst/>
          </a:prstGeom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22F36641-8C51-BC99-0B2E-B5AFE5451E49}"/>
              </a:ext>
            </a:extLst>
          </p:cNvPr>
          <p:cNvSpPr txBox="1"/>
          <p:nvPr/>
        </p:nvSpPr>
        <p:spPr>
          <a:xfrm>
            <a:off x="8877510" y="4050876"/>
            <a:ext cx="136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ConfigFiles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2461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B9750-52F4-6657-03FB-C7ECC8945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B55A486D-8F64-640A-D288-191D63F85753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A26BB9C2-6DC7-6AB0-0F93-8FB79261EABC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SHARING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29D2D1AC-82CA-58C4-08B3-56D1D5DB0F4C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EB83BB63-E2EB-A617-3708-B812B22EDA86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436B4007-7592-24CC-4D12-0AC6AF9F7E3A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2D61110C-65B5-5283-87AB-F90A94209E7B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F715368E-4358-3920-46B9-4D4F83F4B7F4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A3FC5B8-B323-473C-90B9-05D8408C50B5}"/>
              </a:ext>
            </a:extLst>
          </p:cNvPr>
          <p:cNvSpPr/>
          <p:nvPr/>
        </p:nvSpPr>
        <p:spPr>
          <a:xfrm>
            <a:off x="4983253" y="743857"/>
            <a:ext cx="5263832" cy="26851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54" name="Groupe 53">
            <a:extLst>
              <a:ext uri="{FF2B5EF4-FFF2-40B4-BE49-F238E27FC236}">
                <a16:creationId xmlns:a16="http://schemas.microsoft.com/office/drawing/2014/main" id="{9AC9F54B-A4F9-E467-38C7-9F6875226400}"/>
              </a:ext>
            </a:extLst>
          </p:cNvPr>
          <p:cNvGrpSpPr/>
          <p:nvPr/>
        </p:nvGrpSpPr>
        <p:grpSpPr>
          <a:xfrm>
            <a:off x="4983253" y="929648"/>
            <a:ext cx="4957581" cy="2373002"/>
            <a:chOff x="151447" y="3269785"/>
            <a:chExt cx="4957581" cy="2373002"/>
          </a:xfrm>
        </p:grpSpPr>
        <p:pic>
          <p:nvPicPr>
            <p:cNvPr id="40" name="Graphique 39" descr="Dossier ouvert avec un remplissage uni">
              <a:extLst>
                <a:ext uri="{FF2B5EF4-FFF2-40B4-BE49-F238E27FC236}">
                  <a16:creationId xmlns:a16="http://schemas.microsoft.com/office/drawing/2014/main" id="{A37F4425-DD58-14D5-D69A-8C30EFAB8A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18937" y="4023969"/>
              <a:ext cx="700315" cy="700315"/>
            </a:xfrm>
            <a:prstGeom prst="rect">
              <a:avLst/>
            </a:prstGeom>
          </p:spPr>
        </p:pic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1B913771-5967-B253-BC75-E4CC561024AA}"/>
                </a:ext>
              </a:extLst>
            </p:cNvPr>
            <p:cNvSpPr txBox="1"/>
            <p:nvPr/>
          </p:nvSpPr>
          <p:spPr>
            <a:xfrm>
              <a:off x="151447" y="4180114"/>
              <a:ext cx="1867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b="1" dirty="0"/>
                <a:t>Reproducibility</a:t>
              </a:r>
            </a:p>
          </p:txBody>
        </p:sp>
        <p:pic>
          <p:nvPicPr>
            <p:cNvPr id="42" name="Graphique 41" descr="Dossier ouvert avec un remplissage uni">
              <a:extLst>
                <a:ext uri="{FF2B5EF4-FFF2-40B4-BE49-F238E27FC236}">
                  <a16:creationId xmlns:a16="http://schemas.microsoft.com/office/drawing/2014/main" id="{CE7506C5-AE45-AE85-F0E7-E0F1EF60B6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18120" y="3269785"/>
              <a:ext cx="525086" cy="525086"/>
            </a:xfrm>
            <a:prstGeom prst="rect">
              <a:avLst/>
            </a:prstGeom>
          </p:spPr>
        </p:pic>
        <p:pic>
          <p:nvPicPr>
            <p:cNvPr id="43" name="Graphique 42" descr="Dossier ouvert avec un remplissage uni">
              <a:extLst>
                <a:ext uri="{FF2B5EF4-FFF2-40B4-BE49-F238E27FC236}">
                  <a16:creationId xmlns:a16="http://schemas.microsoft.com/office/drawing/2014/main" id="{D39F7148-B8A4-A717-680D-8D08F69828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18120" y="3839694"/>
              <a:ext cx="525086" cy="525086"/>
            </a:xfrm>
            <a:prstGeom prst="rect">
              <a:avLst/>
            </a:prstGeom>
          </p:spPr>
        </p:pic>
        <p:pic>
          <p:nvPicPr>
            <p:cNvPr id="44" name="Graphique 43" descr="Dossier ouvert avec un remplissage uni">
              <a:extLst>
                <a:ext uri="{FF2B5EF4-FFF2-40B4-BE49-F238E27FC236}">
                  <a16:creationId xmlns:a16="http://schemas.microsoft.com/office/drawing/2014/main" id="{E80500DF-076F-D6E7-40C4-FB836DD92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18120" y="4452394"/>
              <a:ext cx="525086" cy="525086"/>
            </a:xfrm>
            <a:prstGeom prst="rect">
              <a:avLst/>
            </a:prstGeom>
          </p:spPr>
        </p:pic>
        <p:pic>
          <p:nvPicPr>
            <p:cNvPr id="46" name="Graphique 45" descr="Papier avec un remplissage uni">
              <a:extLst>
                <a:ext uri="{FF2B5EF4-FFF2-40B4-BE49-F238E27FC236}">
                  <a16:creationId xmlns:a16="http://schemas.microsoft.com/office/drawing/2014/main" id="{FCB70157-0B0F-7EFA-41D3-5425ACEF6E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65513" y="5065094"/>
              <a:ext cx="577693" cy="577693"/>
            </a:xfrm>
            <a:prstGeom prst="rect">
              <a:avLst/>
            </a:prstGeom>
          </p:spPr>
        </p:pic>
        <p:cxnSp>
          <p:nvCxnSpPr>
            <p:cNvPr id="48" name="Connecteur droit 47">
              <a:extLst>
                <a:ext uri="{FF2B5EF4-FFF2-40B4-BE49-F238E27FC236}">
                  <a16:creationId xmlns:a16="http://schemas.microsoft.com/office/drawing/2014/main" id="{3FCB79B0-A9EC-8BDD-99F3-F344B80A65EB}"/>
                </a:ext>
              </a:extLst>
            </p:cNvPr>
            <p:cNvCxnSpPr>
              <a:stCxn id="40" idx="3"/>
              <a:endCxn id="42" idx="1"/>
            </p:cNvCxnSpPr>
            <p:nvPr/>
          </p:nvCxnSpPr>
          <p:spPr>
            <a:xfrm flipV="1">
              <a:off x="2719252" y="3532328"/>
              <a:ext cx="798868" cy="84179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41BF3591-27ED-746A-00BB-39A026A404D1}"/>
                </a:ext>
              </a:extLst>
            </p:cNvPr>
            <p:cNvCxnSpPr>
              <a:cxnSpLocks/>
            </p:cNvCxnSpPr>
            <p:nvPr/>
          </p:nvCxnSpPr>
          <p:spPr>
            <a:xfrm>
              <a:off x="2719252" y="4383583"/>
              <a:ext cx="798868" cy="84179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30A30A0E-7303-E987-F5E3-3F29F20B0C10}"/>
                </a:ext>
              </a:extLst>
            </p:cNvPr>
            <p:cNvSpPr txBox="1"/>
            <p:nvPr/>
          </p:nvSpPr>
          <p:spPr>
            <a:xfrm>
              <a:off x="4043206" y="3371186"/>
              <a:ext cx="7292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Data</a:t>
              </a:r>
            </a:p>
          </p:txBody>
        </p:sp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6198A763-D942-66BC-9F0A-D611E344B191}"/>
                </a:ext>
              </a:extLst>
            </p:cNvPr>
            <p:cNvSpPr txBox="1"/>
            <p:nvPr/>
          </p:nvSpPr>
          <p:spPr>
            <a:xfrm>
              <a:off x="4043206" y="3916008"/>
              <a:ext cx="7292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R</a:t>
              </a:r>
            </a:p>
          </p:txBody>
        </p:sp>
        <p:sp>
          <p:nvSpPr>
            <p:cNvPr id="52" name="ZoneTexte 51">
              <a:extLst>
                <a:ext uri="{FF2B5EF4-FFF2-40B4-BE49-F238E27FC236}">
                  <a16:creationId xmlns:a16="http://schemas.microsoft.com/office/drawing/2014/main" id="{B513A355-5AD8-E75A-84CD-FE0E451F23CD}"/>
                </a:ext>
              </a:extLst>
            </p:cNvPr>
            <p:cNvSpPr txBox="1"/>
            <p:nvPr/>
          </p:nvSpPr>
          <p:spPr>
            <a:xfrm>
              <a:off x="4043205" y="4549446"/>
              <a:ext cx="10658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Results</a:t>
              </a:r>
            </a:p>
          </p:txBody>
        </p:sp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CF6B9EA8-A4A3-A55E-85C1-F85CAAD52C76}"/>
                </a:ext>
              </a:extLst>
            </p:cNvPr>
            <p:cNvSpPr txBox="1"/>
            <p:nvPr/>
          </p:nvSpPr>
          <p:spPr>
            <a:xfrm>
              <a:off x="4043204" y="5182884"/>
              <a:ext cx="10658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.</a:t>
              </a:r>
              <a:r>
                <a:rPr lang="en-GB" dirty="0" err="1"/>
                <a:t>Rproj</a:t>
              </a:r>
              <a:endParaRPr lang="en-GB" dirty="0"/>
            </a:p>
          </p:txBody>
        </p: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E21E4A97-08AE-989E-DC2E-DBC8592C3200}"/>
              </a:ext>
            </a:extLst>
          </p:cNvPr>
          <p:cNvSpPr/>
          <p:nvPr/>
        </p:nvSpPr>
        <p:spPr>
          <a:xfrm>
            <a:off x="8340861" y="929648"/>
            <a:ext cx="1306989" cy="5250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E50A5E2-2734-0B91-8AD5-18E969BAB434}"/>
              </a:ext>
            </a:extLst>
          </p:cNvPr>
          <p:cNvSpPr/>
          <p:nvPr/>
        </p:nvSpPr>
        <p:spPr>
          <a:xfrm>
            <a:off x="4983252" y="3465675"/>
            <a:ext cx="5263833" cy="1985407"/>
          </a:xfrm>
          <a:prstGeom prst="rect">
            <a:avLst/>
          </a:prstGeom>
          <a:solidFill>
            <a:srgbClr val="EF93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1" name="Graphique 60" descr="Dossier ouvert avec un remplissage uni">
            <a:extLst>
              <a:ext uri="{FF2B5EF4-FFF2-40B4-BE49-F238E27FC236}">
                <a16:creationId xmlns:a16="http://schemas.microsoft.com/office/drawing/2014/main" id="{170251CB-1EA6-3C01-4EF6-D71966C2CF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49926" y="3550419"/>
            <a:ext cx="525086" cy="525086"/>
          </a:xfrm>
          <a:prstGeom prst="rect">
            <a:avLst/>
          </a:prstGeom>
        </p:spPr>
      </p:pic>
      <p:pic>
        <p:nvPicPr>
          <p:cNvPr id="62" name="Graphique 61" descr="Papier avec un remplissage uni">
            <a:extLst>
              <a:ext uri="{FF2B5EF4-FFF2-40B4-BE49-F238E27FC236}">
                <a16:creationId xmlns:a16="http://schemas.microsoft.com/office/drawing/2014/main" id="{1A663EB7-FEA0-1E24-2916-6F81B98E65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97319" y="4507889"/>
            <a:ext cx="577693" cy="577693"/>
          </a:xfrm>
          <a:prstGeom prst="rect">
            <a:avLst/>
          </a:prstGeom>
        </p:spPr>
      </p:pic>
      <p:sp>
        <p:nvSpPr>
          <p:cNvPr id="63" name="ZoneTexte 62">
            <a:extLst>
              <a:ext uri="{FF2B5EF4-FFF2-40B4-BE49-F238E27FC236}">
                <a16:creationId xmlns:a16="http://schemas.microsoft.com/office/drawing/2014/main" id="{70C0FEE9-FD4E-EC37-AE36-539FA4895F5C}"/>
              </a:ext>
            </a:extLst>
          </p:cNvPr>
          <p:cNvSpPr txBox="1"/>
          <p:nvPr/>
        </p:nvSpPr>
        <p:spPr>
          <a:xfrm>
            <a:off x="8875010" y="3613666"/>
            <a:ext cx="1065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Docs</a:t>
            </a: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F0D21A7E-0F32-4FD4-DA8F-917412B39463}"/>
              </a:ext>
            </a:extLst>
          </p:cNvPr>
          <p:cNvSpPr txBox="1"/>
          <p:nvPr/>
        </p:nvSpPr>
        <p:spPr>
          <a:xfrm>
            <a:off x="8875010" y="4655880"/>
            <a:ext cx="1372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README.txt</a:t>
            </a:r>
            <a:endParaRPr lang="en-GB" dirty="0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27B958AF-860F-EE9A-5EC6-3E1AC25EE106}"/>
              </a:ext>
            </a:extLst>
          </p:cNvPr>
          <p:cNvSpPr/>
          <p:nvPr/>
        </p:nvSpPr>
        <p:spPr>
          <a:xfrm>
            <a:off x="247135" y="3212079"/>
            <a:ext cx="4114800" cy="3547067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3D187FE-E1DE-F948-30E2-4A24DCB2AE2A}"/>
              </a:ext>
            </a:extLst>
          </p:cNvPr>
          <p:cNvSpPr txBox="1"/>
          <p:nvPr/>
        </p:nvSpPr>
        <p:spPr>
          <a:xfrm>
            <a:off x="1692182" y="3254058"/>
            <a:ext cx="968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Results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DA4A22F-94E7-2CDD-FBEB-3571C3C44815}"/>
              </a:ext>
            </a:extLst>
          </p:cNvPr>
          <p:cNvSpPr txBox="1"/>
          <p:nvPr/>
        </p:nvSpPr>
        <p:spPr>
          <a:xfrm>
            <a:off x="844976" y="3735018"/>
            <a:ext cx="3312826" cy="2233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GB" dirty="0" err="1"/>
              <a:t>TidyData</a:t>
            </a:r>
            <a:endParaRPr lang="en-GB" dirty="0"/>
          </a:p>
          <a:p>
            <a:pPr>
              <a:lnSpc>
                <a:spcPct val="200000"/>
              </a:lnSpc>
            </a:pPr>
            <a:r>
              <a:rPr lang="en-GB" dirty="0"/>
              <a:t>Plots</a:t>
            </a:r>
          </a:p>
          <a:p>
            <a:pPr>
              <a:lnSpc>
                <a:spcPct val="200000"/>
              </a:lnSpc>
            </a:pPr>
            <a:r>
              <a:rPr lang="en-GB" dirty="0" err="1"/>
              <a:t>TestResults</a:t>
            </a:r>
            <a:endParaRPr lang="en-GB" dirty="0"/>
          </a:p>
          <a:p>
            <a:pPr>
              <a:lnSpc>
                <a:spcPct val="200000"/>
              </a:lnSpc>
            </a:pPr>
            <a:r>
              <a:rPr lang="en-GB" dirty="0"/>
              <a:t>…</a:t>
            </a:r>
          </a:p>
        </p:txBody>
      </p:sp>
      <p:pic>
        <p:nvPicPr>
          <p:cNvPr id="7" name="Graphique 6" descr="Dossier ouvert avec un remplissage uni">
            <a:extLst>
              <a:ext uri="{FF2B5EF4-FFF2-40B4-BE49-F238E27FC236}">
                <a16:creationId xmlns:a16="http://schemas.microsoft.com/office/drawing/2014/main" id="{3304D245-E2F8-AC8A-75B6-E9081AACF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21" y="3797972"/>
            <a:ext cx="525086" cy="525086"/>
          </a:xfrm>
          <a:prstGeom prst="rect">
            <a:avLst/>
          </a:prstGeom>
        </p:spPr>
      </p:pic>
      <p:pic>
        <p:nvPicPr>
          <p:cNvPr id="8" name="Graphique 7" descr="Dossier ouvert avec un remplissage uni">
            <a:extLst>
              <a:ext uri="{FF2B5EF4-FFF2-40B4-BE49-F238E27FC236}">
                <a16:creationId xmlns:a16="http://schemas.microsoft.com/office/drawing/2014/main" id="{D6424A2B-B5F7-4A8F-05DA-9E28B98650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21" y="4354376"/>
            <a:ext cx="525086" cy="525086"/>
          </a:xfrm>
          <a:prstGeom prst="rect">
            <a:avLst/>
          </a:prstGeom>
        </p:spPr>
      </p:pic>
      <p:pic>
        <p:nvPicPr>
          <p:cNvPr id="11" name="Graphique 10" descr="Dossier ouvert avec un remplissage uni">
            <a:extLst>
              <a:ext uri="{FF2B5EF4-FFF2-40B4-BE49-F238E27FC236}">
                <a16:creationId xmlns:a16="http://schemas.microsoft.com/office/drawing/2014/main" id="{05A92B3A-C947-2097-6F07-17DC9B970F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6812" y="4946902"/>
            <a:ext cx="525086" cy="525086"/>
          </a:xfrm>
          <a:prstGeom prst="rect">
            <a:avLst/>
          </a:prstGeom>
        </p:spPr>
      </p:pic>
      <p:pic>
        <p:nvPicPr>
          <p:cNvPr id="12" name="Graphique 11" descr="Dossier ouvert avec un remplissage uni">
            <a:extLst>
              <a:ext uri="{FF2B5EF4-FFF2-40B4-BE49-F238E27FC236}">
                <a16:creationId xmlns:a16="http://schemas.microsoft.com/office/drawing/2014/main" id="{F0856DE1-2F62-908D-2B06-7C73B6F860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5377" y="5549266"/>
            <a:ext cx="525086" cy="525086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64C73D04-4200-2B57-6EF3-AFBFE0B782ED}"/>
              </a:ext>
            </a:extLst>
          </p:cNvPr>
          <p:cNvSpPr txBox="1"/>
          <p:nvPr/>
        </p:nvSpPr>
        <p:spPr>
          <a:xfrm>
            <a:off x="5598254" y="307072"/>
            <a:ext cx="39112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Research</a:t>
            </a:r>
            <a:r>
              <a:rPr lang="en-GB" sz="2000" b="1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Compendium</a:t>
            </a:r>
          </a:p>
        </p:txBody>
      </p:sp>
      <p:pic>
        <p:nvPicPr>
          <p:cNvPr id="18" name="Graphique 17" descr="Papier avec un remplissage uni">
            <a:extLst>
              <a:ext uri="{FF2B5EF4-FFF2-40B4-BE49-F238E27FC236}">
                <a16:creationId xmlns:a16="http://schemas.microsoft.com/office/drawing/2014/main" id="{BC5C4435-B922-DC57-FA8A-9263DF43E7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76935" y="3922472"/>
            <a:ext cx="463588" cy="463588"/>
          </a:xfrm>
          <a:prstGeom prst="rect">
            <a:avLst/>
          </a:prstGeom>
        </p:spPr>
      </p:pic>
      <p:pic>
        <p:nvPicPr>
          <p:cNvPr id="23" name="Graphique 22" descr="Papier avec un remplissage uni">
            <a:extLst>
              <a:ext uri="{FF2B5EF4-FFF2-40B4-BE49-F238E27FC236}">
                <a16:creationId xmlns:a16="http://schemas.microsoft.com/office/drawing/2014/main" id="{67C11C97-09C6-86E8-6D5D-ECAABA069F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73860" y="4429326"/>
            <a:ext cx="463588" cy="463588"/>
          </a:xfrm>
          <a:prstGeom prst="rect">
            <a:avLst/>
          </a:prstGeom>
        </p:spPr>
      </p:pic>
      <p:pic>
        <p:nvPicPr>
          <p:cNvPr id="24" name="Graphique 23" descr="Papier avec un remplissage uni">
            <a:extLst>
              <a:ext uri="{FF2B5EF4-FFF2-40B4-BE49-F238E27FC236}">
                <a16:creationId xmlns:a16="http://schemas.microsoft.com/office/drawing/2014/main" id="{60F2D1EC-D1DF-3DC6-C3EC-084F53EEAB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73860" y="4923989"/>
            <a:ext cx="463588" cy="463588"/>
          </a:xfrm>
          <a:prstGeom prst="rect">
            <a:avLst/>
          </a:prstGeom>
        </p:spPr>
      </p:pic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5A80AF7E-A93D-FEB6-74CF-CB12164EF728}"/>
              </a:ext>
            </a:extLst>
          </p:cNvPr>
          <p:cNvCxnSpPr>
            <a:cxnSpLocks/>
          </p:cNvCxnSpPr>
          <p:nvPr/>
        </p:nvCxnSpPr>
        <p:spPr>
          <a:xfrm flipV="1">
            <a:off x="1485498" y="4075505"/>
            <a:ext cx="988361" cy="579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73F290ED-A01C-74DE-7574-C00F4200F3B9}"/>
              </a:ext>
            </a:extLst>
          </p:cNvPr>
          <p:cNvCxnSpPr>
            <a:cxnSpLocks/>
          </p:cNvCxnSpPr>
          <p:nvPr/>
        </p:nvCxnSpPr>
        <p:spPr>
          <a:xfrm>
            <a:off x="1493004" y="4662224"/>
            <a:ext cx="988361" cy="579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BDDC19A4-E9CC-C060-7146-88A4BBB3C798}"/>
              </a:ext>
            </a:extLst>
          </p:cNvPr>
          <p:cNvSpPr txBox="1"/>
          <p:nvPr/>
        </p:nvSpPr>
        <p:spPr>
          <a:xfrm>
            <a:off x="2871932" y="3771327"/>
            <a:ext cx="3312826" cy="1679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GB" dirty="0"/>
              <a:t>Plot1</a:t>
            </a:r>
          </a:p>
          <a:p>
            <a:pPr>
              <a:lnSpc>
                <a:spcPct val="200000"/>
              </a:lnSpc>
            </a:pPr>
            <a:r>
              <a:rPr lang="en-GB" dirty="0"/>
              <a:t>Plot2</a:t>
            </a:r>
          </a:p>
          <a:p>
            <a:pPr>
              <a:lnSpc>
                <a:spcPct val="200000"/>
              </a:lnSpc>
            </a:pPr>
            <a:r>
              <a:rPr lang="en-GB" dirty="0"/>
              <a:t>Plot3</a:t>
            </a:r>
          </a:p>
        </p:txBody>
      </p:sp>
      <p:pic>
        <p:nvPicPr>
          <p:cNvPr id="30" name="Graphique 29" descr="Dossier ouvert avec un remplissage uni">
            <a:extLst>
              <a:ext uri="{FF2B5EF4-FFF2-40B4-BE49-F238E27FC236}">
                <a16:creationId xmlns:a16="http://schemas.microsoft.com/office/drawing/2014/main" id="{CE75104C-9E65-E0DC-F060-BB414E29DC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52426" y="3987629"/>
            <a:ext cx="525086" cy="525086"/>
          </a:xfrm>
          <a:prstGeom prst="rect">
            <a:avLst/>
          </a:prstGeom>
        </p:spPr>
      </p:pic>
      <p:sp>
        <p:nvSpPr>
          <p:cNvPr id="31" name="ZoneTexte 30">
            <a:extLst>
              <a:ext uri="{FF2B5EF4-FFF2-40B4-BE49-F238E27FC236}">
                <a16:creationId xmlns:a16="http://schemas.microsoft.com/office/drawing/2014/main" id="{8B42A988-4D91-D3A9-5A43-0435250D8B4F}"/>
              </a:ext>
            </a:extLst>
          </p:cNvPr>
          <p:cNvSpPr txBox="1"/>
          <p:nvPr/>
        </p:nvSpPr>
        <p:spPr>
          <a:xfrm>
            <a:off x="8877510" y="4050876"/>
            <a:ext cx="136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ConfigFiles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6198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E9B79-65F0-EBA3-98FE-7AB6C061D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A957D6CF-9ECB-2779-3054-73608DE0D23F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3591FD5F-C1EA-1174-F6CB-2690B02617BA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IMPLEMENTATION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6D110151-3254-1DDF-7835-ABF9C6A732E6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6CDCD3D9-ACFF-DCBE-ED8A-3CE66E02F57E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28AA921B-9B69-1F2D-E680-625F5398938E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B88ED32D-8E46-AA61-17DD-355501E3C77D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563F2074-DEA5-9636-F898-60F558D81B4C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EA4DC1A-25DB-A0F6-5352-A0C1E1F9CEF0}"/>
              </a:ext>
            </a:extLst>
          </p:cNvPr>
          <p:cNvSpPr txBox="1"/>
          <p:nvPr/>
        </p:nvSpPr>
        <p:spPr>
          <a:xfrm>
            <a:off x="5673203" y="307072"/>
            <a:ext cx="459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Versioning tools: Git and GitHub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1AF9413-9FCE-3A3F-C04C-883FF1768E9A}"/>
              </a:ext>
            </a:extLst>
          </p:cNvPr>
          <p:cNvSpPr txBox="1"/>
          <p:nvPr/>
        </p:nvSpPr>
        <p:spPr>
          <a:xfrm>
            <a:off x="5182561" y="887944"/>
            <a:ext cx="5576341" cy="1575881"/>
          </a:xfrm>
          <a:prstGeom prst="rect">
            <a:avLst/>
          </a:prstGeom>
          <a:solidFill>
            <a:srgbClr val="D8A499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Dedicated to collaborative work (i.e. scientific labs)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Increasingly used as a showcase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Supports reproducibility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Needs time to be familiar…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3B1A4843-29C9-6D27-3E9C-F9CC0BD2669B}"/>
              </a:ext>
            </a:extLst>
          </p:cNvPr>
          <p:cNvSpPr/>
          <p:nvPr/>
        </p:nvSpPr>
        <p:spPr>
          <a:xfrm>
            <a:off x="2005673" y="3078223"/>
            <a:ext cx="5939117" cy="3672590"/>
          </a:xfrm>
          <a:prstGeom prst="roundRect">
            <a:avLst/>
          </a:prstGeom>
          <a:solidFill>
            <a:srgbClr val="C27C39">
              <a:alpha val="5964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9FF569B-8596-49EF-3153-90E0DB0358EF}"/>
              </a:ext>
            </a:extLst>
          </p:cNvPr>
          <p:cNvSpPr txBox="1"/>
          <p:nvPr/>
        </p:nvSpPr>
        <p:spPr>
          <a:xfrm>
            <a:off x="4350885" y="2644587"/>
            <a:ext cx="1798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Git (local)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9E7ACEB-943D-A31F-65C2-841BF534A989}"/>
              </a:ext>
            </a:extLst>
          </p:cNvPr>
          <p:cNvSpPr/>
          <p:nvPr/>
        </p:nvSpPr>
        <p:spPr>
          <a:xfrm>
            <a:off x="5904337" y="3078223"/>
            <a:ext cx="1343588" cy="3672590"/>
          </a:xfrm>
          <a:prstGeom prst="rect">
            <a:avLst/>
          </a:prstGeom>
          <a:pattFill prst="dkUpDiag">
            <a:fgClr>
              <a:schemeClr val="accent5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E883C56D-9E14-4B57-A76A-98545A727E74}"/>
              </a:ext>
            </a:extLst>
          </p:cNvPr>
          <p:cNvSpPr/>
          <p:nvPr/>
        </p:nvSpPr>
        <p:spPr>
          <a:xfrm>
            <a:off x="5906125" y="3429000"/>
            <a:ext cx="1349114" cy="99309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8640D650-209F-1EC9-93E9-4F3EC8AA196E}"/>
              </a:ext>
            </a:extLst>
          </p:cNvPr>
          <p:cNvSpPr txBox="1"/>
          <p:nvPr/>
        </p:nvSpPr>
        <p:spPr>
          <a:xfrm>
            <a:off x="6096000" y="3078223"/>
            <a:ext cx="949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master</a:t>
            </a:r>
          </a:p>
        </p:txBody>
      </p:sp>
    </p:spTree>
    <p:extLst>
      <p:ext uri="{BB962C8B-B14F-4D97-AF65-F5344CB8AC3E}">
        <p14:creationId xmlns:p14="http://schemas.microsoft.com/office/powerpoint/2010/main" val="2743050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A1FB7-38BB-804C-6B6B-67C1F3A17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FFCA4348-9E0A-3AC8-3A59-6B28E785A5AF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971B198A-B801-66B6-2D4E-F3AE95494F26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IMPLEMENTATION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BDB988D1-EDC8-0952-4355-E7D307C61A07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CBF1E32D-82BA-4DD4-611D-4A8D9B6DFD2A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6F39BEE7-BD47-4C1C-537B-BABD77690460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7DDFD37E-4D02-3A14-D7E8-7189C5779757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221C2DD0-6666-85C9-9E1D-6367AC060E54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DA3A9E8-47AC-138F-72A0-ADA54F06FE80}"/>
              </a:ext>
            </a:extLst>
          </p:cNvPr>
          <p:cNvSpPr txBox="1"/>
          <p:nvPr/>
        </p:nvSpPr>
        <p:spPr>
          <a:xfrm>
            <a:off x="5673203" y="307072"/>
            <a:ext cx="459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Versioning tools: Git and GitHub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E829EEF-5ACF-1F35-183F-88BA4E6BCEFC}"/>
              </a:ext>
            </a:extLst>
          </p:cNvPr>
          <p:cNvSpPr txBox="1"/>
          <p:nvPr/>
        </p:nvSpPr>
        <p:spPr>
          <a:xfrm>
            <a:off x="5182561" y="887944"/>
            <a:ext cx="5576341" cy="1575881"/>
          </a:xfrm>
          <a:prstGeom prst="rect">
            <a:avLst/>
          </a:prstGeom>
          <a:solidFill>
            <a:srgbClr val="D8A499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Dedicated to collaborative work (i.e. scientific labs)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Increasingly used as a showcase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Supports reproducibility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Needs time to be familiar…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5BB3202-9343-0CA2-30C1-2879401A3644}"/>
              </a:ext>
            </a:extLst>
          </p:cNvPr>
          <p:cNvSpPr/>
          <p:nvPr/>
        </p:nvSpPr>
        <p:spPr>
          <a:xfrm>
            <a:off x="2005673" y="3078223"/>
            <a:ext cx="5939117" cy="3672590"/>
          </a:xfrm>
          <a:prstGeom prst="roundRect">
            <a:avLst/>
          </a:prstGeom>
          <a:solidFill>
            <a:srgbClr val="C27C39">
              <a:alpha val="5964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AA6FE45-0CA6-B097-A2B3-8A3A08CD2DB3}"/>
              </a:ext>
            </a:extLst>
          </p:cNvPr>
          <p:cNvSpPr txBox="1"/>
          <p:nvPr/>
        </p:nvSpPr>
        <p:spPr>
          <a:xfrm>
            <a:off x="4350885" y="2644587"/>
            <a:ext cx="1798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Git (local)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E3EDDA7-9271-B2BD-A580-CA3BBCFD3C75}"/>
              </a:ext>
            </a:extLst>
          </p:cNvPr>
          <p:cNvSpPr/>
          <p:nvPr/>
        </p:nvSpPr>
        <p:spPr>
          <a:xfrm>
            <a:off x="5904337" y="3078223"/>
            <a:ext cx="1343588" cy="3672590"/>
          </a:xfrm>
          <a:prstGeom prst="rect">
            <a:avLst/>
          </a:prstGeom>
          <a:pattFill prst="dkUpDiag">
            <a:fgClr>
              <a:schemeClr val="accent5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6AF4F1FE-ADDC-C012-A8A7-F56A1E0F56B9}"/>
              </a:ext>
            </a:extLst>
          </p:cNvPr>
          <p:cNvSpPr/>
          <p:nvPr/>
        </p:nvSpPr>
        <p:spPr>
          <a:xfrm>
            <a:off x="5906125" y="3429000"/>
            <a:ext cx="1349114" cy="99309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18F90B6-3AC9-3BF8-2365-5191367A7080}"/>
              </a:ext>
            </a:extLst>
          </p:cNvPr>
          <p:cNvSpPr/>
          <p:nvPr/>
        </p:nvSpPr>
        <p:spPr>
          <a:xfrm>
            <a:off x="3472988" y="3078223"/>
            <a:ext cx="1343588" cy="3672590"/>
          </a:xfrm>
          <a:prstGeom prst="rect">
            <a:avLst/>
          </a:prstGeom>
          <a:pattFill prst="dkUpDiag">
            <a:fgClr>
              <a:schemeClr val="tx2">
                <a:lumMod val="25000"/>
                <a:lumOff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917CD1F4-AA79-2CCE-D8F1-277AD56915E9}"/>
              </a:ext>
            </a:extLst>
          </p:cNvPr>
          <p:cNvSpPr/>
          <p:nvPr/>
        </p:nvSpPr>
        <p:spPr>
          <a:xfrm>
            <a:off x="3477720" y="3429000"/>
            <a:ext cx="1349114" cy="99309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16A23FDA-233B-0CC9-1CDD-116C2585AD69}"/>
              </a:ext>
            </a:extLst>
          </p:cNvPr>
          <p:cNvCxnSpPr/>
          <p:nvPr/>
        </p:nvCxnSpPr>
        <p:spPr>
          <a:xfrm flipH="1">
            <a:off x="4886794" y="3897443"/>
            <a:ext cx="9293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BDCD955B-5312-C8DD-FDA7-6B9001A606A9}"/>
              </a:ext>
            </a:extLst>
          </p:cNvPr>
          <p:cNvSpPr txBox="1"/>
          <p:nvPr/>
        </p:nvSpPr>
        <p:spPr>
          <a:xfrm>
            <a:off x="4826834" y="3543595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BRANCH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A9A7048-5CFC-9EAA-8FDF-3401B50646E7}"/>
              </a:ext>
            </a:extLst>
          </p:cNvPr>
          <p:cNvSpPr txBox="1"/>
          <p:nvPr/>
        </p:nvSpPr>
        <p:spPr>
          <a:xfrm>
            <a:off x="6096000" y="3078223"/>
            <a:ext cx="949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master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CE4A4D4-E3EF-7D3B-D28F-127F2A25DBAF}"/>
              </a:ext>
            </a:extLst>
          </p:cNvPr>
          <p:cNvSpPr txBox="1"/>
          <p:nvPr/>
        </p:nvSpPr>
        <p:spPr>
          <a:xfrm>
            <a:off x="3595143" y="3059668"/>
            <a:ext cx="1146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err="1"/>
              <a:t>working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518636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6EE1E-04F3-A166-699D-B78442904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359BE4BD-A482-3FE3-DC2C-215CC7CF3C21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E3DFF24D-68CA-A4F8-FF02-DF5A60F5DEC8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IMPLEMENTATION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97EB776C-9F77-C99B-73E6-A24EB57732D0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A670CD5C-5120-E017-C8D7-4A75FC872511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5C978A67-D3B2-4551-2B5E-B4BEF35AF300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80330C8B-5293-3AA0-270E-2D44EEE474FE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07B28428-0489-4B34-0016-987B4EEA5214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DA75BD0-CC6C-C896-9A9D-E5A134423CC8}"/>
              </a:ext>
            </a:extLst>
          </p:cNvPr>
          <p:cNvSpPr txBox="1"/>
          <p:nvPr/>
        </p:nvSpPr>
        <p:spPr>
          <a:xfrm>
            <a:off x="5673203" y="307072"/>
            <a:ext cx="459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Versioning tools: Git and GitHub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CFF4436-10B3-EE4C-E044-CF622ACA72C3}"/>
              </a:ext>
            </a:extLst>
          </p:cNvPr>
          <p:cNvSpPr txBox="1"/>
          <p:nvPr/>
        </p:nvSpPr>
        <p:spPr>
          <a:xfrm>
            <a:off x="5182561" y="887944"/>
            <a:ext cx="5576341" cy="1575881"/>
          </a:xfrm>
          <a:prstGeom prst="rect">
            <a:avLst/>
          </a:prstGeom>
          <a:solidFill>
            <a:srgbClr val="D8A499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Dedicated to collaborative work (i.e. scientific labs)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Increasingly used as a showcase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Supports reproducibility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Needs time to be familiar…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7071FC31-641B-FDBF-F953-E0D20E52051F}"/>
              </a:ext>
            </a:extLst>
          </p:cNvPr>
          <p:cNvSpPr/>
          <p:nvPr/>
        </p:nvSpPr>
        <p:spPr>
          <a:xfrm>
            <a:off x="2005673" y="3078223"/>
            <a:ext cx="5939117" cy="3672590"/>
          </a:xfrm>
          <a:prstGeom prst="roundRect">
            <a:avLst/>
          </a:prstGeom>
          <a:solidFill>
            <a:srgbClr val="C27C39">
              <a:alpha val="5964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00766A4-AA77-4D90-0CB6-1B5108AF2BBD}"/>
              </a:ext>
            </a:extLst>
          </p:cNvPr>
          <p:cNvSpPr txBox="1"/>
          <p:nvPr/>
        </p:nvSpPr>
        <p:spPr>
          <a:xfrm>
            <a:off x="4350885" y="2644587"/>
            <a:ext cx="1798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Git (local)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C62D7BC-0182-9A4F-2B5C-1C3FAA8C7BFC}"/>
              </a:ext>
            </a:extLst>
          </p:cNvPr>
          <p:cNvSpPr/>
          <p:nvPr/>
        </p:nvSpPr>
        <p:spPr>
          <a:xfrm>
            <a:off x="5904337" y="3078223"/>
            <a:ext cx="1343588" cy="3672590"/>
          </a:xfrm>
          <a:prstGeom prst="rect">
            <a:avLst/>
          </a:prstGeom>
          <a:pattFill prst="dkUpDiag">
            <a:fgClr>
              <a:schemeClr val="accent5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4F041606-CF07-B8EF-9A4C-4F49223E3020}"/>
              </a:ext>
            </a:extLst>
          </p:cNvPr>
          <p:cNvSpPr/>
          <p:nvPr/>
        </p:nvSpPr>
        <p:spPr>
          <a:xfrm>
            <a:off x="5906125" y="3429000"/>
            <a:ext cx="1349114" cy="99309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FE5C7DB-394D-7BB8-E50D-A16F98D18502}"/>
              </a:ext>
            </a:extLst>
          </p:cNvPr>
          <p:cNvSpPr/>
          <p:nvPr/>
        </p:nvSpPr>
        <p:spPr>
          <a:xfrm>
            <a:off x="3472988" y="3078223"/>
            <a:ext cx="1343588" cy="3672590"/>
          </a:xfrm>
          <a:prstGeom prst="rect">
            <a:avLst/>
          </a:prstGeom>
          <a:pattFill prst="dkUpDiag">
            <a:fgClr>
              <a:schemeClr val="tx2">
                <a:lumMod val="25000"/>
                <a:lumOff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54B75BAD-8648-3D07-F981-8C43B687E655}"/>
              </a:ext>
            </a:extLst>
          </p:cNvPr>
          <p:cNvSpPr/>
          <p:nvPr/>
        </p:nvSpPr>
        <p:spPr>
          <a:xfrm>
            <a:off x="3477720" y="3429000"/>
            <a:ext cx="1349114" cy="99309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DF9E3EED-0AAC-520C-8226-8E5382023BF6}"/>
              </a:ext>
            </a:extLst>
          </p:cNvPr>
          <p:cNvCxnSpPr>
            <a:cxnSpLocks/>
          </p:cNvCxnSpPr>
          <p:nvPr/>
        </p:nvCxnSpPr>
        <p:spPr>
          <a:xfrm>
            <a:off x="2398435" y="3897443"/>
            <a:ext cx="0" cy="2586322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B7B45ADA-C375-F4B0-AE3C-90065D9719E9}"/>
              </a:ext>
            </a:extLst>
          </p:cNvPr>
          <p:cNvSpPr txBox="1"/>
          <p:nvPr/>
        </p:nvSpPr>
        <p:spPr>
          <a:xfrm rot="16200000">
            <a:off x="1005718" y="4745241"/>
            <a:ext cx="23384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/>
              <a:t>Work in progress</a:t>
            </a:r>
            <a:endParaRPr lang="en-GB" sz="1600" dirty="0"/>
          </a:p>
        </p:txBody>
      </p: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ADD9C619-5DEC-5B62-6554-557ADC759099}"/>
              </a:ext>
            </a:extLst>
          </p:cNvPr>
          <p:cNvCxnSpPr>
            <a:cxnSpLocks/>
          </p:cNvCxnSpPr>
          <p:nvPr/>
        </p:nvCxnSpPr>
        <p:spPr>
          <a:xfrm>
            <a:off x="4139786" y="4422098"/>
            <a:ext cx="0" cy="1068569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Ellipse 30">
            <a:extLst>
              <a:ext uri="{FF2B5EF4-FFF2-40B4-BE49-F238E27FC236}">
                <a16:creationId xmlns:a16="http://schemas.microsoft.com/office/drawing/2014/main" id="{572C14C3-E04F-2A9C-8A7E-148817E8E710}"/>
              </a:ext>
            </a:extLst>
          </p:cNvPr>
          <p:cNvSpPr/>
          <p:nvPr/>
        </p:nvSpPr>
        <p:spPr>
          <a:xfrm>
            <a:off x="3987385" y="4556705"/>
            <a:ext cx="299804" cy="29980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7E7FE548-C90C-C6C5-A023-E47C639AFE8E}"/>
              </a:ext>
            </a:extLst>
          </p:cNvPr>
          <p:cNvSpPr/>
          <p:nvPr/>
        </p:nvSpPr>
        <p:spPr>
          <a:xfrm>
            <a:off x="3987385" y="4983233"/>
            <a:ext cx="299804" cy="299804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4BCCC5CA-BBD8-F752-07F7-5EB5F54D517A}"/>
              </a:ext>
            </a:extLst>
          </p:cNvPr>
          <p:cNvSpPr txBox="1"/>
          <p:nvPr/>
        </p:nvSpPr>
        <p:spPr>
          <a:xfrm>
            <a:off x="2737453" y="4407611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COMMIT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BE9C69B-FAFA-935D-B23C-7204E52C9E5C}"/>
              </a:ext>
            </a:extLst>
          </p:cNvPr>
          <p:cNvSpPr txBox="1"/>
          <p:nvPr/>
        </p:nvSpPr>
        <p:spPr>
          <a:xfrm>
            <a:off x="2736696" y="4857595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COMMIT</a:t>
            </a:r>
          </a:p>
        </p:txBody>
      </p: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908056CF-8F7B-4BBE-FB9F-7E3185379DEA}"/>
              </a:ext>
            </a:extLst>
          </p:cNvPr>
          <p:cNvCxnSpPr>
            <a:cxnSpLocks/>
          </p:cNvCxnSpPr>
          <p:nvPr/>
        </p:nvCxnSpPr>
        <p:spPr>
          <a:xfrm>
            <a:off x="2398435" y="4716185"/>
            <a:ext cx="15889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AEA2767A-C29D-FE0D-3B1E-12A8C6E581ED}"/>
              </a:ext>
            </a:extLst>
          </p:cNvPr>
          <p:cNvCxnSpPr>
            <a:cxnSpLocks/>
          </p:cNvCxnSpPr>
          <p:nvPr/>
        </p:nvCxnSpPr>
        <p:spPr>
          <a:xfrm>
            <a:off x="2409671" y="5147961"/>
            <a:ext cx="15777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AF704450-6E7C-28B5-2BE3-CBB2221F71BE}"/>
              </a:ext>
            </a:extLst>
          </p:cNvPr>
          <p:cNvCxnSpPr/>
          <p:nvPr/>
        </p:nvCxnSpPr>
        <p:spPr>
          <a:xfrm flipH="1">
            <a:off x="4886794" y="3897443"/>
            <a:ext cx="9293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74B72E77-7E94-AF39-F87A-9A11975C0EFE}"/>
              </a:ext>
            </a:extLst>
          </p:cNvPr>
          <p:cNvSpPr txBox="1"/>
          <p:nvPr/>
        </p:nvSpPr>
        <p:spPr>
          <a:xfrm>
            <a:off x="4826834" y="3543595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BRANCH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8EBC8D5-9394-259E-9B04-638263C45F37}"/>
              </a:ext>
            </a:extLst>
          </p:cNvPr>
          <p:cNvSpPr txBox="1"/>
          <p:nvPr/>
        </p:nvSpPr>
        <p:spPr>
          <a:xfrm>
            <a:off x="6096000" y="3078223"/>
            <a:ext cx="949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master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17783B2-484C-6938-9657-36A70C211972}"/>
              </a:ext>
            </a:extLst>
          </p:cNvPr>
          <p:cNvSpPr txBox="1"/>
          <p:nvPr/>
        </p:nvSpPr>
        <p:spPr>
          <a:xfrm>
            <a:off x="3595143" y="3059668"/>
            <a:ext cx="1146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err="1"/>
              <a:t>working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809595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A9B29-06B8-69D3-FC93-E924A01B1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5F77A88D-7003-D27C-6F59-86BF0931CCC4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8A895276-6B0F-4098-47D8-F1965E6E2C6A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IMPLEMENTATION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CC177C90-8E4A-2236-E2C8-E1188A61C05A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C7655A8C-89D5-66F7-F9EA-D6E9BF4261FE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CF566B5B-DFAD-CFAB-3504-4868AD419CE5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C019CED4-9043-1058-0475-1A169593DAB6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C68BB76A-DB23-D02D-FB62-CBE277344F33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F538164-5D73-78CF-E116-120B6E529417}"/>
              </a:ext>
            </a:extLst>
          </p:cNvPr>
          <p:cNvSpPr txBox="1"/>
          <p:nvPr/>
        </p:nvSpPr>
        <p:spPr>
          <a:xfrm>
            <a:off x="5673203" y="307072"/>
            <a:ext cx="459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Versioning tools: Git and GitHub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B6223E7-5AB3-0841-546E-8E0D61831FB1}"/>
              </a:ext>
            </a:extLst>
          </p:cNvPr>
          <p:cNvSpPr txBox="1"/>
          <p:nvPr/>
        </p:nvSpPr>
        <p:spPr>
          <a:xfrm>
            <a:off x="5182561" y="887944"/>
            <a:ext cx="5576341" cy="1575881"/>
          </a:xfrm>
          <a:prstGeom prst="rect">
            <a:avLst/>
          </a:prstGeom>
          <a:solidFill>
            <a:srgbClr val="D8A499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Dedicated to collaborative work (i.e. scientific labs)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Increasingly used as a showcase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Supports reproducibility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Needs time to be familiar…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551906E-1716-CCF9-7C4E-D02EB78F09DB}"/>
              </a:ext>
            </a:extLst>
          </p:cNvPr>
          <p:cNvSpPr/>
          <p:nvPr/>
        </p:nvSpPr>
        <p:spPr>
          <a:xfrm>
            <a:off x="2005673" y="3078223"/>
            <a:ext cx="5939117" cy="3672590"/>
          </a:xfrm>
          <a:prstGeom prst="roundRect">
            <a:avLst/>
          </a:prstGeom>
          <a:solidFill>
            <a:srgbClr val="C27C39">
              <a:alpha val="5964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FD8A472-D0C4-984E-A2C3-C2C324253545}"/>
              </a:ext>
            </a:extLst>
          </p:cNvPr>
          <p:cNvSpPr txBox="1"/>
          <p:nvPr/>
        </p:nvSpPr>
        <p:spPr>
          <a:xfrm>
            <a:off x="4350885" y="2644587"/>
            <a:ext cx="1798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Git (local)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FDC5238-B10B-FFD7-6581-893BEBDFE910}"/>
              </a:ext>
            </a:extLst>
          </p:cNvPr>
          <p:cNvSpPr/>
          <p:nvPr/>
        </p:nvSpPr>
        <p:spPr>
          <a:xfrm>
            <a:off x="5904337" y="3078223"/>
            <a:ext cx="1343588" cy="3672590"/>
          </a:xfrm>
          <a:prstGeom prst="rect">
            <a:avLst/>
          </a:prstGeom>
          <a:pattFill prst="dkUpDiag">
            <a:fgClr>
              <a:schemeClr val="accent5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A8018017-1732-7F3C-C097-4DEB1CE61C59}"/>
              </a:ext>
            </a:extLst>
          </p:cNvPr>
          <p:cNvSpPr/>
          <p:nvPr/>
        </p:nvSpPr>
        <p:spPr>
          <a:xfrm>
            <a:off x="5906125" y="3429000"/>
            <a:ext cx="1349114" cy="99309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0FA8D2A-5D65-6694-97E5-803A140348A2}"/>
              </a:ext>
            </a:extLst>
          </p:cNvPr>
          <p:cNvSpPr/>
          <p:nvPr/>
        </p:nvSpPr>
        <p:spPr>
          <a:xfrm>
            <a:off x="3472988" y="3078223"/>
            <a:ext cx="1343588" cy="3672590"/>
          </a:xfrm>
          <a:prstGeom prst="rect">
            <a:avLst/>
          </a:prstGeom>
          <a:pattFill prst="dkUpDiag">
            <a:fgClr>
              <a:schemeClr val="tx2">
                <a:lumMod val="25000"/>
                <a:lumOff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CC874AAE-E2D0-AFB0-7A51-B5A82112F856}"/>
              </a:ext>
            </a:extLst>
          </p:cNvPr>
          <p:cNvSpPr/>
          <p:nvPr/>
        </p:nvSpPr>
        <p:spPr>
          <a:xfrm>
            <a:off x="3477720" y="3429000"/>
            <a:ext cx="1349114" cy="99309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7DE64D25-251F-318B-AADF-871EA93BE2C3}"/>
              </a:ext>
            </a:extLst>
          </p:cNvPr>
          <p:cNvSpPr/>
          <p:nvPr/>
        </p:nvSpPr>
        <p:spPr>
          <a:xfrm>
            <a:off x="3477720" y="5490667"/>
            <a:ext cx="1349114" cy="993098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9957FEF7-7560-E7C4-A17F-D24EB11032C6}"/>
              </a:ext>
            </a:extLst>
          </p:cNvPr>
          <p:cNvCxnSpPr>
            <a:cxnSpLocks/>
          </p:cNvCxnSpPr>
          <p:nvPr/>
        </p:nvCxnSpPr>
        <p:spPr>
          <a:xfrm>
            <a:off x="2398435" y="3897443"/>
            <a:ext cx="0" cy="2586322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E1E34164-94A2-E5A7-D318-45881B297B00}"/>
              </a:ext>
            </a:extLst>
          </p:cNvPr>
          <p:cNvSpPr txBox="1"/>
          <p:nvPr/>
        </p:nvSpPr>
        <p:spPr>
          <a:xfrm rot="16200000">
            <a:off x="1005718" y="4745241"/>
            <a:ext cx="23384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/>
              <a:t>Work in progress</a:t>
            </a:r>
            <a:endParaRPr lang="en-GB" sz="1600" dirty="0"/>
          </a:p>
        </p:txBody>
      </p: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24CB2A60-E5D1-55DF-8295-329D382EE6B7}"/>
              </a:ext>
            </a:extLst>
          </p:cNvPr>
          <p:cNvCxnSpPr>
            <a:cxnSpLocks/>
          </p:cNvCxnSpPr>
          <p:nvPr/>
        </p:nvCxnSpPr>
        <p:spPr>
          <a:xfrm>
            <a:off x="4139786" y="4422098"/>
            <a:ext cx="0" cy="1068569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Ellipse 30">
            <a:extLst>
              <a:ext uri="{FF2B5EF4-FFF2-40B4-BE49-F238E27FC236}">
                <a16:creationId xmlns:a16="http://schemas.microsoft.com/office/drawing/2014/main" id="{A786AED3-AD0A-C2DB-714D-011116077111}"/>
              </a:ext>
            </a:extLst>
          </p:cNvPr>
          <p:cNvSpPr/>
          <p:nvPr/>
        </p:nvSpPr>
        <p:spPr>
          <a:xfrm>
            <a:off x="3987385" y="4556705"/>
            <a:ext cx="299804" cy="29980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151D8A6D-F9C8-29DA-C7F7-1C7A4DAC2103}"/>
              </a:ext>
            </a:extLst>
          </p:cNvPr>
          <p:cNvSpPr/>
          <p:nvPr/>
        </p:nvSpPr>
        <p:spPr>
          <a:xfrm>
            <a:off x="3987385" y="4983233"/>
            <a:ext cx="299804" cy="299804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47F4B97C-DB2D-1B97-F95D-E877E9848F9E}"/>
              </a:ext>
            </a:extLst>
          </p:cNvPr>
          <p:cNvSpPr txBox="1"/>
          <p:nvPr/>
        </p:nvSpPr>
        <p:spPr>
          <a:xfrm>
            <a:off x="2737453" y="4407611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COMMIT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1C583A0A-7374-5AD8-D134-EF8F84572912}"/>
              </a:ext>
            </a:extLst>
          </p:cNvPr>
          <p:cNvSpPr txBox="1"/>
          <p:nvPr/>
        </p:nvSpPr>
        <p:spPr>
          <a:xfrm>
            <a:off x="2736696" y="4857595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COMMIT</a:t>
            </a:r>
          </a:p>
        </p:txBody>
      </p: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A6974C4B-0624-08E0-DE0C-CA267B9F6800}"/>
              </a:ext>
            </a:extLst>
          </p:cNvPr>
          <p:cNvCxnSpPr>
            <a:cxnSpLocks/>
          </p:cNvCxnSpPr>
          <p:nvPr/>
        </p:nvCxnSpPr>
        <p:spPr>
          <a:xfrm>
            <a:off x="2398435" y="4716185"/>
            <a:ext cx="15889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6A066115-8BE8-B56F-E684-E56561C2B290}"/>
              </a:ext>
            </a:extLst>
          </p:cNvPr>
          <p:cNvCxnSpPr>
            <a:cxnSpLocks/>
          </p:cNvCxnSpPr>
          <p:nvPr/>
        </p:nvCxnSpPr>
        <p:spPr>
          <a:xfrm>
            <a:off x="2409671" y="5147961"/>
            <a:ext cx="15777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ZoneTexte 39">
            <a:extLst>
              <a:ext uri="{FF2B5EF4-FFF2-40B4-BE49-F238E27FC236}">
                <a16:creationId xmlns:a16="http://schemas.microsoft.com/office/drawing/2014/main" id="{425B33FA-3A9F-A82E-DC82-22A71D0B1053}"/>
              </a:ext>
            </a:extLst>
          </p:cNvPr>
          <p:cNvSpPr txBox="1"/>
          <p:nvPr/>
        </p:nvSpPr>
        <p:spPr>
          <a:xfrm>
            <a:off x="2403162" y="5676815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COMMIT</a:t>
            </a:r>
          </a:p>
        </p:txBody>
      </p: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58A9ECA5-FA91-7E58-0004-3E99D7D939AE}"/>
              </a:ext>
            </a:extLst>
          </p:cNvPr>
          <p:cNvCxnSpPr/>
          <p:nvPr/>
        </p:nvCxnSpPr>
        <p:spPr>
          <a:xfrm>
            <a:off x="2409671" y="5967181"/>
            <a:ext cx="10643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C1C00998-5BC7-99FE-E3E1-4556CC97ED92}"/>
              </a:ext>
            </a:extLst>
          </p:cNvPr>
          <p:cNvCxnSpPr/>
          <p:nvPr/>
        </p:nvCxnSpPr>
        <p:spPr>
          <a:xfrm flipH="1">
            <a:off x="4886794" y="3897443"/>
            <a:ext cx="9293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B7B27784-7A01-9EAA-33F1-A05147819AE3}"/>
              </a:ext>
            </a:extLst>
          </p:cNvPr>
          <p:cNvSpPr txBox="1"/>
          <p:nvPr/>
        </p:nvSpPr>
        <p:spPr>
          <a:xfrm>
            <a:off x="4826834" y="3543595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BRANCH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77D7F2E-BD97-1C8F-F168-25233793E58F}"/>
              </a:ext>
            </a:extLst>
          </p:cNvPr>
          <p:cNvSpPr txBox="1"/>
          <p:nvPr/>
        </p:nvSpPr>
        <p:spPr>
          <a:xfrm>
            <a:off x="6096000" y="3078223"/>
            <a:ext cx="949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master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CD1A7CB-B63E-869C-1487-800F3374B93C}"/>
              </a:ext>
            </a:extLst>
          </p:cNvPr>
          <p:cNvSpPr txBox="1"/>
          <p:nvPr/>
        </p:nvSpPr>
        <p:spPr>
          <a:xfrm>
            <a:off x="3595143" y="3059668"/>
            <a:ext cx="1146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err="1"/>
              <a:t>working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5824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408AC-9723-1A14-05AA-6B95C1F42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643846EF-CC4A-937C-190F-6DBCF2E93C4B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2AEA51F6-9930-E488-2091-68C01CB0D759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IMPLEMENTATION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C2E2A797-A683-246F-462E-7549D44E7D5A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32D019ED-359F-7D8B-9CEF-F56947F070F4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AB786919-B5EC-23E2-DA0F-320FD2FBEEA8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E8239C6B-1763-4105-F2B1-9085F981A58B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5A994CD1-83F9-FA20-D75D-AD3CD5F64141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73AD64B-CE6A-E22A-518A-3AC48451B38C}"/>
              </a:ext>
            </a:extLst>
          </p:cNvPr>
          <p:cNvSpPr txBox="1"/>
          <p:nvPr/>
        </p:nvSpPr>
        <p:spPr>
          <a:xfrm>
            <a:off x="5673203" y="307072"/>
            <a:ext cx="459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Versioning tools: Git and GitHub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4D32E56-569A-0A3B-EC0C-1C9582015EAE}"/>
              </a:ext>
            </a:extLst>
          </p:cNvPr>
          <p:cNvSpPr txBox="1"/>
          <p:nvPr/>
        </p:nvSpPr>
        <p:spPr>
          <a:xfrm>
            <a:off x="5182561" y="887944"/>
            <a:ext cx="5576341" cy="1575881"/>
          </a:xfrm>
          <a:prstGeom prst="rect">
            <a:avLst/>
          </a:prstGeom>
          <a:solidFill>
            <a:srgbClr val="D8A499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Dedicated to collaborative work (i.e. scientific labs)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Increasingly used as a showcase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Supports reproducibility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Needs time to be familiar…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2C044B2-2037-8566-97C5-CAAA304934CC}"/>
              </a:ext>
            </a:extLst>
          </p:cNvPr>
          <p:cNvSpPr/>
          <p:nvPr/>
        </p:nvSpPr>
        <p:spPr>
          <a:xfrm>
            <a:off x="2005673" y="3078223"/>
            <a:ext cx="5939117" cy="3672590"/>
          </a:xfrm>
          <a:prstGeom prst="roundRect">
            <a:avLst/>
          </a:prstGeom>
          <a:solidFill>
            <a:srgbClr val="C27C39">
              <a:alpha val="5964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71B971D-DD8E-B6F7-8F27-E656E6F945CA}"/>
              </a:ext>
            </a:extLst>
          </p:cNvPr>
          <p:cNvSpPr txBox="1"/>
          <p:nvPr/>
        </p:nvSpPr>
        <p:spPr>
          <a:xfrm>
            <a:off x="4350885" y="2644587"/>
            <a:ext cx="1798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Git (local)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00CDF7E-04A3-1570-A956-4A1F415C8E6B}"/>
              </a:ext>
            </a:extLst>
          </p:cNvPr>
          <p:cNvSpPr/>
          <p:nvPr/>
        </p:nvSpPr>
        <p:spPr>
          <a:xfrm>
            <a:off x="5904337" y="3078223"/>
            <a:ext cx="1343588" cy="3672590"/>
          </a:xfrm>
          <a:prstGeom prst="rect">
            <a:avLst/>
          </a:prstGeom>
          <a:pattFill prst="dkUpDiag">
            <a:fgClr>
              <a:schemeClr val="accent5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3AD51B53-6E06-28F5-E252-A92D271EB760}"/>
              </a:ext>
            </a:extLst>
          </p:cNvPr>
          <p:cNvSpPr/>
          <p:nvPr/>
        </p:nvSpPr>
        <p:spPr>
          <a:xfrm>
            <a:off x="5906125" y="3429000"/>
            <a:ext cx="1349114" cy="99309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121ACD44-7A39-0370-40C3-F3C811F0F627}"/>
              </a:ext>
            </a:extLst>
          </p:cNvPr>
          <p:cNvSpPr/>
          <p:nvPr/>
        </p:nvSpPr>
        <p:spPr>
          <a:xfrm>
            <a:off x="5906125" y="5490667"/>
            <a:ext cx="1349114" cy="993098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39276B8-FDF1-B0CE-DCEC-825F23E76686}"/>
              </a:ext>
            </a:extLst>
          </p:cNvPr>
          <p:cNvSpPr/>
          <p:nvPr/>
        </p:nvSpPr>
        <p:spPr>
          <a:xfrm>
            <a:off x="3472988" y="3078223"/>
            <a:ext cx="1343588" cy="3672590"/>
          </a:xfrm>
          <a:prstGeom prst="rect">
            <a:avLst/>
          </a:prstGeom>
          <a:pattFill prst="dkUpDiag">
            <a:fgClr>
              <a:schemeClr val="tx2">
                <a:lumMod val="25000"/>
                <a:lumOff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0F55404B-6B4C-C71C-4768-62E4992A7B58}"/>
              </a:ext>
            </a:extLst>
          </p:cNvPr>
          <p:cNvSpPr/>
          <p:nvPr/>
        </p:nvSpPr>
        <p:spPr>
          <a:xfrm>
            <a:off x="3477720" y="3429000"/>
            <a:ext cx="1349114" cy="99309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B93D8AAC-1919-0E4C-1705-6E3B8A905D5A}"/>
              </a:ext>
            </a:extLst>
          </p:cNvPr>
          <p:cNvSpPr/>
          <p:nvPr/>
        </p:nvSpPr>
        <p:spPr>
          <a:xfrm>
            <a:off x="3477720" y="5490667"/>
            <a:ext cx="1349114" cy="993098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5CE4F20F-894E-BFF3-3A57-0925A0DF6E35}"/>
              </a:ext>
            </a:extLst>
          </p:cNvPr>
          <p:cNvCxnSpPr>
            <a:cxnSpLocks/>
          </p:cNvCxnSpPr>
          <p:nvPr/>
        </p:nvCxnSpPr>
        <p:spPr>
          <a:xfrm>
            <a:off x="2398435" y="3897443"/>
            <a:ext cx="0" cy="2586322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CBEE383D-9D75-7947-F276-6E48EE0FC2CD}"/>
              </a:ext>
            </a:extLst>
          </p:cNvPr>
          <p:cNvSpPr txBox="1"/>
          <p:nvPr/>
        </p:nvSpPr>
        <p:spPr>
          <a:xfrm rot="16200000">
            <a:off x="1005718" y="4745241"/>
            <a:ext cx="23384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/>
              <a:t>Work in progress</a:t>
            </a:r>
            <a:endParaRPr lang="en-GB" sz="1600" dirty="0"/>
          </a:p>
        </p:txBody>
      </p: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AF5D89D1-F29D-B140-507E-C61A92F94794}"/>
              </a:ext>
            </a:extLst>
          </p:cNvPr>
          <p:cNvCxnSpPr>
            <a:cxnSpLocks/>
          </p:cNvCxnSpPr>
          <p:nvPr/>
        </p:nvCxnSpPr>
        <p:spPr>
          <a:xfrm>
            <a:off x="4139786" y="4422098"/>
            <a:ext cx="0" cy="1068569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Ellipse 30">
            <a:extLst>
              <a:ext uri="{FF2B5EF4-FFF2-40B4-BE49-F238E27FC236}">
                <a16:creationId xmlns:a16="http://schemas.microsoft.com/office/drawing/2014/main" id="{0573B5EC-BB31-0927-A51E-5DFBB39E168C}"/>
              </a:ext>
            </a:extLst>
          </p:cNvPr>
          <p:cNvSpPr/>
          <p:nvPr/>
        </p:nvSpPr>
        <p:spPr>
          <a:xfrm>
            <a:off x="3987385" y="4556705"/>
            <a:ext cx="299804" cy="29980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7340C116-4085-3D1D-D2C3-04F35C11147F}"/>
              </a:ext>
            </a:extLst>
          </p:cNvPr>
          <p:cNvSpPr/>
          <p:nvPr/>
        </p:nvSpPr>
        <p:spPr>
          <a:xfrm>
            <a:off x="3987385" y="4983233"/>
            <a:ext cx="299804" cy="299804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C8EDCD70-0C4E-E5C3-2D3C-3AF1DD938705}"/>
              </a:ext>
            </a:extLst>
          </p:cNvPr>
          <p:cNvSpPr txBox="1"/>
          <p:nvPr/>
        </p:nvSpPr>
        <p:spPr>
          <a:xfrm>
            <a:off x="2737453" y="4407611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COMMIT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E4ECA763-7C09-07C3-C5FE-4FEBCEC7AB31}"/>
              </a:ext>
            </a:extLst>
          </p:cNvPr>
          <p:cNvSpPr txBox="1"/>
          <p:nvPr/>
        </p:nvSpPr>
        <p:spPr>
          <a:xfrm>
            <a:off x="2736696" y="4857595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COMMIT</a:t>
            </a:r>
          </a:p>
        </p:txBody>
      </p: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C4416A52-7E90-DEBD-119A-21527DD659F6}"/>
              </a:ext>
            </a:extLst>
          </p:cNvPr>
          <p:cNvCxnSpPr>
            <a:cxnSpLocks/>
          </p:cNvCxnSpPr>
          <p:nvPr/>
        </p:nvCxnSpPr>
        <p:spPr>
          <a:xfrm>
            <a:off x="2398435" y="4716185"/>
            <a:ext cx="15889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352D9147-FD96-9BF2-28F7-B25EDFD35305}"/>
              </a:ext>
            </a:extLst>
          </p:cNvPr>
          <p:cNvCxnSpPr>
            <a:cxnSpLocks/>
          </p:cNvCxnSpPr>
          <p:nvPr/>
        </p:nvCxnSpPr>
        <p:spPr>
          <a:xfrm>
            <a:off x="2409671" y="5147961"/>
            <a:ext cx="15777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ZoneTexte 39">
            <a:extLst>
              <a:ext uri="{FF2B5EF4-FFF2-40B4-BE49-F238E27FC236}">
                <a16:creationId xmlns:a16="http://schemas.microsoft.com/office/drawing/2014/main" id="{65417AC1-C2B3-C29C-E6D9-0D5D91F73CC1}"/>
              </a:ext>
            </a:extLst>
          </p:cNvPr>
          <p:cNvSpPr txBox="1"/>
          <p:nvPr/>
        </p:nvSpPr>
        <p:spPr>
          <a:xfrm>
            <a:off x="2403162" y="5676815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COMMIT</a:t>
            </a:r>
          </a:p>
        </p:txBody>
      </p: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A21D5434-CD27-5662-A891-729E2DCAA5F4}"/>
              </a:ext>
            </a:extLst>
          </p:cNvPr>
          <p:cNvCxnSpPr/>
          <p:nvPr/>
        </p:nvCxnSpPr>
        <p:spPr>
          <a:xfrm>
            <a:off x="2409671" y="5967181"/>
            <a:ext cx="10643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835600E6-F97C-6EB8-C568-3EC191B21C04}"/>
              </a:ext>
            </a:extLst>
          </p:cNvPr>
          <p:cNvCxnSpPr/>
          <p:nvPr/>
        </p:nvCxnSpPr>
        <p:spPr>
          <a:xfrm flipH="1">
            <a:off x="4886794" y="3897443"/>
            <a:ext cx="9293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FB1A3E2D-72E9-4A5E-24BD-16285569AA1F}"/>
              </a:ext>
            </a:extLst>
          </p:cNvPr>
          <p:cNvSpPr txBox="1"/>
          <p:nvPr/>
        </p:nvSpPr>
        <p:spPr>
          <a:xfrm>
            <a:off x="4826834" y="3543595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BRANCH</a:t>
            </a:r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E68068C1-72D3-D3CF-46BB-27A55B101360}"/>
              </a:ext>
            </a:extLst>
          </p:cNvPr>
          <p:cNvCxnSpPr/>
          <p:nvPr/>
        </p:nvCxnSpPr>
        <p:spPr>
          <a:xfrm>
            <a:off x="4841825" y="5967181"/>
            <a:ext cx="10643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ZoneTexte 50">
            <a:extLst>
              <a:ext uri="{FF2B5EF4-FFF2-40B4-BE49-F238E27FC236}">
                <a16:creationId xmlns:a16="http://schemas.microsoft.com/office/drawing/2014/main" id="{A77FA11F-347B-B37E-518E-AC62D6A2C323}"/>
              </a:ext>
            </a:extLst>
          </p:cNvPr>
          <p:cNvSpPr txBox="1"/>
          <p:nvPr/>
        </p:nvSpPr>
        <p:spPr>
          <a:xfrm>
            <a:off x="4816576" y="5618681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MERGE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BD81537-9C51-C06C-E65D-133F729D35FD}"/>
              </a:ext>
            </a:extLst>
          </p:cNvPr>
          <p:cNvSpPr txBox="1"/>
          <p:nvPr/>
        </p:nvSpPr>
        <p:spPr>
          <a:xfrm>
            <a:off x="6096000" y="3078223"/>
            <a:ext cx="949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master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2571C1AA-1DB1-D31A-23D2-811829C3BDF2}"/>
              </a:ext>
            </a:extLst>
          </p:cNvPr>
          <p:cNvSpPr txBox="1"/>
          <p:nvPr/>
        </p:nvSpPr>
        <p:spPr>
          <a:xfrm>
            <a:off x="3595143" y="3059668"/>
            <a:ext cx="1146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err="1"/>
              <a:t>working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6061712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49312-ED45-FD5F-49BB-B59679B21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FFBEF59B-CD65-173E-4C6C-870573EF5EE1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0E0EB207-178F-ECDF-430D-48D66480BCF6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IMPLEMENTATION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B8AA47B0-5019-0E05-CBF2-F2C07F12BDF5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FE579B7E-982C-85AB-26EF-DFB111ABA99D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E0BD2354-1E66-2578-2794-CF08DB1EB541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8E2798E8-311F-4879-EFAE-92AB4C749008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FC148042-900A-9ACB-F2E2-E4C61E2BFD21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7A7B281-079D-CB77-769F-CC772A919E97}"/>
              </a:ext>
            </a:extLst>
          </p:cNvPr>
          <p:cNvSpPr txBox="1"/>
          <p:nvPr/>
        </p:nvSpPr>
        <p:spPr>
          <a:xfrm>
            <a:off x="5673203" y="307072"/>
            <a:ext cx="459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Versioning tools: Git and GitHub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8538524-049A-77FB-01D7-17A91D848C7A}"/>
              </a:ext>
            </a:extLst>
          </p:cNvPr>
          <p:cNvSpPr txBox="1"/>
          <p:nvPr/>
        </p:nvSpPr>
        <p:spPr>
          <a:xfrm>
            <a:off x="5182561" y="887944"/>
            <a:ext cx="5576341" cy="1575881"/>
          </a:xfrm>
          <a:prstGeom prst="rect">
            <a:avLst/>
          </a:prstGeom>
          <a:solidFill>
            <a:srgbClr val="D8A499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Dedicated to collaborative work (i.e. scientific labs)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Increasingly used as a showcase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Supports reproducibility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Needs time to be familiar…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523CB5FD-41EF-1087-B3C5-71BBE2699D07}"/>
              </a:ext>
            </a:extLst>
          </p:cNvPr>
          <p:cNvSpPr/>
          <p:nvPr/>
        </p:nvSpPr>
        <p:spPr>
          <a:xfrm>
            <a:off x="2005673" y="3078223"/>
            <a:ext cx="5939117" cy="3672590"/>
          </a:xfrm>
          <a:prstGeom prst="roundRect">
            <a:avLst/>
          </a:prstGeom>
          <a:solidFill>
            <a:srgbClr val="C27C39">
              <a:alpha val="5964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E84A9668-4A53-EAA7-FB81-D18CDA520B13}"/>
              </a:ext>
            </a:extLst>
          </p:cNvPr>
          <p:cNvSpPr/>
          <p:nvPr/>
        </p:nvSpPr>
        <p:spPr>
          <a:xfrm>
            <a:off x="8177127" y="3078223"/>
            <a:ext cx="2540839" cy="3672590"/>
          </a:xfrm>
          <a:prstGeom prst="roundRect">
            <a:avLst/>
          </a:prstGeom>
          <a:solidFill>
            <a:srgbClr val="C27C39">
              <a:alpha val="9412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CD71DF5-0741-42CB-B5BB-1182598EB571}"/>
              </a:ext>
            </a:extLst>
          </p:cNvPr>
          <p:cNvSpPr txBox="1"/>
          <p:nvPr/>
        </p:nvSpPr>
        <p:spPr>
          <a:xfrm>
            <a:off x="4350885" y="2644587"/>
            <a:ext cx="1798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Git (local)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67AACDF-CE21-0730-D578-1EB5365B7A97}"/>
              </a:ext>
            </a:extLst>
          </p:cNvPr>
          <p:cNvSpPr/>
          <p:nvPr/>
        </p:nvSpPr>
        <p:spPr>
          <a:xfrm>
            <a:off x="5904337" y="3078223"/>
            <a:ext cx="1343588" cy="3672590"/>
          </a:xfrm>
          <a:prstGeom prst="rect">
            <a:avLst/>
          </a:prstGeom>
          <a:pattFill prst="dkUpDiag">
            <a:fgClr>
              <a:schemeClr val="accent5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BF6B96A-03D3-8846-B07C-67402E16245F}"/>
              </a:ext>
            </a:extLst>
          </p:cNvPr>
          <p:cNvSpPr txBox="1"/>
          <p:nvPr/>
        </p:nvSpPr>
        <p:spPr>
          <a:xfrm>
            <a:off x="8467559" y="2644587"/>
            <a:ext cx="1959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GitHub (remote)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20E7C05C-3794-2AE3-B57D-38E891BFA10A}"/>
              </a:ext>
            </a:extLst>
          </p:cNvPr>
          <p:cNvSpPr/>
          <p:nvPr/>
        </p:nvSpPr>
        <p:spPr>
          <a:xfrm>
            <a:off x="5906125" y="3429000"/>
            <a:ext cx="1349114" cy="99309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825B6974-3F2E-FF9D-F04C-75FB83858212}"/>
              </a:ext>
            </a:extLst>
          </p:cNvPr>
          <p:cNvSpPr/>
          <p:nvPr/>
        </p:nvSpPr>
        <p:spPr>
          <a:xfrm>
            <a:off x="5906125" y="5490667"/>
            <a:ext cx="1349114" cy="993098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CC906BF-83D1-C0CF-1582-5474BD9527ED}"/>
              </a:ext>
            </a:extLst>
          </p:cNvPr>
          <p:cNvSpPr/>
          <p:nvPr/>
        </p:nvSpPr>
        <p:spPr>
          <a:xfrm>
            <a:off x="3472988" y="3078223"/>
            <a:ext cx="1343588" cy="3672590"/>
          </a:xfrm>
          <a:prstGeom prst="rect">
            <a:avLst/>
          </a:prstGeom>
          <a:pattFill prst="dkUpDiag">
            <a:fgClr>
              <a:schemeClr val="tx2">
                <a:lumMod val="25000"/>
                <a:lumOff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9CBE570F-B2E9-89C7-FF62-814ABBF35D8B}"/>
              </a:ext>
            </a:extLst>
          </p:cNvPr>
          <p:cNvSpPr/>
          <p:nvPr/>
        </p:nvSpPr>
        <p:spPr>
          <a:xfrm>
            <a:off x="3477720" y="3429000"/>
            <a:ext cx="1349114" cy="99309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ED3BD40C-F0F9-AC7C-D7E1-DF88DD6EBAF2}"/>
              </a:ext>
            </a:extLst>
          </p:cNvPr>
          <p:cNvSpPr/>
          <p:nvPr/>
        </p:nvSpPr>
        <p:spPr>
          <a:xfrm>
            <a:off x="3477720" y="5490667"/>
            <a:ext cx="1349114" cy="993098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22A9D782-D322-16FC-017E-4ED6C5A84580}"/>
              </a:ext>
            </a:extLst>
          </p:cNvPr>
          <p:cNvCxnSpPr>
            <a:cxnSpLocks/>
          </p:cNvCxnSpPr>
          <p:nvPr/>
        </p:nvCxnSpPr>
        <p:spPr>
          <a:xfrm>
            <a:off x="2398435" y="3897443"/>
            <a:ext cx="0" cy="2586322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0F951E00-AB45-B707-B631-50B9A5D9DDA2}"/>
              </a:ext>
            </a:extLst>
          </p:cNvPr>
          <p:cNvSpPr txBox="1"/>
          <p:nvPr/>
        </p:nvSpPr>
        <p:spPr>
          <a:xfrm rot="16200000">
            <a:off x="1005718" y="4745241"/>
            <a:ext cx="23384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/>
              <a:t>Work in progress</a:t>
            </a:r>
            <a:endParaRPr lang="en-GB" sz="1600" dirty="0"/>
          </a:p>
        </p:txBody>
      </p: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34B1259F-7CD9-538A-2221-18E392AA0951}"/>
              </a:ext>
            </a:extLst>
          </p:cNvPr>
          <p:cNvCxnSpPr>
            <a:cxnSpLocks/>
          </p:cNvCxnSpPr>
          <p:nvPr/>
        </p:nvCxnSpPr>
        <p:spPr>
          <a:xfrm>
            <a:off x="4139786" y="4422098"/>
            <a:ext cx="0" cy="1068569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Ellipse 30">
            <a:extLst>
              <a:ext uri="{FF2B5EF4-FFF2-40B4-BE49-F238E27FC236}">
                <a16:creationId xmlns:a16="http://schemas.microsoft.com/office/drawing/2014/main" id="{0EB2A702-5B1C-5B1E-19B4-8A2C03A4EA8F}"/>
              </a:ext>
            </a:extLst>
          </p:cNvPr>
          <p:cNvSpPr/>
          <p:nvPr/>
        </p:nvSpPr>
        <p:spPr>
          <a:xfrm>
            <a:off x="3987385" y="4556705"/>
            <a:ext cx="299804" cy="29980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6A540BAD-A566-EB64-1EE9-5603433C369F}"/>
              </a:ext>
            </a:extLst>
          </p:cNvPr>
          <p:cNvSpPr/>
          <p:nvPr/>
        </p:nvSpPr>
        <p:spPr>
          <a:xfrm>
            <a:off x="3987385" y="4983233"/>
            <a:ext cx="299804" cy="299804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3E38BF89-FBAA-B589-6AEC-C309686BDD70}"/>
              </a:ext>
            </a:extLst>
          </p:cNvPr>
          <p:cNvSpPr txBox="1"/>
          <p:nvPr/>
        </p:nvSpPr>
        <p:spPr>
          <a:xfrm>
            <a:off x="2737453" y="4407611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COMMIT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DD1FB3BB-D7C2-3C50-FBC3-548FC6D4BB87}"/>
              </a:ext>
            </a:extLst>
          </p:cNvPr>
          <p:cNvSpPr txBox="1"/>
          <p:nvPr/>
        </p:nvSpPr>
        <p:spPr>
          <a:xfrm>
            <a:off x="2736696" y="4857595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COMMIT</a:t>
            </a:r>
          </a:p>
        </p:txBody>
      </p: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437DB564-1A62-C072-0C6C-966D12C94469}"/>
              </a:ext>
            </a:extLst>
          </p:cNvPr>
          <p:cNvCxnSpPr>
            <a:cxnSpLocks/>
          </p:cNvCxnSpPr>
          <p:nvPr/>
        </p:nvCxnSpPr>
        <p:spPr>
          <a:xfrm>
            <a:off x="2398435" y="4716185"/>
            <a:ext cx="15889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1A6FC138-77C5-2D44-7D9D-B788F27433A2}"/>
              </a:ext>
            </a:extLst>
          </p:cNvPr>
          <p:cNvCxnSpPr>
            <a:cxnSpLocks/>
          </p:cNvCxnSpPr>
          <p:nvPr/>
        </p:nvCxnSpPr>
        <p:spPr>
          <a:xfrm>
            <a:off x="2409671" y="5147961"/>
            <a:ext cx="15777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ZoneTexte 39">
            <a:extLst>
              <a:ext uri="{FF2B5EF4-FFF2-40B4-BE49-F238E27FC236}">
                <a16:creationId xmlns:a16="http://schemas.microsoft.com/office/drawing/2014/main" id="{EB8A0C70-C6F4-4B57-0449-0E98A09AE5DB}"/>
              </a:ext>
            </a:extLst>
          </p:cNvPr>
          <p:cNvSpPr txBox="1"/>
          <p:nvPr/>
        </p:nvSpPr>
        <p:spPr>
          <a:xfrm>
            <a:off x="2403162" y="5676815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COMMIT</a:t>
            </a:r>
          </a:p>
        </p:txBody>
      </p: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428F7DB7-DC62-9006-D91E-AA9E0DD1D57D}"/>
              </a:ext>
            </a:extLst>
          </p:cNvPr>
          <p:cNvCxnSpPr/>
          <p:nvPr/>
        </p:nvCxnSpPr>
        <p:spPr>
          <a:xfrm>
            <a:off x="2409671" y="5967181"/>
            <a:ext cx="10643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3657F1FA-FCC9-04E0-D35E-88B6E6A57017}"/>
              </a:ext>
            </a:extLst>
          </p:cNvPr>
          <p:cNvCxnSpPr/>
          <p:nvPr/>
        </p:nvCxnSpPr>
        <p:spPr>
          <a:xfrm flipH="1">
            <a:off x="4886794" y="3897443"/>
            <a:ext cx="9293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D5FE284D-6EB7-8998-B781-198A6C8A9454}"/>
              </a:ext>
            </a:extLst>
          </p:cNvPr>
          <p:cNvSpPr txBox="1"/>
          <p:nvPr/>
        </p:nvSpPr>
        <p:spPr>
          <a:xfrm>
            <a:off x="4826834" y="3543595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BRANCH</a:t>
            </a:r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20B9CE7D-C2F6-A44D-7DC1-1F892CD34824}"/>
              </a:ext>
            </a:extLst>
          </p:cNvPr>
          <p:cNvCxnSpPr/>
          <p:nvPr/>
        </p:nvCxnSpPr>
        <p:spPr>
          <a:xfrm>
            <a:off x="4841825" y="5967181"/>
            <a:ext cx="10643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ZoneTexte 50">
            <a:extLst>
              <a:ext uri="{FF2B5EF4-FFF2-40B4-BE49-F238E27FC236}">
                <a16:creationId xmlns:a16="http://schemas.microsoft.com/office/drawing/2014/main" id="{81D1F57E-AB35-7F03-50CA-7C48B25CC849}"/>
              </a:ext>
            </a:extLst>
          </p:cNvPr>
          <p:cNvSpPr txBox="1"/>
          <p:nvPr/>
        </p:nvSpPr>
        <p:spPr>
          <a:xfrm>
            <a:off x="4816576" y="5618681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MERGE</a:t>
            </a:r>
          </a:p>
        </p:txBody>
      </p:sp>
      <p:sp>
        <p:nvSpPr>
          <p:cNvPr id="55" name="Rectangle : coins arrondis 54">
            <a:extLst>
              <a:ext uri="{FF2B5EF4-FFF2-40B4-BE49-F238E27FC236}">
                <a16:creationId xmlns:a16="http://schemas.microsoft.com/office/drawing/2014/main" id="{B26951EA-3DAA-B206-AE18-0126511309FC}"/>
              </a:ext>
            </a:extLst>
          </p:cNvPr>
          <p:cNvSpPr/>
          <p:nvPr/>
        </p:nvSpPr>
        <p:spPr>
          <a:xfrm>
            <a:off x="8761742" y="3429000"/>
            <a:ext cx="1349114" cy="99309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sp>
        <p:nvSpPr>
          <p:cNvPr id="56" name="Rectangle : coins arrondis 55">
            <a:extLst>
              <a:ext uri="{FF2B5EF4-FFF2-40B4-BE49-F238E27FC236}">
                <a16:creationId xmlns:a16="http://schemas.microsoft.com/office/drawing/2014/main" id="{A4E62E9F-D0ED-FFBB-D421-AECB4AC056B5}"/>
              </a:ext>
            </a:extLst>
          </p:cNvPr>
          <p:cNvSpPr/>
          <p:nvPr/>
        </p:nvSpPr>
        <p:spPr>
          <a:xfrm>
            <a:off x="8761742" y="5490667"/>
            <a:ext cx="1349114" cy="993098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cxnSp>
        <p:nvCxnSpPr>
          <p:cNvPr id="59" name="Connecteur droit avec flèche 58">
            <a:extLst>
              <a:ext uri="{FF2B5EF4-FFF2-40B4-BE49-F238E27FC236}">
                <a16:creationId xmlns:a16="http://schemas.microsoft.com/office/drawing/2014/main" id="{F32DB7C0-7E13-D724-5A98-DC5A90B0F12D}"/>
              </a:ext>
            </a:extLst>
          </p:cNvPr>
          <p:cNvCxnSpPr>
            <a:cxnSpLocks/>
          </p:cNvCxnSpPr>
          <p:nvPr/>
        </p:nvCxnSpPr>
        <p:spPr>
          <a:xfrm flipH="1">
            <a:off x="7354649" y="3897443"/>
            <a:ext cx="1302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ZoneTexte 59">
            <a:extLst>
              <a:ext uri="{FF2B5EF4-FFF2-40B4-BE49-F238E27FC236}">
                <a16:creationId xmlns:a16="http://schemas.microsoft.com/office/drawing/2014/main" id="{8418893E-27D2-492D-BFB0-0CF6DDCE502D}"/>
              </a:ext>
            </a:extLst>
          </p:cNvPr>
          <p:cNvSpPr txBox="1"/>
          <p:nvPr/>
        </p:nvSpPr>
        <p:spPr>
          <a:xfrm>
            <a:off x="7526046" y="3586995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PULL</a:t>
            </a:r>
          </a:p>
        </p:txBody>
      </p:sp>
      <p:cxnSp>
        <p:nvCxnSpPr>
          <p:cNvPr id="64" name="Connecteur droit avec flèche 63">
            <a:extLst>
              <a:ext uri="{FF2B5EF4-FFF2-40B4-BE49-F238E27FC236}">
                <a16:creationId xmlns:a16="http://schemas.microsoft.com/office/drawing/2014/main" id="{65C35C3F-DCCF-FE6D-9877-4629EDEEDA7B}"/>
              </a:ext>
            </a:extLst>
          </p:cNvPr>
          <p:cNvCxnSpPr>
            <a:cxnSpLocks/>
          </p:cNvCxnSpPr>
          <p:nvPr/>
        </p:nvCxnSpPr>
        <p:spPr>
          <a:xfrm>
            <a:off x="7351952" y="5987263"/>
            <a:ext cx="1302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ZoneTexte 64">
            <a:extLst>
              <a:ext uri="{FF2B5EF4-FFF2-40B4-BE49-F238E27FC236}">
                <a16:creationId xmlns:a16="http://schemas.microsoft.com/office/drawing/2014/main" id="{4DA80BE6-1B29-A508-79BF-3593DC21008D}"/>
              </a:ext>
            </a:extLst>
          </p:cNvPr>
          <p:cNvSpPr txBox="1"/>
          <p:nvPr/>
        </p:nvSpPr>
        <p:spPr>
          <a:xfrm>
            <a:off x="7523349" y="5676815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PUSH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E61CF5C-C310-DB41-146F-6833F2498391}"/>
              </a:ext>
            </a:extLst>
          </p:cNvPr>
          <p:cNvSpPr txBox="1"/>
          <p:nvPr/>
        </p:nvSpPr>
        <p:spPr>
          <a:xfrm>
            <a:off x="6096000" y="3078223"/>
            <a:ext cx="949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master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8FF7B7C-0770-F475-D093-D1BDAA52ED2F}"/>
              </a:ext>
            </a:extLst>
          </p:cNvPr>
          <p:cNvSpPr txBox="1"/>
          <p:nvPr/>
        </p:nvSpPr>
        <p:spPr>
          <a:xfrm>
            <a:off x="3595143" y="3059668"/>
            <a:ext cx="1146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err="1"/>
              <a:t>working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41612045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54CA4-932D-12CE-9C64-64140D671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02B9362F-C855-BECB-E686-8E5CB6B4FE38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6D84ACEA-781C-AB04-499A-52D3DDD52699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IMPLEMENTATION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357D8A78-4DAC-465F-D94D-917E374A3A5F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F030D8A7-E506-D051-B5CA-41B600A725B5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B4BA2B5D-70EB-E658-1A9B-CA38352E0735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E12D70AA-D621-2444-BCAD-FB0D5F13DBD0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7FF259DF-7DDA-2A6D-463C-784D9D7C0CC2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6801E40-96C9-3EC8-12B2-72342C5E297B}"/>
              </a:ext>
            </a:extLst>
          </p:cNvPr>
          <p:cNvSpPr txBox="1"/>
          <p:nvPr/>
        </p:nvSpPr>
        <p:spPr>
          <a:xfrm>
            <a:off x="5673203" y="307072"/>
            <a:ext cx="459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Versioning tools: Git and GitHub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B5B213F-5FD8-4386-346D-4ED1ED0B7679}"/>
              </a:ext>
            </a:extLst>
          </p:cNvPr>
          <p:cNvSpPr txBox="1"/>
          <p:nvPr/>
        </p:nvSpPr>
        <p:spPr>
          <a:xfrm>
            <a:off x="5182561" y="887944"/>
            <a:ext cx="5576341" cy="1575881"/>
          </a:xfrm>
          <a:prstGeom prst="rect">
            <a:avLst/>
          </a:prstGeom>
          <a:solidFill>
            <a:srgbClr val="D8A499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Dedicated to collaborative work (i.e. scientific labs)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Increasingly used as a showcase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Supports reproducibility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Needs time to be familiar…</a:t>
            </a:r>
          </a:p>
        </p:txBody>
      </p:sp>
      <p:pic>
        <p:nvPicPr>
          <p:cNvPr id="19" name="Image 18" descr="Une image contenant texte, capture d’écran, Police, blanc&#10;&#10;Le contenu généré par l’IA peut être incorrect.">
            <a:extLst>
              <a:ext uri="{FF2B5EF4-FFF2-40B4-BE49-F238E27FC236}">
                <a16:creationId xmlns:a16="http://schemas.microsoft.com/office/drawing/2014/main" id="{CDEE6ED6-48F6-9E27-0C8B-0B509BDE9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735" y="3338451"/>
            <a:ext cx="3268731" cy="1338887"/>
          </a:xfrm>
          <a:prstGeom prst="rect">
            <a:avLst/>
          </a:prstGeom>
        </p:spPr>
      </p:pic>
      <p:pic>
        <p:nvPicPr>
          <p:cNvPr id="21" name="Image 20" descr="Une image contenant texte, capture d’écran, Police, blanc&#10;&#10;Le contenu généré par l’IA peut être incorrect.">
            <a:extLst>
              <a:ext uri="{FF2B5EF4-FFF2-40B4-BE49-F238E27FC236}">
                <a16:creationId xmlns:a16="http://schemas.microsoft.com/office/drawing/2014/main" id="{EEE64B65-995A-3C53-B47D-14B3D6C7D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735" y="4673589"/>
            <a:ext cx="3268732" cy="849501"/>
          </a:xfrm>
          <a:prstGeom prst="rect">
            <a:avLst/>
          </a:prstGeom>
        </p:spPr>
      </p:pic>
      <p:pic>
        <p:nvPicPr>
          <p:cNvPr id="28" name="Image 27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4C61FDFD-E1C2-B0C6-115E-51EE7F56F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466" y="3338451"/>
            <a:ext cx="3259497" cy="2631605"/>
          </a:xfrm>
          <a:prstGeom prst="rect">
            <a:avLst/>
          </a:prstGeom>
        </p:spPr>
      </p:pic>
      <p:pic>
        <p:nvPicPr>
          <p:cNvPr id="35" name="Image 34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7FB986DB-3D69-FE61-08C5-4D5B030E1F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7963" y="3338451"/>
            <a:ext cx="3259497" cy="2206855"/>
          </a:xfrm>
          <a:prstGeom prst="rect">
            <a:avLst/>
          </a:prstGeom>
        </p:spPr>
      </p:pic>
      <p:sp>
        <p:nvSpPr>
          <p:cNvPr id="36" name="ZoneTexte 35">
            <a:extLst>
              <a:ext uri="{FF2B5EF4-FFF2-40B4-BE49-F238E27FC236}">
                <a16:creationId xmlns:a16="http://schemas.microsoft.com/office/drawing/2014/main" id="{87670095-028A-A254-AAB1-607C44E669DC}"/>
              </a:ext>
            </a:extLst>
          </p:cNvPr>
          <p:cNvSpPr txBox="1"/>
          <p:nvPr/>
        </p:nvSpPr>
        <p:spPr>
          <a:xfrm>
            <a:off x="3142938" y="6181596"/>
            <a:ext cx="5906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A </a:t>
            </a:r>
            <a:r>
              <a:rPr lang="fr-FR" b="1" dirty="0" err="1"/>
              <a:t>whole</a:t>
            </a:r>
            <a:r>
              <a:rPr lang="fr-FR" b="1" dirty="0"/>
              <a:t> world of </a:t>
            </a:r>
            <a:r>
              <a:rPr lang="fr-FR" b="1" dirty="0" err="1"/>
              <a:t>functions</a:t>
            </a:r>
            <a:r>
              <a:rPr lang="fr-FR" b="1" dirty="0"/>
              <a:t> to </a:t>
            </a:r>
            <a:r>
              <a:rPr lang="fr-FR" b="1" dirty="0" err="1"/>
              <a:t>manipulate</a:t>
            </a:r>
            <a:r>
              <a:rPr lang="fr-FR" b="1" dirty="0"/>
              <a:t> Git !</a:t>
            </a:r>
          </a:p>
        </p:txBody>
      </p:sp>
    </p:spTree>
    <p:extLst>
      <p:ext uri="{BB962C8B-B14F-4D97-AF65-F5344CB8AC3E}">
        <p14:creationId xmlns:p14="http://schemas.microsoft.com/office/powerpoint/2010/main" val="33336269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4EB23-1282-CD0B-2BE1-D9379C6F5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46809743-1BD4-F41B-6B1D-738AD86DC07A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F8D95AD3-CA92-BD0B-8FB9-AEA9E11F58A3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TRACKING</a:t>
              </a:r>
            </a:p>
          </p:txBody>
        </p:sp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BA43AE5D-680D-20C0-1421-2DB52427560D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5773EC1D-31F2-7E91-6F49-5763EAF6895B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SHARING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538C13AB-0CCB-CA96-784B-C7A2B84CC012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1F5E6D33-6129-A6DF-2832-DDF502AE471C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7E298A5F-288D-629C-6D84-D33CFEDD5D7C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18623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E33F0-661F-F189-8446-6D12E4374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1021EAA7-DBFC-E85D-55E5-6BC67D536212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</p:grpSpPr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CA4EF7F1-7CE0-DDA8-3130-9481F8A5341B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E432330E-4255-CC17-8E38-AE7EB2E9E46D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294A82FA-1692-746E-19AD-128D532277E6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D46B62FA-A652-DB74-6F9B-DDCBDB8EA0AB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B656A6E1-680D-93E8-3E52-293CD4E87833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32CFC1A5-1930-5B2A-A182-FB92A3FB2615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39460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E5926-012B-7FBD-FC46-7E60CF656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3273EDC-E5F4-BB6E-78CA-46F7852B6ADB}"/>
              </a:ext>
            </a:extLst>
          </p:cNvPr>
          <p:cNvSpPr txBox="1"/>
          <p:nvPr/>
        </p:nvSpPr>
        <p:spPr>
          <a:xfrm>
            <a:off x="438411" y="388307"/>
            <a:ext cx="6413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Introduction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28232EB5-AF1F-C581-1937-F94713657EB0}"/>
              </a:ext>
            </a:extLst>
          </p:cNvPr>
          <p:cNvSpPr/>
          <p:nvPr/>
        </p:nvSpPr>
        <p:spPr>
          <a:xfrm>
            <a:off x="701457" y="1340285"/>
            <a:ext cx="4947780" cy="53611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3871B0F5-9006-6876-2676-263C8FA99B4A}"/>
              </a:ext>
            </a:extLst>
          </p:cNvPr>
          <p:cNvSpPr/>
          <p:nvPr/>
        </p:nvSpPr>
        <p:spPr>
          <a:xfrm>
            <a:off x="5989528" y="1340285"/>
            <a:ext cx="4947780" cy="53611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Image 8" descr="Une image contenant texte, capture d’écran, Caractère coloré, conception&#10;&#10;Le contenu généré par l’IA peut être incorrect.">
            <a:extLst>
              <a:ext uri="{FF2B5EF4-FFF2-40B4-BE49-F238E27FC236}">
                <a16:creationId xmlns:a16="http://schemas.microsoft.com/office/drawing/2014/main" id="{50241887-9A48-060B-29BC-56321D7BD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0" y="641350"/>
            <a:ext cx="3429000" cy="5575300"/>
          </a:xfrm>
          <a:prstGeom prst="rect">
            <a:avLst/>
          </a:prstGeom>
        </p:spPr>
      </p:pic>
      <p:pic>
        <p:nvPicPr>
          <p:cNvPr id="3" name="Image 2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3E7AB579-A743-35DB-201C-8F22F88E1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356" y="338454"/>
            <a:ext cx="5590031" cy="337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94732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</TotalTime>
  <Words>845</Words>
  <Application>Microsoft Macintosh PowerPoint</Application>
  <PresentationFormat>Grand écran</PresentationFormat>
  <Paragraphs>290</Paragraphs>
  <Slides>25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Helvetica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Sol-Dourdin</dc:creator>
  <cp:lastModifiedBy>Thomas Sol-Dourdin</cp:lastModifiedBy>
  <cp:revision>8</cp:revision>
  <dcterms:created xsi:type="dcterms:W3CDTF">2026-01-21T15:23:53Z</dcterms:created>
  <dcterms:modified xsi:type="dcterms:W3CDTF">2026-01-23T11:48:51Z</dcterms:modified>
</cp:coreProperties>
</file>